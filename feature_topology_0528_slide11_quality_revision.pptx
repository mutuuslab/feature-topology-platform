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95" r:id="rId46"/>
    <p:sldId id="296" r:id="rId47"/>
    <p:sldId id="297" r:id="rId48"/>
    <p:sldId id="258" r:id="rId4"/>
    <p:sldId id="259" r:id="rId5"/>
    <p:sldId id="298" r:id="rId49"/>
    <p:sldId id="260" r:id="rId6"/>
    <p:sldId id="261" r:id="rId7"/>
    <p:sldId id="262" r:id="rId8"/>
    <p:sldId id="263" r:id="rId9"/>
    <p:sldId id="264" r:id="rId10"/>
    <p:sldId id="268" r:id="rId14"/>
    <p:sldId id="265" r:id="rId11"/>
    <p:sldId id="266" r:id="rId12"/>
    <p:sldId id="267" r:id="rId13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4.xml"/><Relationship Id="rId15" Type="http://schemas.openxmlformats.org/officeDocument/2006/relationships/slide" Target="slides/slide18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3.xml"/><Relationship Id="rId47" Type="http://schemas.openxmlformats.org/officeDocument/2006/relationships/slide" Target="slides/slide4.xml"/><Relationship Id="rId48" Type="http://schemas.openxmlformats.org/officeDocument/2006/relationships/slide" Target="slides/slide5.xml"/><Relationship Id="rId4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97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780257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sz="3400" b="1">
                <a:solidFill>
                  <a:srgbClr val="000000"/>
                </a:solidFill>
                <a:latin typeface="Malgun Gothic"/>
              </a:rPr>
              <a:t>Feature</a:t>
            </a:r>
            <a:endParaRPr lang="en-US" sz="3600" dirty="0"/>
          </a:p>
          <a:p>
            <a:r>
              <a:rPr sz="3400" b="1">
                <a:solidFill>
                  <a:srgbClr val="000000"/>
                </a:solidFill>
                <a:latin typeface="Malgun Gothic"/>
              </a:rPr>
              <a:t>Topology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2500" b="1">
                <a:solidFill>
                  <a:srgbClr val="000000"/>
                </a:solidFill>
                <a:latin typeface="Malgun Gothic"/>
              </a:rPr>
              <a:t>상세 설계서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320040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sz="1200" b="0">
                <a:solidFill>
                  <a:srgbClr val="000000"/>
                </a:solidFill>
                <a:latin typeface="Malgun Gothic"/>
              </a:rPr>
              <a:t>SDV Feature 기준정보 · 관계 모델 · 운영 의사결정 체계 설계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925312"/>
            <a:ext cx="137160" cy="20116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58952" y="5806440"/>
            <a:ext cx="137160" cy="3200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9264" y="5669280"/>
            <a:ext cx="137160" cy="4572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34440" y="5806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000000"/>
                </a:solidFill>
                <a:latin typeface="Malgun Gothic"/>
              </a:rPr>
              <a:t>Mutuus Lab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000000"/>
                </a:solidFill>
                <a:latin typeface="Malgun Gothic"/>
              </a:rPr>
              <a:t>Feature Topology 상세 설계서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54864" cy="1645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03520" y="22860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sz="1400" b="0">
                <a:solidFill>
                  <a:srgbClr val="000000"/>
                </a:solidFill>
                <a:latin typeface="Malgun Gothic"/>
              </a:rPr>
              <a:t>Feature Topology는 Feature ID를 중심으로 요구사항, SW, ECU, API, Variant, Policy, Test, Supplier, Telemetry를 연결하여 기능 변경의 영향도·검증범위·배포방식·책임범위를 사전에 판단하는 SDV Feature 운영 기준정보 체계이다.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4389120"/>
            <a:ext cx="150876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17" name="Text 15"/>
          <p:cNvSpPr/>
          <p:nvPr/>
        </p:nvSpPr>
        <p:spPr>
          <a:xfrm>
            <a:off x="502920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00000"/>
                </a:solidFill>
                <a:latin typeface="Malgun Gothic"/>
              </a:rPr>
              <a:t>Entity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4389120"/>
            <a:ext cx="150876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2084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0" name="Text 18"/>
          <p:cNvSpPr/>
          <p:nvPr/>
        </p:nvSpPr>
        <p:spPr>
          <a:xfrm>
            <a:off x="672084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>
                <a:solidFill>
                  <a:srgbClr val="000000"/>
                </a:solidFill>
                <a:latin typeface="Malgun Gothic"/>
              </a:rPr>
              <a:t>Relationship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0" y="4389120"/>
            <a:ext cx="150876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41248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3" name="Text 21"/>
          <p:cNvSpPr/>
          <p:nvPr/>
        </p:nvSpPr>
        <p:spPr>
          <a:xfrm>
            <a:off x="841248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0000"/>
                </a:solidFill>
                <a:latin typeface="Malgun Gothic"/>
              </a:rPr>
              <a:t>Consistency Rules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04120" y="4389120"/>
            <a:ext cx="1508760" cy="10972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104120" y="4480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400" b="1">
                <a:solidFill>
                  <a:srgbClr val="000000"/>
                </a:solidFill>
                <a:latin typeface="Malgun Gothic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5029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0000"/>
                </a:solidFill>
                <a:latin typeface="Malgun Gothic"/>
              </a:rPr>
              <a:t>Decision Engines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5943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000000"/>
                </a:solidFill>
                <a:latin typeface="Malgun Gothic"/>
              </a:rPr>
              <a:t>2026</a:t>
            </a:r>
            <a:endParaRPr lang="en-US" sz="1300" dirty="0"/>
          </a:p>
        </p:txBody>
      </p:sp>
      <p:sp>
        <p:nvSpPr>
          <p:cNvPr id="28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내부 분석 및 Feature Topology 설계안; ISO/IEC/IEEE 29148:2018; OMG SysML 2.0.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256032"/>
            <a:ext cx="53035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83464"/>
            <a:ext cx="53035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"/>
            <a:ext cx="10789920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600" b="1">
                <a:solidFill>
                  <a:srgbClr val="12263F"/>
                </a:solidFill>
                <a:latin typeface="Aptos"/>
              </a:defRPr>
            </a:pPr>
            <a:r>
              <a:t>상세 설계 목차 — 실제 슬라이드 순서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50" b="0">
                <a:solidFill>
                  <a:srgbClr val="55657A"/>
                </a:solidFill>
                <a:latin typeface="Aptos"/>
              </a:defRPr>
            </a:pPr>
            <a:r>
              <a:t>목차·상세목차·본문 순서를 일치시켜 Feature Topology 설계 흐름을 고정한다.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987552"/>
            <a:ext cx="10817352" cy="0"/>
          </a:xfrm>
          <a:prstGeom prst="line">
            <a:avLst/>
          </a:prstGeom>
          <a:ln w="12700">
            <a:solidFill>
              <a:srgbClr val="DB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325880"/>
            <a:ext cx="3154680" cy="1444752"/>
          </a:xfrm>
          <a:prstGeom prst="roundRect">
            <a:avLst/>
          </a:prstGeom>
          <a:solidFill>
            <a:srgbClr val="ECF4FC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7218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961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35607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Problem &amp;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56231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Feature 기준정보 분산 문제와 기존 도구의 한계를 정의한다.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2316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6–7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325880"/>
            <a:ext cx="3154680" cy="1444752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47218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9961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435607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Core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56231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Feature Definition · Taxonomy · BOM · Modeling · Topology를 순서대로 설계한다.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2316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8–12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325880"/>
            <a:ext cx="3154680" cy="1444752"/>
          </a:xfrm>
          <a:prstGeom prst="roundRect">
            <a:avLst/>
          </a:prstGeom>
          <a:solidFill>
            <a:srgbClr val="F5F1FA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147218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49961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435607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Registry &amp; Data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56231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Registry Source of Truth와 Entity/Relationship/Consistency Rule을 설계한다.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42316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13–14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46120"/>
            <a:ext cx="3154680" cy="1444752"/>
          </a:xfrm>
          <a:prstGeom prst="roundRect">
            <a:avLst/>
          </a:prstGeom>
          <a:solidFill>
            <a:srgbClr val="FEF4EB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39242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1985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355848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Runtime / Deployment /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776472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Variant, Runtime Control, 배포 판단, 운영 관측 체계를 설계한다.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34340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15–17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246120"/>
            <a:ext cx="3154680" cy="1444752"/>
          </a:xfrm>
          <a:prstGeom prst="roundRect">
            <a:avLst/>
          </a:prstGeom>
          <a:solidFill>
            <a:srgbClr val="ECF4FC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97680" y="339242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341985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355848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Decision Engines &amp;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776472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Impact, Verification, Deploy, Supplier 판단 엔진과 UI 작업 흐름을 정의한다.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34340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18–19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3246120"/>
            <a:ext cx="3154680" cy="1444752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18120" y="339242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341985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355848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End-to-End Scenario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776472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BDC Policy Control을 기준으로 Master→Decision→Release 흐름을 검증한다.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34340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20–22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754880"/>
            <a:ext cx="3154680" cy="144475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7240" y="4901184"/>
            <a:ext cx="457200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928616"/>
            <a:ext cx="457200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864608"/>
            <a:ext cx="22402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600" b="1">
                <a:solidFill>
                  <a:srgbClr val="12263F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5285232"/>
            <a:ext cx="27889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019" b="0">
                <a:solidFill>
                  <a:srgbClr val="2F3F54"/>
                </a:solidFill>
                <a:latin typeface="Aptos"/>
              </a:defRPr>
            </a:pPr>
            <a:r>
              <a:t>Gate, Governance, Variant, Impact, Supplier, PoC, FAQ 상세 근거를 제공한다.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59" y="585216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880" b="1">
                <a:solidFill>
                  <a:srgbClr val="006455"/>
                </a:solidFill>
                <a:latin typeface="Aptos"/>
              </a:defRPr>
            </a:pPr>
            <a:r>
              <a:t>Slides 23–43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6236208"/>
            <a:ext cx="11201400" cy="329184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93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6318504"/>
            <a:ext cx="10835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50" b="1">
                <a:solidFill>
                  <a:srgbClr val="006455"/>
                </a:solidFill>
                <a:latin typeface="Aptos"/>
              </a:defRPr>
            </a:pPr>
            <a:r>
              <a:t>핵심: 본문은 Slides 6–22, Appendix는 Slides 23–43으로 구성하며, 실제 슬라이드 순서와 상세 목차를 동일하게 유지한다.</a:t>
            </a:r>
          </a:p>
        </p:txBody>
      </p:sp>
      <p:sp>
        <p:nvSpPr>
          <p:cNvPr id="51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상세 목차 설계; ISO/IEC/IEEE 29148:2018; OMG SysML 2.0; OMG ReqIF 1.2.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56032"/>
            <a:ext cx="53035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83464"/>
            <a:ext cx="53035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"/>
            <a:ext cx="10789920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600" b="1">
                <a:solidFill>
                  <a:srgbClr val="12263F"/>
                </a:solidFill>
                <a:latin typeface="Aptos"/>
              </a:defRPr>
            </a:pPr>
            <a:r>
              <a:t>상세 목차 1/3 — Problem Definition &amp; 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50" b="0">
                <a:solidFill>
                  <a:srgbClr val="55657A"/>
                </a:solidFill>
                <a:latin typeface="Aptos"/>
              </a:defRPr>
            </a:pPr>
            <a:r>
              <a:t>문제 정의 후 Feature 기준정보를 Definition→Taxonomy→BOM→Modeling→Topology 순서로 상세화한다.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987552"/>
            <a:ext cx="10817352" cy="0"/>
          </a:xfrm>
          <a:prstGeom prst="line">
            <a:avLst/>
          </a:prstGeom>
          <a:ln w="12700">
            <a:solidFill>
              <a:srgbClr val="DB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298448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453895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35607"/>
            <a:ext cx="45720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Problem &amp;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19655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819655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Why Feature Topology: SDV Feature 기준정보 분산과 의사결정 지연 문제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19655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21408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1.2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21408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Tool Gap: ALM·PLM·Feature Flag·OTA/운영 도구의 Coverage Gap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21408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94960"/>
            <a:ext cx="516636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68112"/>
            <a:ext cx="491032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Problem Statement + Tool Gap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298448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4808" y="1453895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481328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435607"/>
            <a:ext cx="45720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Core 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819655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819655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Definition: Feature 등록 기준과 Feature가 아닌 항목의 분류 원칙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1819655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121408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2121408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Taxonomy: L0~L5 계층화와 기준 Feature = L2 정의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2121408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42316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2423160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BOM: 11개 BOM 영역과 Feature 내부 구성요소 설계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242316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724912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2724912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Modeling: Feature 간 parent/requires/excludes/fallback 등 Edge 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2724912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3026664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2.5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3026664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Feature Topology: Feature BOM + Modeling + Decision Context 관계 그래프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3026664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5394960"/>
            <a:ext cx="516636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5468112"/>
            <a:ext cx="491032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Definition Guide + Taxonomy/BOM/Topology Model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6236208"/>
            <a:ext cx="11201400" cy="329184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93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318504"/>
            <a:ext cx="10835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50" b="1">
                <a:solidFill>
                  <a:srgbClr val="006455"/>
                </a:solidFill>
                <a:latin typeface="Aptos"/>
              </a:defRPr>
            </a:pPr>
            <a:r>
              <a:t>핵심: Feature Definition을 실제 본문 순서에 삽입하고, Taxonomy·BOM·Modeling·Topology가 그 뒤에 연결되도록 정합성을 맞춘다.</a:t>
            </a:r>
          </a:p>
        </p:txBody>
      </p:sp>
      <p:sp>
        <p:nvSpPr>
          <p:cNvPr id="4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SysML 2.0; OMG ReqIF 1.2; FODA/Feature Modeling 문헌.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56032"/>
            <a:ext cx="53035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83464"/>
            <a:ext cx="53035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"/>
            <a:ext cx="10789920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600" b="1">
                <a:solidFill>
                  <a:srgbClr val="12263F"/>
                </a:solidFill>
                <a:latin typeface="Aptos"/>
              </a:defRPr>
            </a:pPr>
            <a:r>
              <a:t>상세 목차 2/3 — Registry Data Model &amp;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50" b="0">
                <a:solidFill>
                  <a:srgbClr val="55657A"/>
                </a:solidFill>
                <a:latin typeface="Aptos"/>
              </a:defRPr>
            </a:pPr>
            <a:r>
              <a:t>기준정보를 저장하는 Registry와 실차 운영·배포 판단에 필요한 Runtime/Deployment/Ops 모델을 연결한다.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987552"/>
            <a:ext cx="10817352" cy="0"/>
          </a:xfrm>
          <a:prstGeom prst="line">
            <a:avLst/>
          </a:prstGeom>
          <a:ln w="12700">
            <a:solidFill>
              <a:srgbClr val="DB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298448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453895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481328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35607"/>
            <a:ext cx="45720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Registry &amp; Data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19655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819655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Topology Registry: Feature Catalog·Detail·Graph·Decision Center를 제공하는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19655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121408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21408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Metamodel &amp; Rules: 18 Entity, Relationship, 12개 Consistency Rule로 데이터 정합성 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21408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94960"/>
            <a:ext cx="516636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468112"/>
            <a:ext cx="491032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Registry Architecture + Entity/Rule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298448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4808" y="1453895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481328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IV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1435607"/>
            <a:ext cx="457200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Runtime / Deployment /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819655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4.1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819655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Variant &amp; Runtime Control: Variant Filter와 Runtime Control Gate 분리 설계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1819655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121408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4.2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2121408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Deployment Decision: SWC/API/Policy/Calibration 변경 유형별 배포 방식 판단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2121408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42316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4.3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2423160"/>
            <a:ext cx="45262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Operations / Telemetry / Audit: Runtime State, Telemetry, Audit, Incident 기반 운영 추적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242316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394960"/>
            <a:ext cx="516636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5468112"/>
            <a:ext cx="491032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Operating Model + Deployment/Verification Criteria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236208"/>
            <a:ext cx="11201400" cy="329184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93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18504"/>
            <a:ext cx="10835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50" b="1">
                <a:solidFill>
                  <a:srgbClr val="006455"/>
                </a:solidFill>
                <a:latin typeface="Aptos"/>
              </a:defRPr>
            </a:pPr>
            <a:r>
              <a:t>핵심: Registry와 Metamodel을 먼저 정의한 뒤, Variant·Deployment·Operations가 해당 기준정보를 사용하는 흐름으로 배치한다.</a:t>
            </a:r>
          </a:p>
        </p:txBody>
      </p:sp>
      <p:sp>
        <p:nvSpPr>
          <p:cNvPr id="36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ReqIF 1.2; OpenFeature Specification; OpenAPI 3.2.0; ISO 24089:2023.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56032"/>
            <a:ext cx="53035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83464"/>
            <a:ext cx="53035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01168"/>
            <a:ext cx="10789920" cy="4023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2600" b="1">
                <a:solidFill>
                  <a:srgbClr val="12263F"/>
                </a:solidFill>
                <a:latin typeface="Aptos"/>
              </a:defRPr>
            </a:pPr>
            <a:r>
              <a:t>상세 목차 3/3 — Decision Engine · UI · E2E Scenario ·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250" b="0">
                <a:solidFill>
                  <a:srgbClr val="55657A"/>
                </a:solidFill>
                <a:latin typeface="Aptos"/>
              </a:defRPr>
            </a:pPr>
            <a:r>
              <a:t>자동 판단 엔진, 사용자 화면, BDC 실증 시나리오, 상세 근거 Appendix를 실제 슬라이드 순서와 맞춘다.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987552"/>
            <a:ext cx="10817352" cy="0"/>
          </a:xfrm>
          <a:prstGeom prst="line">
            <a:avLst/>
          </a:prstGeom>
          <a:ln w="12700">
            <a:solidFill>
              <a:srgbClr val="DB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28016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435607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63039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17319"/>
            <a:ext cx="2834639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Decision Engines &amp;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01367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5.1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801367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Decision Engines: Impact·Verification·Deployment·Supplier 판단 파이프라인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1801367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10312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10312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Registry UI: Catalog·Detail·Impact·Readiness 중심 UI 작업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210312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22392"/>
            <a:ext cx="342900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5495544"/>
            <a:ext cx="317296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Engine I/O + UI 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280160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44568" y="1435607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1463039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417319"/>
            <a:ext cx="2834639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End-to-End 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1801367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6.1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1801367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BDC Feature Master: FEAT-BDC-001 기준 Master·Topology·Deployment 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801367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210312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6.2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65192" y="2103120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BDC Decision Flow: 변경 요청→Topology 조회→Gate→Monitoring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10312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2404872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6.3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2404872"/>
            <a:ext cx="2788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Final Principles: Feature Taxonomy/BOM/Topology 설계 원칙 정리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404872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5422392"/>
            <a:ext cx="342900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5495544"/>
            <a:ext cx="317296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BDC Case Study + Decision 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128016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30768" y="1435607"/>
            <a:ext cx="438912" cy="274320"/>
          </a:xfrm>
          <a:prstGeom prst="roundRect">
            <a:avLst/>
          </a:prstGeom>
          <a:solidFill>
            <a:srgbClr val="E7F8F4"/>
          </a:solidFill>
          <a:ln w="12700">
            <a:solidFill>
              <a:srgbClr val="9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1463039"/>
            <a:ext cx="438912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900" b="1">
                <a:solidFill>
                  <a:srgbClr val="006455"/>
                </a:solidFill>
                <a:latin typeface="Aptos"/>
              </a:defRPr>
            </a:pPr>
            <a:r>
              <a:t>VII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1417319"/>
            <a:ext cx="2560320" cy="23774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1520" b="1">
                <a:solidFill>
                  <a:srgbClr val="12263F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1801367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A–C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1801367"/>
            <a:ext cx="2514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Gate/Governance/Effect: Release Readiness, Lifecycle, Before/After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1801367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S23–26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2103120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D–H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2" y="2103120"/>
            <a:ext cx="2514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Variant/Impact/Supplier: Quick Win, Matrix, Glossary, Impact, Package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2103120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S27–31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6488" y="2404872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I–N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1392" y="2404872"/>
            <a:ext cx="2514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UI/Baseline/Tool Gap: Detail UI, Catalog, Policy Lifecycle, Tool 비교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27080" y="2404872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S32–37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6488" y="2706624"/>
            <a:ext cx="41148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00" b="1">
                <a:solidFill>
                  <a:srgbClr val="006455"/>
                </a:solidFill>
                <a:latin typeface="Aptos"/>
              </a:defRPr>
            </a:pPr>
            <a:r>
              <a:t>O–S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51392" y="2706624"/>
            <a:ext cx="251460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defRPr sz="940" b="0">
                <a:solidFill>
                  <a:srgbClr val="2F3F54"/>
                </a:solidFill>
                <a:latin typeface="Aptos"/>
              </a:defRPr>
            </a:pPr>
            <a:r>
              <a:t>PoC/Demo/FAQ: PoC Stack, ChangeSet, Kill Switch Demo, FAQ,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7080" y="2706624"/>
            <a:ext cx="54864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defRPr sz="800" b="1">
                <a:solidFill>
                  <a:srgbClr val="006455"/>
                </a:solidFill>
                <a:latin typeface="Aptos"/>
              </a:defRPr>
            </a:pPr>
            <a:r>
              <a:t>S38–43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5422392"/>
            <a:ext cx="3154680" cy="274320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A4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1352" y="5495544"/>
            <a:ext cx="2898648" cy="10972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19" b="1">
                <a:solidFill>
                  <a:srgbClr val="006455"/>
                </a:solidFill>
                <a:latin typeface="Aptos"/>
              </a:defRPr>
            </a:pPr>
            <a:r>
              <a:t>산출물: Detailed Evidence Package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6236208"/>
            <a:ext cx="11201400" cy="329184"/>
          </a:xfrm>
          <a:prstGeom prst="roundRect">
            <a:avLst/>
          </a:prstGeom>
          <a:solidFill>
            <a:srgbClr val="EFFAF7"/>
          </a:solidFill>
          <a:ln w="12700">
            <a:solidFill>
              <a:srgbClr val="93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6318504"/>
            <a:ext cx="10835640" cy="146304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>
              <a:defRPr sz="850" b="1">
                <a:solidFill>
                  <a:srgbClr val="006455"/>
                </a:solidFill>
                <a:latin typeface="Aptos"/>
              </a:defRPr>
            </a:pPr>
            <a:r>
              <a:t>핵심: 본문 17장과 Appendix 21장을 실제 순서 기준으로 연결하여, 발표 흐름과 상세 설계 근거를 동시에 유지한다.</a:t>
            </a:r>
          </a:p>
        </p:txBody>
      </p:sp>
      <p:sp>
        <p:nvSpPr>
          <p:cNvPr id="5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DMN; OMG BPMN; OpenFeature Specification; ISO 26262:2018; ISO/SAE 21434:2021.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219456"/>
            <a:ext cx="530352" cy="246888"/>
          </a:xfrm>
          <a:prstGeom prst="roundRect">
            <a:avLst/>
          </a:prstGeom>
          <a:solidFill>
            <a:srgbClr val="E5F6F1"/>
          </a:solidFill>
          <a:ln w="7620">
            <a:solidFill>
              <a:srgbClr val="B2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79" y="278892"/>
            <a:ext cx="475488" cy="1005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82880"/>
            <a:ext cx="8046720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2200" b="1">
                <a:solidFill>
                  <a:srgbClr val="182D49"/>
                </a:solidFill>
                <a:latin typeface="Malgun Gothic"/>
              </a:rPr>
              <a:t>왜 Feature Topology가 필요한가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12648"/>
            <a:ext cx="8686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40" b="0">
                <a:solidFill>
                  <a:srgbClr val="465466"/>
                </a:solidFill>
                <a:latin typeface="Malgun Gothic"/>
              </a:rPr>
              <a:t>SDV에서는 Feature 기준정보가 ALM·PLM·Feature Flag·OTA·운영 도구에 분산되어 변경 의사결정이 느리고 불완전해진다.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896112"/>
            <a:ext cx="10652760" cy="9144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069848"/>
            <a:ext cx="10972800" cy="512064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07008"/>
            <a:ext cx="105156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50" b="1">
                <a:solidFill>
                  <a:srgbClr val="182D49"/>
                </a:solidFill>
                <a:latin typeface="Malgun Gothic"/>
              </a:rPr>
              <a:t>설계 관점: Feature Topology는 Feature Flag 도구가 아니라, 기능 변경 판단을 위한 Feature 기준정보·관계 모델·운영 증적의 Source of Truth이다.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810512"/>
            <a:ext cx="263347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929384"/>
            <a:ext cx="2450591" cy="402336"/>
          </a:xfrm>
          <a:prstGeom prst="roundRect">
            <a:avLst/>
          </a:prstGeom>
          <a:solidFill>
            <a:srgbClr val="E8F1FA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5528" y="1984248"/>
            <a:ext cx="274320" cy="274320"/>
          </a:xfrm>
          <a:prstGeom prst="ellipse">
            <a:avLst/>
          </a:prstGeom>
          <a:solidFill>
            <a:srgbClr val="2B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052828"/>
            <a:ext cx="274320" cy="731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007107"/>
            <a:ext cx="1975104" cy="1371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60" b="1">
                <a:solidFill>
                  <a:srgbClr val="182D49"/>
                </a:solidFill>
                <a:latin typeface="Malgun Gothic"/>
              </a:rPr>
              <a:t>기준정보 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468880"/>
            <a:ext cx="2267712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30" b="1">
                <a:solidFill>
                  <a:srgbClr val="182D49"/>
                </a:solidFill>
                <a:latin typeface="Malgun Gothic"/>
              </a:rPr>
              <a:t>같은 기능을 조직마다 다른 ID로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07791"/>
            <a:ext cx="2212848" cy="173736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기획: 상품 기능명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시스템/SW: 기능·모듈명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협력사: Supplier Function ID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검증·OTA·운영: 별도 Artifact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4754880"/>
            <a:ext cx="2340864" cy="256032"/>
          </a:xfrm>
          <a:prstGeom prst="roundRect">
            <a:avLst/>
          </a:prstGeom>
          <a:solidFill>
            <a:srgbClr val="F8FBFD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4823460"/>
            <a:ext cx="219456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770" b="1">
                <a:solidFill>
                  <a:srgbClr val="2B5B8C"/>
                </a:solidFill>
                <a:latin typeface="Malgun Gothic"/>
              </a:rPr>
              <a:t>공통 Key 부재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1810512"/>
            <a:ext cx="263347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47872" y="1929384"/>
            <a:ext cx="2450591" cy="402336"/>
          </a:xfrm>
          <a:prstGeom prst="roundRect">
            <a:avLst/>
          </a:prstGeom>
          <a:solidFill>
            <a:srgbClr val="F5F8FC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39312" y="1984248"/>
            <a:ext cx="274320" cy="274320"/>
          </a:xfrm>
          <a:prstGeom prst="ellipse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2052828"/>
            <a:ext cx="274320" cy="731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2007107"/>
            <a:ext cx="1975104" cy="1371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60" b="1">
                <a:solidFill>
                  <a:srgbClr val="182D49"/>
                </a:solidFill>
                <a:latin typeface="Malgun Gothic"/>
              </a:rPr>
              <a:t>Traceability 단절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468880"/>
            <a:ext cx="2267712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30" b="1">
                <a:solidFill>
                  <a:srgbClr val="182D49"/>
                </a:solidFill>
                <a:latin typeface="Malgun Gothic"/>
              </a:rPr>
              <a:t>요구사항→SW→검증→운영 연결이 약함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2907791"/>
            <a:ext cx="2212848" cy="173736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변경 영향도 수동 판단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관련 Test Evidence 탐색 지연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API/SWC/Supplier 책임 경계 불명확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Baseline 변경 이력 추적 어려움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2736" y="4754880"/>
            <a:ext cx="2340864" cy="256032"/>
          </a:xfrm>
          <a:prstGeom prst="roundRect">
            <a:avLst/>
          </a:prstGeom>
          <a:solidFill>
            <a:srgbClr val="F8FBFD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4823460"/>
            <a:ext cx="219456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770" b="1">
                <a:solidFill>
                  <a:srgbClr val="182D49"/>
                </a:solidFill>
                <a:latin typeface="Malgun Gothic"/>
              </a:rPr>
              <a:t>링크 누락 위험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216" y="1810512"/>
            <a:ext cx="263347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91655" y="1929384"/>
            <a:ext cx="2450591" cy="402336"/>
          </a:xfrm>
          <a:prstGeom prst="roundRect">
            <a:avLst/>
          </a:prstGeom>
          <a:solidFill>
            <a:srgbClr val="F7E8DA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83096" y="1984248"/>
            <a:ext cx="274320" cy="274320"/>
          </a:xfrm>
          <a:prstGeom prst="ellipse">
            <a:avLst/>
          </a:prstGeom>
          <a:solidFill>
            <a:srgbClr val="B85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2052828"/>
            <a:ext cx="274320" cy="731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8855" y="2007107"/>
            <a:ext cx="1975104" cy="1371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60" b="1">
                <a:solidFill>
                  <a:srgbClr val="182D49"/>
                </a:solidFill>
                <a:latin typeface="Malgun Gothic"/>
              </a:rPr>
              <a:t>운영 의사결정 리스크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2468880"/>
            <a:ext cx="2267712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30" b="1">
                <a:solidFill>
                  <a:srgbClr val="182D49"/>
                </a:solidFill>
                <a:latin typeface="Malgun Gothic"/>
              </a:rPr>
              <a:t>배포·검증·복구 판단이 회의와 경험에 의존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2907791"/>
            <a:ext cx="2212848" cy="173736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Binary OTA vs Policy-only 판단 지연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Safe Default / Rollback 누락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Release Gate 증적 부족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운영 Telemetry와 원인 추적 분리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4754880"/>
            <a:ext cx="2340864" cy="256032"/>
          </a:xfrm>
          <a:prstGeom prst="roundRect">
            <a:avLst/>
          </a:prstGeom>
          <a:solidFill>
            <a:srgbClr val="F8FBFD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823460"/>
            <a:ext cx="219456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770" b="1">
                <a:solidFill>
                  <a:srgbClr val="B85332"/>
                </a:solidFill>
                <a:latin typeface="Malgun Gothic"/>
              </a:rPr>
              <a:t>품질·안전 리스크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1810512"/>
            <a:ext cx="263347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5440" y="1929384"/>
            <a:ext cx="2450591" cy="402336"/>
          </a:xfrm>
          <a:prstGeom prst="roundRect">
            <a:avLst/>
          </a:prstGeom>
          <a:solidFill>
            <a:srgbClr val="E5F6F1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6880" y="1984248"/>
            <a:ext cx="274320" cy="274320"/>
          </a:xfrm>
          <a:prstGeom prst="ellipse">
            <a:avLst/>
          </a:prstGeom>
          <a:solidFill>
            <a:srgbClr val="00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2052828"/>
            <a:ext cx="274320" cy="7315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007107"/>
            <a:ext cx="1975104" cy="13716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60" b="1">
                <a:solidFill>
                  <a:srgbClr val="182D49"/>
                </a:solidFill>
                <a:latin typeface="Malgun Gothic"/>
              </a:rPr>
              <a:t>Topology 기반 대응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468880"/>
            <a:ext cx="2267712" cy="3200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30" b="1">
                <a:solidFill>
                  <a:srgbClr val="182D49"/>
                </a:solidFill>
                <a:latin typeface="Malgun Gothic"/>
              </a:rPr>
              <a:t>Feature ID 중심으로 전체 Artifact를 연결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2907791"/>
            <a:ext cx="2212848" cy="1737360"/>
          </a:xfrm>
          <a:prstGeom prst="rect">
            <a:avLst/>
          </a:prstGeom>
          <a:noFill/>
        </p:spPr>
        <p:txBody>
          <a:bodyPr wrap="square" lIns="36576" rIns="27432" tIns="9144" bIns="9144">
            <a:normAutofit/>
          </a:bodyPr>
          <a:lstStyle/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Requirement·SWC·ECU·API 연결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Variant·Policy·Deployment 연결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Test·Supplier·Telemetry 연결</a:t>
            </a:r>
          </a:p>
          <a:p>
            <a:pPr>
              <a:spcAft>
                <a:spcPts val="200"/>
              </a:spcAft>
            </a:pPr>
            <a:r>
              <a:rPr sz="869">
                <a:solidFill>
                  <a:srgbClr val="465466"/>
                </a:solidFill>
                <a:latin typeface="Malgun Gothic"/>
              </a:rPr>
              <a:t>• Decision Engine 판단 근거 제공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90304" y="4754880"/>
            <a:ext cx="2340864" cy="256032"/>
          </a:xfrm>
          <a:prstGeom prst="roundRect">
            <a:avLst/>
          </a:prstGeom>
          <a:solidFill>
            <a:srgbClr val="F8FBFD"/>
          </a:solidFill>
          <a:ln w="635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6" y="4823460"/>
            <a:ext cx="219456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770" b="1">
                <a:solidFill>
                  <a:srgbClr val="00765C"/>
                </a:solidFill>
                <a:latin typeface="Malgun Gothic"/>
              </a:rPr>
              <a:t>데이터 기반 판단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273551" y="3154680"/>
            <a:ext cx="237744" cy="182880"/>
          </a:xfrm>
          <a:prstGeom prst="rightArrow">
            <a:avLst/>
          </a:prstGeom>
          <a:solidFill>
            <a:srgbClr val="B0B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6117336" y="3154680"/>
            <a:ext cx="237744" cy="182880"/>
          </a:xfrm>
          <a:prstGeom prst="rightArrow">
            <a:avLst/>
          </a:prstGeom>
          <a:solidFill>
            <a:srgbClr val="B0B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8961120" y="3154680"/>
            <a:ext cx="237744" cy="182880"/>
          </a:xfrm>
          <a:prstGeom prst="rightArrow">
            <a:avLst/>
          </a:prstGeom>
          <a:solidFill>
            <a:srgbClr val="B0B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5367528"/>
            <a:ext cx="10972800" cy="658368"/>
          </a:xfrm>
          <a:prstGeom prst="roundRect">
            <a:avLst/>
          </a:prstGeom>
          <a:solidFill>
            <a:srgbClr val="EEF7F5"/>
          </a:solidFill>
          <a:ln w="11430">
            <a:solidFill>
              <a:srgbClr val="B2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5486400"/>
            <a:ext cx="1508760" cy="14630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1050" b="1">
                <a:solidFill>
                  <a:srgbClr val="00765C"/>
                </a:solidFill>
                <a:latin typeface="Malgun Gothic"/>
              </a:rPr>
              <a:t>설계 원칙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5477256"/>
            <a:ext cx="9281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l"/>
            <a:r>
              <a:rPr sz="980" b="1">
                <a:solidFill>
                  <a:srgbClr val="182D49"/>
                </a:solidFill>
                <a:latin typeface="Malgun Gothic"/>
              </a:rPr>
              <a:t>① 모든 Artifact는 Feature ID로 연결  ② 변경 요청은 Topology Graph Query로 시작  ③ Release 판단은 Gate Evidence와 Rollback 경로를 포함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843016"/>
            <a:ext cx="10241280" cy="914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890" b="1">
                <a:solidFill>
                  <a:srgbClr val="00765C"/>
                </a:solidFill>
                <a:latin typeface="Malgun Gothic"/>
              </a:rPr>
              <a:t>핵심 : Feature Topology는 기능 변경의 영향도·검증범위·배포방식·협력사 책임·복구경로를 사전에 계산하기 위한 기준정보 계층이다.</a:t>
            </a:r>
          </a:p>
        </p:txBody>
      </p:sp>
      <p:sp>
        <p:nvSpPr>
          <p:cNvPr id="5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ReqIF 1.2; OMG SysML 2.0; Mutuus Lab 내부 분석.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219456"/>
            <a:ext cx="530352" cy="246888"/>
          </a:xfrm>
          <a:prstGeom prst="roundRect">
            <a:avLst/>
          </a:prstGeom>
          <a:solidFill>
            <a:srgbClr val="E5F6F1"/>
          </a:solidFill>
          <a:ln w="7620">
            <a:solidFill>
              <a:srgbClr val="B2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6051" y="278892"/>
            <a:ext cx="466344" cy="100584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182880"/>
            <a:ext cx="8138160" cy="32004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2200" b="1">
                <a:solidFill>
                  <a:srgbClr val="182D49"/>
                </a:solidFill>
                <a:latin typeface="Malgun Gothic"/>
              </a:rPr>
              <a:t>기존 도구로 해결되지 않는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12648"/>
            <a:ext cx="9966960" cy="201168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990" b="0">
                <a:solidFill>
                  <a:srgbClr val="445264"/>
                </a:solidFill>
                <a:latin typeface="Malgun Gothic"/>
              </a:rPr>
              <a:t>ALM · PLM · Feature Flag · OTA/운영 도구는 각각 일부 Artifact를 관리하지만, Feature 변경 의사결정에 필요한 관계 전체를 하나의 모델로 제공하지 못한다.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896112"/>
            <a:ext cx="10652760" cy="9144"/>
          </a:xfrm>
          <a:prstGeom prst="rect">
            <a:avLst/>
          </a:prstGeom>
          <a:solidFill>
            <a:srgbClr val="DA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10972800" cy="475488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79576"/>
            <a:ext cx="10515600" cy="13716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ctr"/>
            <a:r>
              <a:rPr sz="969" b="1">
                <a:solidFill>
                  <a:srgbClr val="182D49"/>
                </a:solidFill>
                <a:latin typeface="Malgun Gothic"/>
              </a:rPr>
              <a:t>설계 전제: Feature Topology는 기존 도구를 대체하는 시스템이 아니라, Feature ID를 공통 Key로 삼아 분산된 산출물을 연결하는 기준정보 계층이다.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931920" cy="173736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1150" b="1">
                <a:solidFill>
                  <a:srgbClr val="182D49"/>
                </a:solidFill>
                <a:latin typeface="Malgun Gothic"/>
              </a:rPr>
              <a:t>Tool Coverage &amp; Gap Matrix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84248"/>
            <a:ext cx="1188720" cy="347472"/>
          </a:xfrm>
          <a:prstGeom prst="rect">
            <a:avLst/>
          </a:prstGeom>
          <a:solidFill>
            <a:srgbClr val="EEF3F8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25395"/>
            <a:ext cx="115214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84248"/>
            <a:ext cx="1874519" cy="347472"/>
          </a:xfrm>
          <a:prstGeom prst="rect">
            <a:avLst/>
          </a:prstGeom>
          <a:solidFill>
            <a:srgbClr val="E8F1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7088" y="2025395"/>
            <a:ext cx="1837943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ALM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984248"/>
            <a:ext cx="1874519" cy="347472"/>
          </a:xfrm>
          <a:prstGeom prst="rect">
            <a:avLst/>
          </a:prstGeom>
          <a:solidFill>
            <a:srgbClr val="EEF3F8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7" y="2025395"/>
            <a:ext cx="1837943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PLM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1984248"/>
            <a:ext cx="1874519" cy="347472"/>
          </a:xfrm>
          <a:prstGeom prst="rect">
            <a:avLst/>
          </a:prstGeom>
          <a:solidFill>
            <a:srgbClr val="F1EDF8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7" y="2025395"/>
            <a:ext cx="1837943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Feature Flag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984248"/>
            <a:ext cx="1920240" cy="347472"/>
          </a:xfrm>
          <a:prstGeom prst="rect">
            <a:avLst/>
          </a:prstGeom>
          <a:solidFill>
            <a:srgbClr val="F8ECE1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7" y="2025395"/>
            <a:ext cx="188366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182D49"/>
                </a:solidFill>
                <a:latin typeface="Malgun Gothic"/>
              </a:rPr>
              <a:t>OTA /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599" y="1984248"/>
            <a:ext cx="1828800" cy="347472"/>
          </a:xfrm>
          <a:prstGeom prst="rect">
            <a:avLst/>
          </a:prstGeom>
          <a:solidFill>
            <a:srgbClr val="E5F6F1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7" y="2025395"/>
            <a:ext cx="1792224" cy="28346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30" b="1">
                <a:solidFill>
                  <a:srgbClr val="00765C"/>
                </a:solidFill>
                <a:latin typeface="Malgun Gothic"/>
              </a:rPr>
              <a:t>Feature Topology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331720"/>
            <a:ext cx="1188720" cy="658368"/>
          </a:xfrm>
          <a:prstGeom prst="rect">
            <a:avLst/>
          </a:prstGeom>
          <a:solidFill>
            <a:srgbClr val="F8FAFC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372868"/>
            <a:ext cx="1152144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00" b="1">
                <a:solidFill>
                  <a:srgbClr val="182D49"/>
                </a:solidFill>
                <a:latin typeface="Malgun Gothic"/>
              </a:rPr>
              <a:t>관리 기준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2331720"/>
            <a:ext cx="1874519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088" y="2372868"/>
            <a:ext cx="1837943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Requirement
Test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2331720"/>
            <a:ext cx="1874519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7" y="2372868"/>
            <a:ext cx="1837943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Part / BOM
Product Config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331720"/>
            <a:ext cx="1874519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7" y="2372868"/>
            <a:ext cx="1837943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Flag / Policy
Rollout Rule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59" y="2331720"/>
            <a:ext cx="1920240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7" y="2372868"/>
            <a:ext cx="1883664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Package / Fleet
Telemetry / Incident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599" y="2331720"/>
            <a:ext cx="1828800" cy="658368"/>
          </a:xfrm>
          <a:prstGeom prst="rect">
            <a:avLst/>
          </a:prstGeom>
          <a:solidFill>
            <a:srgbClr val="F6FC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90887" y="2372868"/>
            <a:ext cx="1792224" cy="594359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35" b="1">
                <a:solidFill>
                  <a:srgbClr val="00765C"/>
                </a:solidFill>
                <a:latin typeface="Malgun Gothic"/>
              </a:rPr>
              <a:t>Feature ID
Relationship Graph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2990087"/>
            <a:ext cx="1188720" cy="713232"/>
          </a:xfrm>
          <a:prstGeom prst="rect">
            <a:avLst/>
          </a:prstGeom>
          <a:solidFill>
            <a:srgbClr val="F8FAFC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031235"/>
            <a:ext cx="115214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00" b="1">
                <a:solidFill>
                  <a:srgbClr val="182D49"/>
                </a:solidFill>
                <a:latin typeface="Malgun Gothic"/>
              </a:rPr>
              <a:t>강점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2990087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3031235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요구사항-검증
추적성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2990087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21607" y="3031235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제품 구성·부품
Baseline 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2990087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96127" y="3031235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런타임 ON/OFF
Rollout 제어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59" y="2990087"/>
            <a:ext cx="1920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0647" y="3031235"/>
            <a:ext cx="188366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배포·운영 상태
관측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599" y="2990087"/>
            <a:ext cx="1828800" cy="713232"/>
          </a:xfrm>
          <a:prstGeom prst="rect">
            <a:avLst/>
          </a:prstGeom>
          <a:solidFill>
            <a:srgbClr val="F6FC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90887" y="3031235"/>
            <a:ext cx="179222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35" b="1">
                <a:solidFill>
                  <a:srgbClr val="00765C"/>
                </a:solidFill>
                <a:latin typeface="Malgun Gothic"/>
              </a:rPr>
              <a:t>Feature 중심으로
전체 Artifact 연결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703320"/>
            <a:ext cx="1188720" cy="713232"/>
          </a:xfrm>
          <a:prstGeom prst="rect">
            <a:avLst/>
          </a:prstGeom>
          <a:solidFill>
            <a:srgbClr val="F8FAFC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744468"/>
            <a:ext cx="115214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00" b="1">
                <a:solidFill>
                  <a:srgbClr val="182D49"/>
                </a:solidFill>
                <a:latin typeface="Malgun Gothic"/>
              </a:rPr>
              <a:t>주요 Gap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3703320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47088" y="3744468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SWC·ECU·API·
Supplier·Runtime 연결 약함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03320" y="3703320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21607" y="3744468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SW Feature·Policy·
Runtime Context 부족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703320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96127" y="3744468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Flag ≠ Feature
요구사항·검증 연결 약함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59" y="3703320"/>
            <a:ext cx="1920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0647" y="3744468"/>
            <a:ext cx="188366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Feature 의도·요구·
정책 근거 추적 약함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599" y="3703320"/>
            <a:ext cx="1828800" cy="713232"/>
          </a:xfrm>
          <a:prstGeom prst="rect">
            <a:avLst/>
          </a:prstGeom>
          <a:solidFill>
            <a:srgbClr val="F6FC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90887" y="3744468"/>
            <a:ext cx="179222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35" b="1">
                <a:solidFill>
                  <a:srgbClr val="00765C"/>
                </a:solidFill>
                <a:latin typeface="Malgun Gothic"/>
              </a:rPr>
              <a:t>Impact·Verification·
Deploy·Owner 판단 가능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416552"/>
            <a:ext cx="1188720" cy="713232"/>
          </a:xfrm>
          <a:prstGeom prst="rect">
            <a:avLst/>
          </a:prstGeom>
          <a:solidFill>
            <a:srgbClr val="F8FAFC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4457700"/>
            <a:ext cx="115214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800" b="1">
                <a:solidFill>
                  <a:srgbClr val="182D49"/>
                </a:solidFill>
                <a:latin typeface="Malgun Gothic"/>
              </a:rPr>
              <a:t>필요 보강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4416552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47088" y="4457700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Feature 단위
Cross-link 필요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03320" y="4416552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721607" y="4457700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SW/Runtime
Feature 연결 필요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4416552"/>
            <a:ext cx="1874519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96127" y="4457700"/>
            <a:ext cx="1837943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Flag를 Control Point로
격상 관리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59" y="4416552"/>
            <a:ext cx="1920240" cy="713232"/>
          </a:xfrm>
          <a:prstGeom prst="rect">
            <a:avLst/>
          </a:prstGeom>
          <a:solidFill>
            <a:srgbClr val="FFFFFF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70647" y="4457700"/>
            <a:ext cx="188366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20" b="0">
                <a:solidFill>
                  <a:srgbClr val="445264"/>
                </a:solidFill>
                <a:latin typeface="Malgun Gothic"/>
              </a:rPr>
              <a:t>Telemetry를 Feature ID에
귀속해야 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72599" y="4416552"/>
            <a:ext cx="1828800" cy="713232"/>
          </a:xfrm>
          <a:prstGeom prst="rect">
            <a:avLst/>
          </a:prstGeom>
          <a:solidFill>
            <a:srgbClr val="F6FCFA"/>
          </a:solidFill>
          <a:ln w="508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90887" y="4457700"/>
            <a:ext cx="1792224" cy="649224"/>
          </a:xfrm>
          <a:prstGeom prst="rect">
            <a:avLst/>
          </a:prstGeom>
          <a:noFill/>
        </p:spPr>
        <p:txBody>
          <a:bodyPr wrap="square" lIns="13716" rIns="13716" tIns="9144" bIns="9144">
            <a:normAutofit/>
          </a:bodyPr>
          <a:lstStyle/>
          <a:p>
            <a:pPr algn="ctr"/>
            <a:r>
              <a:rPr sz="735" b="1">
                <a:solidFill>
                  <a:srgbClr val="00765C"/>
                </a:solidFill>
                <a:latin typeface="Malgun Gothic"/>
              </a:rPr>
              <a:t>도구 간 공통 Key와
Graph Query 제공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" y="5248656"/>
            <a:ext cx="3547872" cy="603504"/>
          </a:xfrm>
          <a:prstGeom prst="roundRect">
            <a:avLst/>
          </a:prstGeom>
          <a:solidFill>
            <a:srgbClr val="FAFCFD"/>
          </a:solidFill>
          <a:ln w="889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8952" y="5413248"/>
            <a:ext cx="283464" cy="283464"/>
          </a:xfrm>
          <a:prstGeom prst="ellipse">
            <a:avLst/>
          </a:prstGeom>
          <a:solidFill>
            <a:srgbClr val="00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8952" y="5481828"/>
            <a:ext cx="283464" cy="73152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5367528"/>
            <a:ext cx="2953512" cy="13716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919" b="1">
                <a:solidFill>
                  <a:srgbClr val="182D49"/>
                </a:solidFill>
                <a:latin typeface="Malgun Gothic"/>
              </a:rPr>
              <a:t>공통 Key 설계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5568" y="5577840"/>
            <a:ext cx="294436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740" b="0">
                <a:solidFill>
                  <a:srgbClr val="445264"/>
                </a:solidFill>
                <a:latin typeface="Malgun Gothic"/>
              </a:rPr>
              <a:t>Feature ID를 모든 Artifact의 외부 참조키로 사용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52544" y="5248656"/>
            <a:ext cx="3547872" cy="603504"/>
          </a:xfrm>
          <a:prstGeom prst="roundRect">
            <a:avLst/>
          </a:prstGeom>
          <a:solidFill>
            <a:srgbClr val="FAFCFD"/>
          </a:solidFill>
          <a:ln w="889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471416" y="5413248"/>
            <a:ext cx="283464" cy="283464"/>
          </a:xfrm>
          <a:prstGeom prst="ellipse">
            <a:avLst/>
          </a:prstGeom>
          <a:solidFill>
            <a:srgbClr val="00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71416" y="5481828"/>
            <a:ext cx="283464" cy="73152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28032" y="5367528"/>
            <a:ext cx="2953512" cy="13716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919" b="1">
                <a:solidFill>
                  <a:srgbClr val="182D49"/>
                </a:solidFill>
                <a:latin typeface="Malgun Gothic"/>
              </a:rPr>
              <a:t>관계 그래프 설계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28032" y="5577840"/>
            <a:ext cx="294436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740" b="0">
                <a:solidFill>
                  <a:srgbClr val="445264"/>
                </a:solidFill>
                <a:latin typeface="Malgun Gothic"/>
              </a:rPr>
              <a:t>Requirement·SWC·API·Variant·Policy·Test·Supplier·Telemetry를 Edge로 연결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65008" y="5248656"/>
            <a:ext cx="3547872" cy="603504"/>
          </a:xfrm>
          <a:prstGeom prst="roundRect">
            <a:avLst/>
          </a:prstGeom>
          <a:solidFill>
            <a:srgbClr val="FAFCFD"/>
          </a:solidFill>
          <a:ln w="8890">
            <a:solidFill>
              <a:srgbClr val="CD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83880" y="5413248"/>
            <a:ext cx="283464" cy="283464"/>
          </a:xfrm>
          <a:prstGeom prst="ellipse">
            <a:avLst/>
          </a:prstGeom>
          <a:solidFill>
            <a:srgbClr val="007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83880" y="5481828"/>
            <a:ext cx="283464" cy="73152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01-2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40496" y="5367528"/>
            <a:ext cx="2953512" cy="137160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919" b="1">
                <a:solidFill>
                  <a:srgbClr val="182D49"/>
                </a:solidFill>
                <a:latin typeface="Malgun Gothic"/>
              </a:rPr>
              <a:t>Decision Layer 설계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40496" y="5577840"/>
            <a:ext cx="2944368" cy="109728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l"/>
            <a:r>
              <a:rPr sz="740" b="0">
                <a:solidFill>
                  <a:srgbClr val="445264"/>
                </a:solidFill>
                <a:latin typeface="Malgun Gothic"/>
              </a:rPr>
              <a:t>Impact·Verification·Deploy·Supplier 판단을 Graph Query + Rule로 자동화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5989320"/>
            <a:ext cx="10972800" cy="347472"/>
          </a:xfrm>
          <a:prstGeom prst="roundRect">
            <a:avLst/>
          </a:prstGeom>
          <a:solidFill>
            <a:srgbClr val="EEF7F5"/>
          </a:solidFill>
          <a:ln w="10160">
            <a:solidFill>
              <a:srgbClr val="B2DD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8680" y="6089904"/>
            <a:ext cx="10515600" cy="82296"/>
          </a:xfrm>
          <a:prstGeom prst="rect">
            <a:avLst/>
          </a:prstGeom>
          <a:noFill/>
        </p:spPr>
        <p:txBody>
          <a:bodyPr wrap="square" lIns="27432" rIns="27432" tIns="9144" bIns="9144">
            <a:normAutofit/>
          </a:bodyPr>
          <a:lstStyle/>
          <a:p>
            <a:pPr algn="ctr"/>
            <a:r>
              <a:rPr sz="850" b="1">
                <a:solidFill>
                  <a:srgbClr val="00765C"/>
                </a:solidFill>
                <a:latin typeface="Malgun Gothic"/>
              </a:rPr>
              <a:t>핵심 : 기존 도구의 산출물은 그대로 활용하되, Feature Topology Registry가 Feature ID 기반 관계·정합성·의사결정 계층을 추가한다.</a:t>
            </a:r>
          </a:p>
        </p:txBody>
      </p:sp>
      <p:sp>
        <p:nvSpPr>
          <p:cNvPr id="87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Spec; Unleash Docs; OpenAPI 3.2.0; ALM/PLM 벤더 문서; Mutuus Lab Gap 분석.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28600"/>
            <a:ext cx="566928" cy="256032"/>
          </a:xfrm>
          <a:prstGeom prst="roundRect">
            <a:avLst/>
          </a:prstGeom>
          <a:solidFill>
            <a:srgbClr val="E6F8F4"/>
          </a:solidFill>
          <a:ln w="10160">
            <a:solidFill>
              <a:srgbClr val="94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8892"/>
            <a:ext cx="566928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819" b="1">
                <a:solidFill>
                  <a:srgbClr val="005D52"/>
                </a:solidFill>
                <a:latin typeface="Malgun Gothic"/>
              </a:rPr>
              <a:t>02-1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2880"/>
            <a:ext cx="7955279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2250" b="1">
                <a:solidFill>
                  <a:srgbClr val="12263F"/>
                </a:solidFill>
                <a:latin typeface="Malgun Gothic"/>
              </a:rPr>
              <a:t>Feature Definition — 등록 단위와 제외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612648"/>
            <a:ext cx="103327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980" b="0">
                <a:solidFill>
                  <a:srgbClr val="59687C"/>
                </a:solidFill>
                <a:latin typeface="Malgun Gothic"/>
              </a:rPr>
              <a:t>Feature는 독립 관리가 필요한 기능 단위이며, Flag · Parameter · Signal · DTC는 Feature를 구성·제어·관측하는 하위 Artifact로 분류한다.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932688"/>
            <a:ext cx="10607040" cy="9144"/>
          </a:xfrm>
          <a:prstGeom prst="rect">
            <a:avLst/>
          </a:prstGeom>
          <a:solidFill>
            <a:srgbClr val="DD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078992"/>
            <a:ext cx="10927080" cy="493776"/>
          </a:xfrm>
          <a:prstGeom prst="roundRect">
            <a:avLst/>
          </a:prstGeom>
          <a:solidFill>
            <a:srgbClr val="EFFAF7"/>
          </a:solidFill>
          <a:ln w="11430">
            <a:solidFill>
              <a:srgbClr val="96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16152"/>
            <a:ext cx="10497312" cy="1280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1070" b="1">
                <a:solidFill>
                  <a:srgbClr val="12263F"/>
                </a:solidFill>
                <a:latin typeface="Malgun Gothic"/>
              </a:rPr>
              <a:t>정의: Feature = 고객/차량 동작 관점에서 식별 가능하고, 요구사항 · 구현 · 검증 · 배포 · 활성화 · 운영 · 책임을 독립 관리해야 하는 기능 단위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2971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Malgun Gothic"/>
              </a:rPr>
              <a:t>Feature 등록 판단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75104"/>
            <a:ext cx="297180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20" b="0">
                <a:solidFill>
                  <a:srgbClr val="59687C"/>
                </a:solidFill>
                <a:latin typeface="Malgun Gothic"/>
              </a:rPr>
              <a:t>후보 항목을 Feature / BOM Item / 제외 대상으로 분류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2971800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258568"/>
            <a:ext cx="310896" cy="310896"/>
          </a:xfrm>
          <a:prstGeom prst="ellipse">
            <a:avLst/>
          </a:prstGeom>
          <a:solidFill>
            <a:srgbClr val="007969"/>
          </a:solidFill>
          <a:ln>
            <a:solidFill>
              <a:srgbClr val="00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331720"/>
            <a:ext cx="310896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240280"/>
            <a:ext cx="235000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12263F"/>
                </a:solidFill>
                <a:latin typeface="Malgun Gothic"/>
              </a:rPr>
              <a:t>Candidate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459736"/>
            <a:ext cx="23500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00" b="0">
                <a:solidFill>
                  <a:srgbClr val="303F54"/>
                </a:solidFill>
                <a:latin typeface="Malgun Gothic"/>
              </a:rPr>
              <a:t>고객 기능명 · 시스템 요구 · SW 기능 · Flag · Signal 후보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44268" y="2606040"/>
            <a:ext cx="0" cy="146304"/>
          </a:xfrm>
          <a:prstGeom prst="line">
            <a:avLst/>
          </a:prstGeom>
          <a:ln w="15240">
            <a:solidFill>
              <a:srgbClr val="A8B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own Arrow 16"/>
          <p:cNvSpPr/>
          <p:nvPr/>
        </p:nvSpPr>
        <p:spPr>
          <a:xfrm>
            <a:off x="2080260" y="2715768"/>
            <a:ext cx="128016" cy="146304"/>
          </a:xfrm>
          <a:prstGeom prst="downArrow">
            <a:avLst/>
          </a:prstGeom>
          <a:solidFill>
            <a:srgbClr val="A8B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752344"/>
            <a:ext cx="2971800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" y="2862072"/>
            <a:ext cx="310896" cy="310896"/>
          </a:xfrm>
          <a:prstGeom prst="ellipse">
            <a:avLst/>
          </a:prstGeom>
          <a:solidFill>
            <a:srgbClr val="007969"/>
          </a:solidFill>
          <a:ln>
            <a:solidFill>
              <a:srgbClr val="00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935224"/>
            <a:ext cx="310896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843784"/>
            <a:ext cx="235000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12263F"/>
                </a:solidFill>
                <a:latin typeface="Malgun Gothic"/>
              </a:rPr>
              <a:t>7 Criteria 평가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063239"/>
            <a:ext cx="23500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00" b="0">
                <a:solidFill>
                  <a:srgbClr val="303F54"/>
                </a:solidFill>
                <a:latin typeface="Malgun Gothic"/>
              </a:rPr>
              <a:t>가치 · 요구사항화 · 검증 · 적용조건 · 제어 · Owner · 운영성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44268" y="3209544"/>
            <a:ext cx="0" cy="146304"/>
          </a:xfrm>
          <a:prstGeom prst="line">
            <a:avLst/>
          </a:prstGeom>
          <a:ln w="15240">
            <a:solidFill>
              <a:srgbClr val="A8B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own Arrow 23"/>
          <p:cNvSpPr/>
          <p:nvPr/>
        </p:nvSpPr>
        <p:spPr>
          <a:xfrm>
            <a:off x="2080260" y="3319272"/>
            <a:ext cx="128016" cy="146304"/>
          </a:xfrm>
          <a:prstGeom prst="downArrow">
            <a:avLst/>
          </a:prstGeom>
          <a:solidFill>
            <a:srgbClr val="A8B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3355848"/>
            <a:ext cx="2971800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" y="3465576"/>
            <a:ext cx="310896" cy="310896"/>
          </a:xfrm>
          <a:prstGeom prst="ellipse">
            <a:avLst/>
          </a:prstGeom>
          <a:solidFill>
            <a:srgbClr val="007969"/>
          </a:solidFill>
          <a:ln>
            <a:solidFill>
              <a:srgbClr val="00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538728"/>
            <a:ext cx="310896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447288"/>
            <a:ext cx="235000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12263F"/>
                </a:solidFill>
                <a:latin typeface="Malgun Gothic"/>
              </a:rPr>
              <a:t>필수 속성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3666744"/>
            <a:ext cx="23500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00" b="0">
                <a:solidFill>
                  <a:srgbClr val="303F54"/>
                </a:solidFill>
                <a:latin typeface="Malgun Gothic"/>
              </a:rPr>
              <a:t>Owner · Source · Verification · Applicability · Lifecycle 존재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44268" y="3813048"/>
            <a:ext cx="0" cy="146304"/>
          </a:xfrm>
          <a:prstGeom prst="line">
            <a:avLst/>
          </a:prstGeom>
          <a:ln w="15240">
            <a:solidFill>
              <a:srgbClr val="A8BA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Down Arrow 30"/>
          <p:cNvSpPr/>
          <p:nvPr/>
        </p:nvSpPr>
        <p:spPr>
          <a:xfrm>
            <a:off x="2080260" y="3922776"/>
            <a:ext cx="128016" cy="146304"/>
          </a:xfrm>
          <a:prstGeom prst="downArrow">
            <a:avLst/>
          </a:prstGeom>
          <a:solidFill>
            <a:srgbClr val="A8B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3959352"/>
            <a:ext cx="2971800" cy="438912"/>
          </a:xfrm>
          <a:prstGeom prst="roundRect">
            <a:avLst/>
          </a:prstGeom>
          <a:solidFill>
            <a:srgbClr val="EFFAF7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" y="4069080"/>
            <a:ext cx="310896" cy="310896"/>
          </a:xfrm>
          <a:prstGeom prst="ellipse">
            <a:avLst/>
          </a:prstGeom>
          <a:solidFill>
            <a:srgbClr val="007969"/>
          </a:solidFill>
          <a:ln>
            <a:solidFill>
              <a:srgbClr val="007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142232"/>
            <a:ext cx="310896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050791"/>
            <a:ext cx="2350008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12263F"/>
                </a:solidFill>
                <a:latin typeface="Malgun Gothic"/>
              </a:rPr>
              <a:t>등록 결정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4270248"/>
            <a:ext cx="2350008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00" b="0">
                <a:solidFill>
                  <a:srgbClr val="303F54"/>
                </a:solidFill>
                <a:latin typeface="Malgun Gothic"/>
              </a:rPr>
              <a:t>Feature 등록 / BOM 하위요소 분류 / 보류·제외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00600"/>
            <a:ext cx="2971800" cy="530352"/>
          </a:xfrm>
          <a:prstGeom prst="roundRect">
            <a:avLst/>
          </a:prstGeom>
          <a:solidFill>
            <a:srgbClr val="F6F2FA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928616"/>
            <a:ext cx="2651760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840" b="1">
                <a:solidFill>
                  <a:srgbClr val="12263F"/>
                </a:solidFill>
                <a:latin typeface="Malgun Gothic"/>
              </a:rPr>
              <a:t>Registration 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5138928"/>
            <a:ext cx="2706624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50" b="0">
                <a:solidFill>
                  <a:srgbClr val="303F54"/>
                </a:solidFill>
                <a:latin typeface="Malgun Gothic"/>
              </a:rPr>
              <a:t>7개 기준 중 4개 이상 + Owner/Verification/Applicability 정의 시 Feature 후보 등록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1755648"/>
            <a:ext cx="3703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Malgun Gothic"/>
              </a:rPr>
              <a:t>7가지 판단 기준 — Pass Signal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8768" y="1975104"/>
            <a:ext cx="3703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20" b="0">
                <a:solidFill>
                  <a:srgbClr val="59687C"/>
                </a:solidFill>
                <a:latin typeface="Malgun Gothic"/>
              </a:rPr>
              <a:t>등록 기준은 점수가 아니라 추적·검증 가능한 Evidence 유무로 판단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58768" y="2148840"/>
            <a:ext cx="329184" cy="301752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77055" y="2194560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12263F"/>
                </a:solidFill>
                <a:latin typeface="Malgun Gothic"/>
              </a:rPr>
              <a:t>#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2148840"/>
            <a:ext cx="1188720" cy="301752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2194560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12263F"/>
                </a:solidFill>
                <a:latin typeface="Malgun Gothic"/>
              </a:rPr>
              <a:t>기준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76672" y="2148840"/>
            <a:ext cx="2039112" cy="301752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59" y="2194560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00" b="1">
                <a:solidFill>
                  <a:srgbClr val="12263F"/>
                </a:solidFill>
                <a:latin typeface="Malgun Gothic"/>
              </a:rPr>
              <a:t>Pass Signal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58768" y="2450592"/>
            <a:ext cx="329184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77055" y="2496312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87952" y="2450592"/>
            <a:ext cx="1188720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496312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고객/차량 가치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76672" y="2450592"/>
            <a:ext cx="2039112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4959" y="2496312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고객이 인지하거나 차량 동작을 바꾸는가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58768" y="2752344"/>
            <a:ext cx="329184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77055" y="2798064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87952" y="2752344"/>
            <a:ext cx="1188720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2798064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요구사항화 가능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76672" y="2752344"/>
            <a:ext cx="2039112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59" y="2798064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입력·출력·조건·예외를 명세 가능한가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58768" y="3054096"/>
            <a:ext cx="329184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77055" y="3099815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87952" y="3054096"/>
            <a:ext cx="1188720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0" y="3099815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독립 검증 가능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76672" y="3054096"/>
            <a:ext cx="2039112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94959" y="3099815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독립 Test Case 또는 검증 조건이 있는가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58768" y="3355848"/>
            <a:ext cx="329184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77055" y="3401568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87952" y="3355848"/>
            <a:ext cx="1188720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06240" y="3401568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적용 조건 존재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76672" y="3355848"/>
            <a:ext cx="2039112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94959" y="3401568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차종·지역·트림·HW/SW별 차이가 있는가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58768" y="3657600"/>
            <a:ext cx="329184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77055" y="3703320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87952" y="3657600"/>
            <a:ext cx="1188720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06240" y="3703320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배포/활성화 제어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76672" y="3657600"/>
            <a:ext cx="2039112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94959" y="3703320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OTA·Policy-only·Kill-switch 대상인가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58768" y="3959352"/>
            <a:ext cx="329184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877055" y="4005072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87952" y="3959352"/>
            <a:ext cx="1188720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06240" y="4005072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Owner 지정 가능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76672" y="3959352"/>
            <a:ext cx="2039112" cy="301752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94959" y="4005072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개발·검증·운영·협력사 책임이 지정되는가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58768" y="4261104"/>
            <a:ext cx="329184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77055" y="4306824"/>
            <a:ext cx="292608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80" b="1">
                <a:solidFill>
                  <a:srgbClr val="005D52"/>
                </a:solidFill>
                <a:latin typeface="Malgun Gothic"/>
              </a:rPr>
              <a:t>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87952" y="4261104"/>
            <a:ext cx="1188720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06240" y="4306824"/>
            <a:ext cx="1152144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80" b="1">
                <a:solidFill>
                  <a:srgbClr val="303F54"/>
                </a:solidFill>
                <a:latin typeface="Malgun Gothic"/>
              </a:rPr>
              <a:t>운영 모니터링 필요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76672" y="4261104"/>
            <a:ext cx="2039112" cy="301752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94959" y="4306824"/>
            <a:ext cx="2002536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l"/>
            <a:r>
              <a:rPr sz="640" b="0">
                <a:solidFill>
                  <a:srgbClr val="303F54"/>
                </a:solidFill>
                <a:latin typeface="Malgun Gothic"/>
              </a:rPr>
              <a:t>Telemetry·DTC·Audit로 관측해야 하는가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858768" y="4681728"/>
            <a:ext cx="3703320" cy="649224"/>
          </a:xfrm>
          <a:prstGeom prst="roundRect">
            <a:avLst/>
          </a:prstGeom>
          <a:solidFill>
            <a:srgbClr val="EFFAF7"/>
          </a:solidFill>
          <a:ln w="8890">
            <a:solidFill>
              <a:srgbClr val="9B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041648" y="4818888"/>
            <a:ext cx="3328416" cy="1097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840" b="1">
                <a:solidFill>
                  <a:srgbClr val="12263F"/>
                </a:solidFill>
                <a:latin typeface="Malgun Gothic"/>
              </a:rPr>
              <a:t>Feature 등록 시 최소 속성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77639" y="5029200"/>
            <a:ext cx="3474720" cy="91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50" b="0">
                <a:solidFill>
                  <a:srgbClr val="303F54"/>
                </a:solidFill>
                <a:latin typeface="Malgun Gothic"/>
              </a:rPr>
              <a:t>Feature ID · Level · Owner · Source · Requirement Link · Verification Method · Applicability · Lifecycle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18120" y="1755648"/>
            <a:ext cx="3703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1100" b="1">
                <a:solidFill>
                  <a:srgbClr val="12263F"/>
                </a:solidFill>
                <a:latin typeface="Malgun Gothic"/>
              </a:rPr>
              <a:t>Feature가 아닌 항목의 분류 기준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18120" y="1975104"/>
            <a:ext cx="37033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l"/>
            <a:r>
              <a:rPr sz="720" b="0">
                <a:solidFill>
                  <a:srgbClr val="59687C"/>
                </a:solidFill>
                <a:latin typeface="Malgun Gothic"/>
              </a:rPr>
              <a:t>Feature를 구성·제어·관측하는 하위 Artifact로 연결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818120" y="2148840"/>
            <a:ext cx="960120" cy="320040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36408" y="2194560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90" b="1">
                <a:solidFill>
                  <a:srgbClr val="12263F"/>
                </a:solidFill>
                <a:latin typeface="Malgun Gothic"/>
              </a:rPr>
              <a:t>후보 항목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778240" y="2148840"/>
            <a:ext cx="1325880" cy="320040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96528" y="2194560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90" b="1">
                <a:solidFill>
                  <a:srgbClr val="12263F"/>
                </a:solidFill>
                <a:latin typeface="Malgun Gothic"/>
              </a:rPr>
              <a:t>등록 위치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104120" y="2148840"/>
            <a:ext cx="1261872" cy="320040"/>
          </a:xfrm>
          <a:prstGeom prst="rect">
            <a:avLst/>
          </a:prstGeom>
          <a:solidFill>
            <a:srgbClr val="EBF4FC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122408" y="2194560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90" b="1">
                <a:solidFill>
                  <a:srgbClr val="12263F"/>
                </a:solidFill>
                <a:latin typeface="Malgun Gothic"/>
              </a:rPr>
              <a:t>예시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18120" y="2468880"/>
            <a:ext cx="96012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36408" y="2514600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Flag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778240" y="2468880"/>
            <a:ext cx="132588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796528" y="2514600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Control Point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104120" y="2468880"/>
            <a:ext cx="1261872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122408" y="2514600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enable_xxx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818120" y="2788920"/>
            <a:ext cx="96012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836408" y="2834639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Parameter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78240" y="2788920"/>
            <a:ext cx="132588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796528" y="2834639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Parameter Catalog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104120" y="2788920"/>
            <a:ext cx="1261872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122408" y="2834639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Threshold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18120" y="3108960"/>
            <a:ext cx="96012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836408" y="3154679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Signal/API Field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778240" y="3108960"/>
            <a:ext cx="132588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796528" y="3154679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Interface BOM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104120" y="3108960"/>
            <a:ext cx="1261872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122408" y="3154679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CAN / API Field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818120" y="3429000"/>
            <a:ext cx="96012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836408" y="3474720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DTC/Event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778240" y="3429000"/>
            <a:ext cx="132588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796528" y="3474720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Telemetry Mapping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104120" y="3429000"/>
            <a:ext cx="1261872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122408" y="3474720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Diagnostic Event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818120" y="3749039"/>
            <a:ext cx="96012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836408" y="3794759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Internal Function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778240" y="3749039"/>
            <a:ext cx="1325880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796528" y="3794759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SWC 내부 설계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104120" y="3749039"/>
            <a:ext cx="1261872" cy="320040"/>
          </a:xfrm>
          <a:prstGeom prst="rect">
            <a:avLst/>
          </a:prstGeom>
          <a:solidFill>
            <a:srgbClr val="FCFDFE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122408" y="3794759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private method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818120" y="4069079"/>
            <a:ext cx="96012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836408" y="4114799"/>
            <a:ext cx="92354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if 조건문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778240" y="4069079"/>
            <a:ext cx="1325880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796528" y="4114799"/>
            <a:ext cx="1289304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Code Logic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104120" y="4069079"/>
            <a:ext cx="1261872" cy="320040"/>
          </a:xfrm>
          <a:prstGeom prst="rect">
            <a:avLst/>
          </a:prstGeom>
          <a:solidFill>
            <a:srgbClr val="F7FAFD"/>
          </a:solidFill>
          <a:ln w="4445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122408" y="4114799"/>
            <a:ext cx="1225295" cy="2468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635" b="0">
                <a:solidFill>
                  <a:srgbClr val="303F54"/>
                </a:solidFill>
                <a:latin typeface="Malgun Gothic"/>
              </a:rPr>
              <a:t>static analysis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818120" y="4407408"/>
            <a:ext cx="3547872" cy="923544"/>
          </a:xfrm>
          <a:prstGeom prst="roundRect">
            <a:avLst/>
          </a:prstGeom>
          <a:solidFill>
            <a:srgbClr val="FEF4EB"/>
          </a:solidFill>
          <a:ln w="8890">
            <a:solidFill>
              <a:srgbClr val="E8C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973568" y="4553712"/>
            <a:ext cx="3246120" cy="118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840" b="1">
                <a:solidFill>
                  <a:srgbClr val="12263F"/>
                </a:solidFill>
                <a:latin typeface="Malgun Gothic"/>
              </a:rPr>
              <a:t>Granularity Rule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28431" y="4754880"/>
            <a:ext cx="315468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120"/>
              </a:spcAft>
            </a:pPr>
            <a:r>
              <a:rPr sz="635" b="0">
                <a:solidFill>
                  <a:srgbClr val="303F54"/>
                </a:solidFill>
                <a:latin typeface="Malgun Gothic"/>
              </a:rPr>
              <a:t>• 기준 Feature는 L2 Vehicle/System Feature</a:t>
            </a:r>
          </a:p>
          <a:p>
            <a:pPr>
              <a:spcAft>
                <a:spcPts val="120"/>
              </a:spcAft>
            </a:pPr>
            <a:r>
              <a:rPr sz="635" b="0">
                <a:solidFill>
                  <a:srgbClr val="303F54"/>
                </a:solidFill>
                <a:latin typeface="Malgun Gothic"/>
              </a:rPr>
              <a:t>• L3 Software Feature는 구현/협력사 단위로 연결</a:t>
            </a:r>
          </a:p>
          <a:p>
            <a:pPr>
              <a:spcAft>
                <a:spcPts val="120"/>
              </a:spcAft>
            </a:pPr>
            <a:r>
              <a:rPr sz="635" b="0">
                <a:solidFill>
                  <a:srgbClr val="303F54"/>
                </a:solidFill>
                <a:latin typeface="Malgun Gothic"/>
              </a:rPr>
              <a:t>• L4 Flag/Parameter는 Control Point로만 관리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40080" y="5577840"/>
            <a:ext cx="10927080" cy="402336"/>
          </a:xfrm>
          <a:prstGeom prst="roundRect">
            <a:avLst/>
          </a:prstGeom>
          <a:solidFill>
            <a:srgbClr val="F7FAFD"/>
          </a:solidFill>
          <a:ln w="8890">
            <a:solidFill>
              <a:srgbClr val="CA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41248" y="5687568"/>
            <a:ext cx="2103120" cy="1005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750" b="1">
                <a:solidFill>
                  <a:srgbClr val="12263F"/>
                </a:solidFill>
                <a:latin typeface="Malgun Gothic"/>
              </a:rPr>
              <a:t>등록 산출물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154680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191256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Feature Master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191256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ID·Name·Level·Owner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773168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809744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Trace Link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809744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Req·SWC·API·Test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391656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428232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BOM Anchor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28232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하위 Artifact 귀속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010144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046720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Lifecycle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046720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Proposed→Approved→Released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628632" y="5632704"/>
            <a:ext cx="1490472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65208" y="5687568"/>
            <a:ext cx="1417319" cy="731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90" b="1">
                <a:solidFill>
                  <a:srgbClr val="005D52"/>
                </a:solidFill>
                <a:latin typeface="Malgun Gothic"/>
              </a:rPr>
              <a:t>Decision Context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665208" y="5806440"/>
            <a:ext cx="1417319" cy="64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rmAutofit/>
          </a:bodyPr>
          <a:lstStyle/>
          <a:p>
            <a:pPr algn="ctr"/>
            <a:r>
              <a:rPr sz="525" b="0">
                <a:solidFill>
                  <a:srgbClr val="59687C"/>
                </a:solidFill>
                <a:latin typeface="Malgun Gothic"/>
              </a:rPr>
              <a:t>Variant·Control·Ops 조건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40080" y="6126480"/>
            <a:ext cx="10927080" cy="329184"/>
          </a:xfrm>
          <a:prstGeom prst="roundRect">
            <a:avLst/>
          </a:prstGeom>
          <a:solidFill>
            <a:srgbClr val="E6F8F4"/>
          </a:solidFill>
          <a:ln w="10160">
            <a:solidFill>
              <a:srgbClr val="94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41248" y="6227064"/>
            <a:ext cx="10515600" cy="82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rmAutofit/>
          </a:bodyPr>
          <a:lstStyle/>
          <a:p>
            <a:pPr algn="ctr"/>
            <a:r>
              <a:rPr sz="740" b="1">
                <a:solidFill>
                  <a:srgbClr val="005D52"/>
                </a:solidFill>
                <a:latin typeface="Malgun Gothic"/>
              </a:rPr>
              <a:t>핵심: Feature는 운영·검증·배포·책임을 독립 관리하는 기준 단위이며, Flag/Parameter/Signal은 Feature가 아니라 Feature BOM의 하위 Artifact이다.</a:t>
            </a:r>
          </a:p>
        </p:txBody>
      </p:sp>
      <p:sp>
        <p:nvSpPr>
          <p:cNvPr id="15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SysML 2.0; OpenFeature Spec; Mutuus Lab Feature Topology 정의.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4048" y="237744"/>
            <a:ext cx="566928" cy="256032"/>
          </a:xfrm>
          <a:prstGeom prst="roundRect">
            <a:avLst/>
          </a:prstGeom>
          <a:solidFill>
            <a:srgbClr val="E7F8F5"/>
          </a:solidFill>
          <a:ln w="8890">
            <a:solidFill>
              <a:srgbClr val="66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3716" bIns="13716"/>
          <a:lstStyle/>
          <a:p>
            <a:pPr algn="ctr"/>
            <a:r>
              <a:rPr sz="580" b="1">
                <a:solidFill>
                  <a:srgbClr val="00806F"/>
                </a:solidFill>
                <a:latin typeface="Noto Sans CJK KR"/>
              </a:rPr>
              <a:t>02-2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0704" y="164592"/>
            <a:ext cx="70866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050" b="1">
                <a:solidFill>
                  <a:srgbClr val="12243B"/>
                </a:solidFill>
                <a:latin typeface="Noto Sans CJK KR"/>
              </a:rPr>
              <a:t>Feature Taxonomy — L0~L5 계층·경계·ID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585216"/>
            <a:ext cx="987552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850" b="0">
                <a:solidFill>
                  <a:srgbClr val="526279"/>
                </a:solidFill>
                <a:latin typeface="Noto Sans CJK KR"/>
              </a:rPr>
              <a:t>Taxonomy는 Feature ID의 의미·소유·검증·배포 경계를 고정하여 Topology Graph의 Parent/Child와 영향도 분석 단위를 일관되게 만든다.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932688"/>
            <a:ext cx="10607040" cy="9144"/>
          </a:xfrm>
          <a:prstGeom prst="rect">
            <a:avLst/>
          </a:prstGeom>
          <a:solidFill>
            <a:srgbClr val="DE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24712"/>
            <a:ext cx="443484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0" b="1">
                <a:solidFill>
                  <a:srgbClr val="12243B"/>
                </a:solidFill>
                <a:latin typeface="Noto Sans CJK KR"/>
              </a:rPr>
              <a:t>Taxonomy Level 설계 — 관리 목적과 연결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44348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620" b="0">
                <a:solidFill>
                  <a:srgbClr val="526279"/>
                </a:solidFill>
                <a:latin typeface="Noto Sans CJK KR"/>
              </a:rPr>
              <a:t>L2를 기준 Feature로 삼고, L0/L1은 분류, L3~L5는 실현·제어·구현 상세로 연결한다.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9344"/>
          <a:ext cx="443483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180"/>
                <a:gridCol w="1596542"/>
                <a:gridCol w="1153058"/>
                <a:gridCol w="1153058"/>
              </a:tblGrid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605" b="1">
                          <a:solidFill>
                            <a:srgbClr val="12243B"/>
                          </a:solidFill>
                          <a:latin typeface="Noto Sans CJK KR"/>
                        </a:rPr>
                        <a:t>Level</a:t>
                      </a:r>
                    </a:p>
                  </a:txBody>
                  <a:tcPr marL="32004" marR="32004" marT="20116" marB="20116">
                    <a:solidFill>
                      <a:srgbClr val="EDF4FC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605" b="1">
                          <a:solidFill>
                            <a:srgbClr val="12243B"/>
                          </a:solidFill>
                          <a:latin typeface="Noto Sans CJK KR"/>
                        </a:rPr>
                        <a:t>관리 목적</a:t>
                      </a:r>
                    </a:p>
                  </a:txBody>
                  <a:tcPr marL="32004" marR="32004" marT="20116" marB="20116">
                    <a:solidFill>
                      <a:srgbClr val="EDF4FC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605" b="1">
                          <a:solidFill>
                            <a:srgbClr val="12243B"/>
                          </a:solidFill>
                          <a:latin typeface="Noto Sans CJK KR"/>
                        </a:rPr>
                        <a:t>Registry Object</a:t>
                      </a:r>
                    </a:p>
                  </a:txBody>
                  <a:tcPr marL="32004" marR="32004" marT="20116" marB="20116">
                    <a:solidFill>
                      <a:srgbClr val="EDF4FC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605" b="1">
                          <a:solidFill>
                            <a:srgbClr val="12243B"/>
                          </a:solidFill>
                          <a:latin typeface="Noto Sans CJK KR"/>
                        </a:rPr>
                        <a:t>필수 연결</a:t>
                      </a:r>
                    </a:p>
                  </a:txBody>
                  <a:tcPr marL="32004" marR="32004" marT="20116" marB="20116">
                    <a:solidFill>
                      <a:srgbClr val="EDF4FC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L0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Domain / Capability
기능 그룹·전략 영역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TaxonomyNode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L1 child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L1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Customer / Business Feature
상품·고객 가치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Feature Cluster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L2 child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FFFFFF"/>
                          </a:solidFill>
                          <a:latin typeface="Noto Sans CJK KR"/>
                        </a:rPr>
                        <a:t>L2</a:t>
                      </a:r>
                    </a:p>
                  </a:txBody>
                  <a:tcPr marL="32004" marR="32004" marT="20116" marB="20116">
                    <a:solidFill>
                      <a:srgbClr val="002A6F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FFFFFF"/>
                          </a:solidFill>
                          <a:latin typeface="Noto Sans CJK KR"/>
                        </a:rPr>
                        <a:t>Vehicle / System Feature
차량 동작·시스템 요구사항 기준</a:t>
                      </a:r>
                    </a:p>
                  </a:txBody>
                  <a:tcPr marL="32004" marR="32004" marT="20116" marB="20116">
                    <a:solidFill>
                      <a:srgbClr val="002A6F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FFFFFF"/>
                          </a:solidFill>
                          <a:latin typeface="Noto Sans CJK KR"/>
                        </a:rPr>
                        <a:t>Feature Master</a:t>
                      </a:r>
                    </a:p>
                  </a:txBody>
                  <a:tcPr marL="32004" marR="32004" marT="20116" marB="20116">
                    <a:solidFill>
                      <a:srgbClr val="002A6F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FFFFFF"/>
                          </a:solidFill>
                          <a:latin typeface="Noto Sans CJK KR"/>
                        </a:rPr>
                        <a:t>Requirement · Variant · Test</a:t>
                      </a:r>
                    </a:p>
                  </a:txBody>
                  <a:tcPr marL="32004" marR="32004" marT="20116" marB="20116">
                    <a:solidFill>
                      <a:srgbClr val="002A6F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L3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Software Feature
SW 구현·협력사 개발 단위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Feature / Supplier Function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SWC · ECU · Supplier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L4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Policy / Flag / Parameter
Feature 제어 수단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ControlPoint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Policy · Safe Default</a:t>
                      </a:r>
                    </a:p>
                  </a:txBody>
                  <a:tcPr marL="32004" marR="32004" marT="20116" marB="20116">
                    <a:solidFill>
                      <a:srgbClr val="FAFCFD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pPr algn="ctr"/>
                      <a:r>
                        <a:rPr sz="555" b="1">
                          <a:solidFill>
                            <a:srgbClr val="002A6F"/>
                          </a:solidFill>
                          <a:latin typeface="Noto Sans CJK KR"/>
                        </a:rPr>
                        <a:t>L5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Code / Signal / Internal Logic
구현 상세·I/F 원소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Implementation Item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555" b="0">
                          <a:solidFill>
                            <a:srgbClr val="526279"/>
                          </a:solidFill>
                          <a:latin typeface="Noto Sans CJK KR"/>
                        </a:rPr>
                        <a:t>API · Signal · DTC</a:t>
                      </a:r>
                    </a:p>
                  </a:txBody>
                  <a:tcPr marL="32004" marR="32004" marT="20116" marB="20116">
                    <a:solidFill>
                      <a:srgbClr val="F4F8FB"/>
                    </a:solidFill>
                    <a:lnL w="6350">
                      <a:solidFill>
                        <a:srgbClr val="D5DFEA"/>
                      </a:solidFill>
                    </a:lnL>
                    <a:lnR w="6350">
                      <a:solidFill>
                        <a:srgbClr val="D5DFEA"/>
                      </a:solidFill>
                    </a:lnR>
                    <a:lnT w="6350">
                      <a:solidFill>
                        <a:srgbClr val="D5DFEA"/>
                      </a:solidFill>
                    </a:lnT>
                    <a:lnB w="6350">
                      <a:solidFill>
                        <a:srgbClr val="D5DF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303520" y="1124712"/>
            <a:ext cx="28803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0" b="1">
                <a:solidFill>
                  <a:srgbClr val="12243B"/>
                </a:solidFill>
                <a:latin typeface="Noto Sans CJK KR"/>
              </a:rPr>
              <a:t>Body Comfort 예시 — Level 경계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53312"/>
            <a:ext cx="28803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620" b="0">
                <a:solidFill>
                  <a:srgbClr val="526279"/>
                </a:solidFill>
                <a:latin typeface="Noto Sans CJK KR"/>
              </a:rPr>
              <a:t>같은 기능을 고객 가치, 차량 동작, SW 구현, 제어 수단으로 분리한다.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21808" y="1627632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4104" y="1737360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4728" y="1700784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Body Comfort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Domain / Capability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2704" y="2029968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21808" y="2121408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4104" y="2231136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24728" y="2194560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Remote Door Lock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Customer / Business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2523744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1808" y="2615184"/>
            <a:ext cx="2834640" cy="521207"/>
          </a:xfrm>
          <a:prstGeom prst="rect">
            <a:avLst/>
          </a:prstGeom>
          <a:solidFill>
            <a:srgbClr val="002A6F"/>
          </a:solidFill>
          <a:ln w="8890">
            <a:solidFill>
              <a:srgbClr val="002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4104" y="2724912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FFFFFF"/>
                </a:solidFill>
                <a:latin typeface="Noto Sans CJK KR"/>
              </a:rPr>
              <a:t>L2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4728" y="2688336"/>
            <a:ext cx="2240280" cy="4297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FFFFFF"/>
                </a:solidFill>
                <a:latin typeface="Noto Sans CJK KR"/>
              </a:rPr>
              <a:t>Remote Door Lock
Command Execution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DCE8FA"/>
                </a:solidFill>
                <a:latin typeface="Noto Sans CJK KR"/>
              </a:rPr>
              <a:t>Vehicle / System Feature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32704" y="3127248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1808" y="3218688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4104" y="3328416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24728" y="3291840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BDC Door Lock
Policy Control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Software 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621024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21808" y="3712464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4104" y="3822192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24728" y="3785616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bdc.door_lock
.remote_enable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Policy / Flag / Parameter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32704" y="4114800"/>
            <a:ext cx="10972" cy="82296"/>
          </a:xfrm>
          <a:prstGeom prst="rect">
            <a:avLst/>
          </a:prstGeom>
          <a:solidFill>
            <a:srgbClr val="CD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21808" y="4206240"/>
            <a:ext cx="28346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rIns="36576" tIns="27432" bIns="2743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04104" y="4315968"/>
            <a:ext cx="292608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30" b="1">
                <a:solidFill>
                  <a:srgbClr val="002A6F"/>
                </a:solidFill>
                <a:latin typeface="Noto Sans CJK KR"/>
              </a:rPr>
              <a:t>L5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24728" y="4279392"/>
            <a:ext cx="22402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120"/>
              </a:spcAft>
            </a:pPr>
            <a:r>
              <a:rPr sz="760" b="1">
                <a:solidFill>
                  <a:srgbClr val="12243B"/>
                </a:solidFill>
                <a:latin typeface="Noto Sans CJK KR"/>
              </a:rPr>
              <a:t>DoorLockState</a:t>
            </a:r>
          </a:p>
          <a:p>
            <a:pPr>
              <a:spcAft>
                <a:spcPts val="120"/>
              </a:spcAft>
            </a:pPr>
            <a:r>
              <a:rPr sz="570" b="0">
                <a:solidFill>
                  <a:srgbClr val="526279"/>
                </a:solidFill>
                <a:latin typeface="Noto Sans CJK KR"/>
              </a:rPr>
              <a:t>Code / Signal /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5193792"/>
            <a:ext cx="2834640" cy="292608"/>
          </a:xfrm>
          <a:prstGeom prst="roundRect">
            <a:avLst/>
          </a:prstGeom>
          <a:solidFill>
            <a:srgbClr val="EDF4FC"/>
          </a:solidFill>
          <a:ln w="8890">
            <a:solidFill>
              <a:srgbClr val="A8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0574" bIns="20574"/>
          <a:lstStyle/>
          <a:p>
            <a:pPr algn="ctr"/>
            <a:r>
              <a:rPr sz="640" b="1">
                <a:solidFill>
                  <a:srgbClr val="002A6F"/>
                </a:solidFill>
                <a:latin typeface="Noto Sans CJK KR"/>
              </a:rPr>
              <a:t>기준 Feature = L2 Vehicle/System Feature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1124712"/>
            <a:ext cx="306324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0" b="1">
                <a:solidFill>
                  <a:srgbClr val="12243B"/>
                </a:solidFill>
                <a:latin typeface="Noto Sans CJK KR"/>
              </a:rPr>
              <a:t>Boundary &amp; Governance Rules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1353312"/>
            <a:ext cx="306324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620" b="0">
                <a:solidFill>
                  <a:srgbClr val="526279"/>
                </a:solidFill>
                <a:latin typeface="Noto Sans CJK KR"/>
              </a:rPr>
              <a:t>Taxonomy는 “무엇을 배포·검증·운영 단위로 볼 것인가”를 통제한다.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1618488"/>
            <a:ext cx="3063240" cy="1133856"/>
          </a:xfrm>
          <a:prstGeom prst="roundRect">
            <a:avLst/>
          </a:prstGeom>
          <a:solidFill>
            <a:srgbClr val="F7F3FC"/>
          </a:solidFill>
          <a:ln w="8890">
            <a:solidFill>
              <a:srgbClr val="C5B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48006" bIns="48006"/>
          <a:lstStyle/>
          <a:p>
            <a:pPr algn="ctr">
              <a:spcAft>
                <a:spcPts val="120"/>
              </a:spcAft>
            </a:pPr>
            <a:r>
              <a:rPr sz="700" b="1">
                <a:solidFill>
                  <a:srgbClr val="12243B"/>
                </a:solidFill>
                <a:latin typeface="Noto Sans CJK KR"/>
              </a:rPr>
              <a:t>Level Boundary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L0/L1: 분류·상품 가치, 직접 배포 대상 아님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L2: 요구사항·검증·Variant·Gate의 기준 단위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L3: 구현·협력사 책임 단위, L2와 trace 필요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L4/L5: Control/Implementation Artifact, Feature 아님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2852928"/>
            <a:ext cx="3063240" cy="896112"/>
          </a:xfrm>
          <a:prstGeom prst="roundRect">
            <a:avLst/>
          </a:prstGeom>
          <a:solidFill>
            <a:srgbClr val="FFF9E8"/>
          </a:solidFill>
          <a:ln w="8890">
            <a:solidFill>
              <a:srgbClr val="E5C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48006" bIns="48006"/>
          <a:lstStyle/>
          <a:p>
            <a:pPr algn="ctr">
              <a:spcAft>
                <a:spcPts val="120"/>
              </a:spcAft>
            </a:pPr>
            <a:r>
              <a:rPr sz="700" b="1">
                <a:solidFill>
                  <a:srgbClr val="12243B"/>
                </a:solidFill>
                <a:latin typeface="Noto Sans CJK KR"/>
              </a:rPr>
              <a:t>Naming / ID Rule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L2 Feature ID: FEAT-{DOMAIN}-{NNN}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L3 SW Feature: FEAT-{DOMAIN}-{SW}-{NNN}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L4 Control Point: CP-{FEATURE}-{TYPE}</a:t>
            </a:r>
          </a:p>
          <a:p>
            <a:pPr>
              <a:spcAft>
                <a:spcPts val="120"/>
              </a:spcAft>
            </a:pPr>
            <a:r>
              <a:rPr sz="580" b="0">
                <a:solidFill>
                  <a:srgbClr val="12243B"/>
                </a:solidFill>
                <a:latin typeface="Noto Sans CJK KR"/>
              </a:rPr>
              <a:t>• Display Name은 고객/차량 관점, Internal Alias는 조직별 명칭 매핑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3858768"/>
            <a:ext cx="3063240" cy="932688"/>
          </a:xfrm>
          <a:prstGeom prst="roundRect">
            <a:avLst/>
          </a:prstGeom>
          <a:solidFill>
            <a:srgbClr val="E7F8F5"/>
          </a:solidFill>
          <a:ln w="8890">
            <a:solidFill>
              <a:srgbClr val="6F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48006" bIns="48006"/>
          <a:lstStyle/>
          <a:p>
            <a:pPr algn="ctr">
              <a:spcAft>
                <a:spcPts val="120"/>
              </a:spcAft>
            </a:pPr>
            <a:r>
              <a:rPr sz="700" b="1">
                <a:solidFill>
                  <a:srgbClr val="12243B"/>
                </a:solidFill>
                <a:latin typeface="Noto Sans CJK KR"/>
              </a:rPr>
              <a:t>Consistency Rules</a:t>
            </a:r>
          </a:p>
          <a:p>
            <a:pPr>
              <a:spcAft>
                <a:spcPts val="120"/>
              </a:spcAft>
            </a:pPr>
            <a:r>
              <a:rPr sz="560" b="0">
                <a:solidFill>
                  <a:srgbClr val="12243B"/>
                </a:solidFill>
                <a:latin typeface="Noto Sans CJK KR"/>
              </a:rPr>
              <a:t>T-001: L2 Feature는 Parent L1과 최소 1개 Requirement를 가져야 함</a:t>
            </a:r>
          </a:p>
          <a:p>
            <a:pPr>
              <a:spcAft>
                <a:spcPts val="120"/>
              </a:spcAft>
            </a:pPr>
            <a:r>
              <a:rPr sz="560" b="0">
                <a:solidFill>
                  <a:srgbClr val="12243B"/>
                </a:solidFill>
                <a:latin typeface="Noto Sans CJK KR"/>
              </a:rPr>
              <a:t>T-002: L4 Control Point는 반드시 L2/L3 Feature에 귀속되어야 함</a:t>
            </a:r>
          </a:p>
          <a:p>
            <a:pPr>
              <a:spcAft>
                <a:spcPts val="120"/>
              </a:spcAft>
            </a:pPr>
            <a:r>
              <a:rPr sz="560" b="0">
                <a:solidFill>
                  <a:srgbClr val="12243B"/>
                </a:solidFill>
                <a:latin typeface="Noto Sans CJK KR"/>
              </a:rPr>
              <a:t>T-003: L3 Feature는 SWC/ECU/Supplier 중 1개 이상과 연결</a:t>
            </a:r>
          </a:p>
          <a:p>
            <a:pPr>
              <a:spcAft>
                <a:spcPts val="120"/>
              </a:spcAft>
            </a:pPr>
            <a:r>
              <a:rPr sz="560" b="0">
                <a:solidFill>
                  <a:srgbClr val="12243B"/>
                </a:solidFill>
                <a:latin typeface="Noto Sans CJK KR"/>
              </a:rPr>
              <a:t>T-004: L0/L1은 DeploymentUnit으로 직접 연결 금지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791456"/>
            <a:ext cx="4434840" cy="758952"/>
          </a:xfrm>
          <a:prstGeom prst="roundRect">
            <a:avLst/>
          </a:prstGeom>
          <a:solidFill>
            <a:srgbClr val="F4F7FA"/>
          </a:solidFill>
          <a:ln w="8890">
            <a:solidFill>
              <a:srgbClr val="CD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4290" bIns="34290"/>
          <a:lstStyle/>
          <a:p>
            <a:pPr algn="ctr"/>
            <a:r>
              <a:rPr sz="640" b="1">
                <a:solidFill>
                  <a:srgbClr val="12243B"/>
                </a:solidFill>
                <a:latin typeface="Noto Sans CJK KR"/>
              </a:rPr>
              <a:t>Taxonomy Registration Output
FeatureLevel, ParentFeatureID, FeatureType, DisplayName, InternalAlias, OwnerOrg, Lifecycle, LevelRuleStatus, TraceabilityRoot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0" y="5550408"/>
            <a:ext cx="6172200" cy="329184"/>
          </a:xfrm>
          <a:prstGeom prst="roundRect">
            <a:avLst/>
          </a:prstGeom>
          <a:solidFill>
            <a:srgbClr val="E7F8F5"/>
          </a:solidFill>
          <a:ln w="8890">
            <a:solidFill>
              <a:srgbClr val="6F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580" b="1">
                <a:solidFill>
                  <a:srgbClr val="00806F"/>
                </a:solidFill>
                <a:latin typeface="Noto Sans CJK KR"/>
              </a:rPr>
              <a:t>핵심: L2를 기준 Feature로 고정하면, 요구사항·Variant·Policy·검증·배포·운영 증적을 하나의 Feature ID로 일관되게 연결할 수 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" y="6656832"/>
            <a:ext cx="11338560" cy="1280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420" b="0">
                <a:solidFill>
                  <a:srgbClr val="696F78"/>
                </a:solidFill>
                <a:latin typeface="Noto Sans CJK KR"/>
              </a:rPr>
              <a:t>출처/근거/참조: Kang et al., FODA Feature Modeling (1990); ISO/IEC/IEEE 29148:2018; OMG SysML 2.0; OMG ReqIF 1.2; Mutuus Lab Feature Topology Taxonomy.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11480" y="146304"/>
            <a:ext cx="384048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00806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09728"/>
            <a:ext cx="8961120" cy="43891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Feature BOM 상세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804672"/>
            <a:ext cx="45720" cy="402336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68096"/>
            <a:ext cx="10927080" cy="5029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320" b="0">
                <a:solidFill>
                  <a:srgbClr val="002060"/>
                </a:solidFill>
                <a:latin typeface="Arial"/>
              </a:rPr>
              <a:t>Feature BOM은 Feature ID를 기준으로 11개 Artifact 영역을 수집·정규화·Baseline화하여 Topology Graph와 Decision Engine의 입력으로 사용하는 기준정보 모델이다.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17320"/>
            <a:ext cx="3429000" cy="4087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17320"/>
            <a:ext cx="3429000" cy="301752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467612"/>
            <a:ext cx="3209544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1. BOM 11개 영역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755648"/>
            <a:ext cx="3209544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Arial"/>
              </a:rPr>
              <a:t>Feature 하나를 실현하는 구성요소 목록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417320"/>
            <a:ext cx="3429000" cy="4087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417320"/>
            <a:ext cx="3429000" cy="301752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8" y="1467612"/>
            <a:ext cx="3209544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2. BOM Item 공통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1755648"/>
            <a:ext cx="3209544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Arial"/>
              </a:rPr>
              <a:t>모든 영역은 동일한 관리 속성을 가진다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417320"/>
            <a:ext cx="3429000" cy="4087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1417320"/>
            <a:ext cx="3429000" cy="301752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7" y="1467612"/>
            <a:ext cx="3209544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3. FEAT-BDC-001 적용 예시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7" y="1755648"/>
            <a:ext cx="3209544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0">
                <a:solidFill>
                  <a:srgbClr val="616161"/>
                </a:solidFill>
                <a:latin typeface="Arial"/>
              </a:rPr>
              <a:t>Feature ID 중심으로 artifact를 연결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075688"/>
            <a:ext cx="3154680" cy="640080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2112264"/>
            <a:ext cx="300837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40" b="1">
                <a:solidFill>
                  <a:srgbClr val="008060"/>
                </a:solidFill>
                <a:latin typeface="Arial"/>
              </a:rPr>
              <a:t>Feature 기준정보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86000"/>
            <a:ext cx="3008376" cy="41147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40" b="0">
                <a:solidFill>
                  <a:srgbClr val="262626"/>
                </a:solidFill>
                <a:latin typeface="Arial"/>
              </a:rPr>
              <a:t>Feature Master: ID · Name · Level · Owner · Lifecycle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816352"/>
            <a:ext cx="3154680" cy="640080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852928"/>
            <a:ext cx="300837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40" b="1">
                <a:solidFill>
                  <a:srgbClr val="008060"/>
                </a:solidFill>
                <a:latin typeface="Arial"/>
              </a:rPr>
              <a:t>Engineering Artifact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026664"/>
            <a:ext cx="3008376" cy="41147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40" b="0">
                <a:solidFill>
                  <a:srgbClr val="262626"/>
                </a:solidFill>
                <a:latin typeface="Arial"/>
              </a:rPr>
              <a:t>Requirement · Architecture · Interface
(System/SW/Safety/Security · SWC/ECU/API/Signal/DTC)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557016"/>
            <a:ext cx="3154680" cy="640080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593592"/>
            <a:ext cx="300837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40" b="1">
                <a:solidFill>
                  <a:srgbClr val="008060"/>
                </a:solidFill>
                <a:latin typeface="Arial"/>
              </a:rPr>
              <a:t>Applicability &amp;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767328"/>
            <a:ext cx="3008376" cy="41147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40" b="0">
                <a:solidFill>
                  <a:srgbClr val="262626"/>
                </a:solidFill>
                <a:latin typeface="Arial"/>
              </a:rPr>
              <a:t>Variant · Control · Deployment
(차종/지역/HW/SW · Policy/Flag · Binary/Policy Package)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297680"/>
            <a:ext cx="3154680" cy="804672"/>
          </a:xfrm>
          <a:prstGeom prst="roundRect">
            <a:avLst/>
          </a:prstGeom>
          <a:solidFill>
            <a:srgbClr val="F8F9FB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334256"/>
            <a:ext cx="3008376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40" b="1">
                <a:solidFill>
                  <a:srgbClr val="008060"/>
                </a:solidFill>
                <a:latin typeface="Arial"/>
              </a:rPr>
              <a:t>Assurance &amp;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507992"/>
            <a:ext cx="3008376" cy="57607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40" b="0">
                <a:solidFill>
                  <a:srgbClr val="262626"/>
                </a:solidFill>
                <a:latin typeface="Arial"/>
              </a:rPr>
              <a:t>Verification · Supplier · Safety/Security · Operation
(Test Evidence · Supplier Function · ASIL/Cybersec · Telemetry/Audit)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1984248"/>
            <a:ext cx="3154680" cy="29260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910" b="1">
                <a:solidFill>
                  <a:srgbClr val="002060"/>
                </a:solidFill>
                <a:latin typeface="Arial"/>
              </a:rPr>
              <a:t>BOM Item = Source Artifact Pointer + Relationship Metadata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2368296"/>
            <a:ext cx="3154680" cy="384048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9392" y="2414015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2" y="2404872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feature_id, bom_item_id, domain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2770632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9392" y="2816351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5232" y="2807208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artifact_type, artifact_id, display_name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3172968"/>
            <a:ext cx="3154680" cy="384048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3218687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Ownership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5232" y="3209544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source_system, owner_team, supplier_id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3575303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9392" y="3621023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Relation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5232" y="3611879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relationship_type, direction, criticality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3977639"/>
            <a:ext cx="3154680" cy="384048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79392" y="4023359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Scope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5232" y="4014215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variant_scope, lifecycle_status, baseline_ver.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379976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9392" y="4425696"/>
            <a:ext cx="100584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5232" y="4416552"/>
            <a:ext cx="201168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evidence_uri, verification_status, last_sync_at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6240" y="4873752"/>
            <a:ext cx="3154680" cy="795528"/>
          </a:xfrm>
          <a:prstGeom prst="roundRect">
            <a:avLst/>
          </a:prstGeom>
          <a:solidFill>
            <a:srgbClr val="EBF3FA"/>
          </a:solidFill>
          <a:ln w="9525"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43400" y="4946904"/>
            <a:ext cx="288036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9" b="1">
                <a:solidFill>
                  <a:srgbClr val="002060"/>
                </a:solidFill>
                <a:latin typeface="Arial"/>
              </a:rPr>
              <a:t>설계 원칙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43400" y="5175504"/>
            <a:ext cx="288036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Arial"/>
              </a:rPr>
              <a:t>BOM은 원천 데이터를 복제하지 않고, ALM/PLM/API/Test/Telemetry 원천의 ID와 링크를 보유한다. 변경 시 ChangeSet과 Baseline Diff를 생성한다.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1947672"/>
            <a:ext cx="3154680" cy="356616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36992" y="199339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Feature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42832" y="198424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FEAT-BDC-001 · BDC Policy Control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2313432"/>
            <a:ext cx="31546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6992" y="235915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Req.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42832" y="235000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SYS-BODY-001 · SWE-BDC-010 · SEC-POLICY-004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2679191"/>
            <a:ext cx="3154680" cy="356616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36992" y="272491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Arch.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42832" y="271576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ECU-BDC · ECU-CCU · SWC-BDC-ADAPTER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3044951"/>
            <a:ext cx="31546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36992" y="309067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I/F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42832" y="3081527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API-BDC-POLICY · SIG-DOOR-LOCK · DTC-BDC-FAIL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63840" y="3410711"/>
            <a:ext cx="3154680" cy="356616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36992" y="345643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Variant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42832" y="3447287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KR/EU · MY2027+ · Premium · Gen3 · SW≥3.2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63840" y="3776472"/>
            <a:ext cx="31546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36992" y="3822191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Control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42832" y="381304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POLICY-BDC-ENABLE · KILL-SWITCH · Safe:disabled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4142232"/>
            <a:ext cx="3154680" cy="356616"/>
          </a:xfrm>
          <a:prstGeom prst="rect">
            <a:avLst/>
          </a:prstGeom>
          <a:solidFill>
            <a:srgbClr val="F8F9FB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36992" y="4187952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Verify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42832" y="417880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HIL-BDC-001 · OTA-RB-002 · TEL-BDC-001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63840" y="4507992"/>
            <a:ext cx="315468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36992" y="4553712"/>
            <a:ext cx="100584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Ops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42832" y="4544568"/>
            <a:ext cx="2011680" cy="28346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30" b="0">
                <a:solidFill>
                  <a:srgbClr val="262626"/>
                </a:solidFill>
                <a:latin typeface="Arial"/>
              </a:rPr>
              <a:t>SUP-BDC-A · TEL-BDC-001 · Audit Log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863840" y="4946904"/>
            <a:ext cx="3154680" cy="475488"/>
          </a:xfrm>
          <a:prstGeom prst="roundRect">
            <a:avLst/>
          </a:prstGeom>
          <a:solidFill>
            <a:srgbClr val="F8FBF6"/>
          </a:solidFill>
          <a:ln w="9525">
            <a:solidFill>
              <a:srgbClr val="D6E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01000" y="5001768"/>
            <a:ext cx="2880360" cy="38404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Arial"/>
              </a:rPr>
              <a:t>Output: 영향도 분석 · 검증범위 도출 · Policy-only/Binary OTA 판단 · 협력사 책임 추적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5596128"/>
            <a:ext cx="210312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50" b="1">
                <a:solidFill>
                  <a:srgbClr val="002060"/>
                </a:solidFill>
                <a:latin typeface="Arial"/>
              </a:rPr>
              <a:t>BOM 품질 규칙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5815584"/>
            <a:ext cx="2697480" cy="493776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5888736"/>
            <a:ext cx="320040" cy="4023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" y="5861304"/>
            <a:ext cx="21488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rial"/>
              </a:rPr>
              <a:t>L2 Feature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" y="6044184"/>
            <a:ext cx="214884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50" b="0">
                <a:solidFill>
                  <a:srgbClr val="E6ECF9"/>
                </a:solidFill>
                <a:latin typeface="Arial"/>
              </a:rPr>
              <a:t>최소 1개 Requirement와 Owner 필수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46120" y="5815584"/>
            <a:ext cx="2697480" cy="493776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37560" y="5888736"/>
            <a:ext cx="320040" cy="4023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03320" y="5861304"/>
            <a:ext cx="21488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rial"/>
              </a:rPr>
              <a:t>Runtime Control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03320" y="6044184"/>
            <a:ext cx="214884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50" b="0">
                <a:solidFill>
                  <a:srgbClr val="E6ECF9"/>
                </a:solidFill>
                <a:latin typeface="Arial"/>
              </a:rPr>
              <a:t>Safe Default와 Rollback Plan 필수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80760" y="5815584"/>
            <a:ext cx="2697480" cy="493776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72200" y="5888736"/>
            <a:ext cx="320040" cy="4023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37960" y="5861304"/>
            <a:ext cx="21488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rial"/>
              </a:rPr>
              <a:t>Policy-only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37960" y="6044184"/>
            <a:ext cx="214884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50" b="0">
                <a:solidFill>
                  <a:srgbClr val="E6ECF9"/>
                </a:solidFill>
                <a:latin typeface="Arial"/>
              </a:rPr>
              <a:t>SWC/API 변경 없음 + 검증 증적 필요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15400" y="5815584"/>
            <a:ext cx="2697480" cy="493776"/>
          </a:xfrm>
          <a:prstGeom prst="roundRect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06840" y="5888736"/>
            <a:ext cx="320040" cy="40233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72600" y="5861304"/>
            <a:ext cx="2148840" cy="16459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rial"/>
              </a:rPr>
              <a:t>Released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72600" y="6044184"/>
            <a:ext cx="2148840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50" b="0">
                <a:solidFill>
                  <a:srgbClr val="E6ECF9"/>
                </a:solidFill>
                <a:latin typeface="Arial"/>
              </a:rPr>
              <a:t>Test Evidence와 Telemetry/Audit 연결 필수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1168" y="6629400"/>
            <a:ext cx="1088136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530" b="0">
                <a:solidFill>
                  <a:srgbClr val="6E6E6E"/>
                </a:solidFill>
                <a:latin typeface="Arial"/>
              </a:rPr>
              <a:t>출처/근거/참조: ISO/IEC/IEEE 29148:2018(requirement information items); OMG ReqIF 1.2(requirement exchange); OMG SysML 2.0(requirement/verification relationships); Mutuus Lab Feature BOM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29184" y="146304"/>
            <a:ext cx="566928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008060"/>
                </a:solidFill>
                <a:latin typeface="Arial"/>
              </a:rPr>
              <a:t>02-4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00584"/>
            <a:ext cx="9966960" cy="4572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Feature Modeling — Relationship Edge 상세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804672"/>
            <a:ext cx="45720" cy="420624"/>
          </a:xfrm>
          <a:prstGeom prst="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68096"/>
            <a:ext cx="10881360" cy="5486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60" b="0">
                <a:solidFill>
                  <a:srgbClr val="002060"/>
                </a:solidFill>
                <a:latin typeface="Arial"/>
              </a:rPr>
              <a:t>Feature Modeling은 Feature 간 논리 관계를 Typed Edge로 정의하여 Topology Graph 탐색, 검증범위 도출, 배포 판단, 복구 경로 분석이 가능하도록 만든다.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417320"/>
            <a:ext cx="3429000" cy="40416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17320"/>
            <a:ext cx="3429000" cy="310896"/>
          </a:xfrm>
          <a:prstGeom prst="rect">
            <a:avLst/>
          </a:prstGeom>
          <a:solidFill>
            <a:srgbClr val="1A5A78"/>
          </a:solidFill>
          <a:ln w="8255">
            <a:solidFill>
              <a:srgbClr val="1A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467612"/>
            <a:ext cx="3209544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rial"/>
              </a:rPr>
              <a:t>1. Relationship Type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764792"/>
            <a:ext cx="320954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60" b="0">
                <a:solidFill>
                  <a:srgbClr val="5C6069"/>
                </a:solidFill>
                <a:latin typeface="Arial"/>
              </a:rPr>
              <a:t>Feature Model 관계를 SDV 운영 관계로 확장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417320"/>
            <a:ext cx="3429000" cy="40416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417320"/>
            <a:ext cx="3429000" cy="310896"/>
          </a:xfrm>
          <a:prstGeom prst="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8" y="1467612"/>
            <a:ext cx="3209544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rial"/>
              </a:rPr>
              <a:t>2. Edge 공통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1764792"/>
            <a:ext cx="320954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60" b="0">
                <a:solidFill>
                  <a:srgbClr val="5C6069"/>
                </a:solidFill>
                <a:latin typeface="Arial"/>
              </a:rPr>
              <a:t>분석 가능한 관계로 만들기 위한 필수 속성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417320"/>
            <a:ext cx="3429000" cy="4041648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3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1417320"/>
            <a:ext cx="3429000" cy="310896"/>
          </a:xfrm>
          <a:prstGeom prst="rect">
            <a:avLst/>
          </a:prstGeom>
          <a:solidFill>
            <a:srgbClr val="002D6E"/>
          </a:solidFill>
          <a:ln w="8255">
            <a:solidFill>
              <a:srgbClr val="00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7" y="1467612"/>
            <a:ext cx="3209544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rial"/>
              </a:rPr>
              <a:t>3. FEAT-BDC-001 적용 예시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7" y="1764792"/>
            <a:ext cx="320954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60" b="0">
                <a:solidFill>
                  <a:srgbClr val="5C6069"/>
                </a:solidFill>
                <a:latin typeface="Arial"/>
              </a:rPr>
              <a:t>관계 Edge가 의사결정 입력으로 사용되는 방식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" y="2057400"/>
            <a:ext cx="3209544" cy="274320"/>
          </a:xfrm>
          <a:prstGeom prst="rect">
            <a:avLst/>
          </a:prstGeom>
          <a:solidFill>
            <a:srgbClr val="00206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2089404"/>
            <a:ext cx="480217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0" b="1">
                <a:solidFill>
                  <a:srgbClr val="FFFFFF"/>
                </a:solidFill>
                <a:latin typeface="Arial"/>
              </a:rPr>
              <a:t>구분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4577" y="2057400"/>
            <a:ext cx="4572" cy="274320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1153" y="2089404"/>
            <a:ext cx="775348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0" b="1">
                <a:solidFill>
                  <a:srgbClr val="FFFFFF"/>
                </a:solidFill>
                <a:latin typeface="Arial"/>
              </a:rPr>
              <a:t>Edge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3077" y="2057400"/>
            <a:ext cx="4572" cy="274320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59653" y="2089404"/>
            <a:ext cx="1734522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70" b="1">
                <a:solidFill>
                  <a:srgbClr val="FFFFFF"/>
                </a:solidFill>
                <a:latin typeface="Arial"/>
              </a:rPr>
              <a:t>설계 의미 / 검증 목적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" y="2340864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237286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구조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4577" y="234086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1153" y="237286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parent_of / child_of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3077" y="234086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59653" y="237286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상·하위 Feature 분해, L0~L5 계층 정합성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" y="2660904"/>
            <a:ext cx="3209544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269290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4577" y="266090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1153" y="269290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composed_of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3077" y="266090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59653" y="269290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복합 Feature를 하위 기능 단위로 구성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" y="2980944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" y="301294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의존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4577" y="298094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1153" y="301294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requires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3077" y="298094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59653" y="301294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활성화 선행조건, 종속 Feature 동반 검증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1208" y="3300984"/>
            <a:ext cx="3209544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" y="333298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충돌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4577" y="330098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1153" y="333298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excludes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23077" y="330098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59653" y="333298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동시 활성 금지, Variant/Policy 충돌 차단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" y="3621024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65302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우선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4577" y="362102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1153" y="365302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overrides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3077" y="362102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59653" y="365302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Kill-switch/긴급정책 등 상위 우선순위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8" y="3941064"/>
            <a:ext cx="3209544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" y="397306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복구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74577" y="394106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1153" y="397306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fallback_to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23077" y="394106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59653" y="397306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정책 실패 시 이전 안정 상태 복귀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" y="4261104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7784" y="429310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저하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4577" y="426110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1153" y="429310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degrades_to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23077" y="426110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959653" y="429310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장애 시 저하 기능 또는 safe behavior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1208" y="4581144"/>
            <a:ext cx="3209544" cy="310896"/>
          </a:xfrm>
          <a:prstGeom prst="rect">
            <a:avLst/>
          </a:prstGeom>
          <a:solidFill>
            <a:srgbClr val="FFFFFF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7784" y="461314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전환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4577" y="458114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1153" y="461314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replaces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23077" y="4581144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959653" y="461314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Legacy Feature 대체 및 migration trace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8" y="4901183"/>
            <a:ext cx="3209544" cy="310896"/>
          </a:xfrm>
          <a:prstGeom prst="rect">
            <a:avLst/>
          </a:prstGeom>
          <a:solidFill>
            <a:srgbClr val="F8F9FB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7784" y="4933188"/>
            <a:ext cx="480217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정리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74577" y="4901183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1153" y="4933188"/>
            <a:ext cx="775348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duplicates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23077" y="4901183"/>
            <a:ext cx="4572" cy="310896"/>
          </a:xfrm>
          <a:prstGeom prst="rect">
            <a:avLst/>
          </a:prstGeom>
          <a:solidFill>
            <a:srgbClr val="E4E9F0"/>
          </a:solidFill>
          <a:ln w="8255"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59653" y="4933188"/>
            <a:ext cx="1734522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유사/중복 Feature 후보 탐지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40" y="1984248"/>
            <a:ext cx="3154680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850" b="1">
                <a:solidFill>
                  <a:srgbClr val="002060"/>
                </a:solidFill>
                <a:latin typeface="Arial"/>
              </a:rPr>
              <a:t>Edge = Source + Target + Relationship Semantics + Condition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06240" y="2331720"/>
            <a:ext cx="3154680" cy="365760"/>
          </a:xfrm>
          <a:prstGeom prst="rect">
            <a:avLst/>
          </a:prstGeom>
          <a:solidFill>
            <a:srgbClr val="F8F9FB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61104" y="2368296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Identity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48072" y="2363724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edge_id, source_id, target_id, relationship_type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06240" y="2715768"/>
            <a:ext cx="3154680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61104" y="2752344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Semantics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148072" y="2747772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direction, cardinality, criticality, relation_group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0" y="3099815"/>
            <a:ext cx="3154680" cy="365760"/>
          </a:xfrm>
          <a:prstGeom prst="rect">
            <a:avLst/>
          </a:prstGeom>
          <a:solidFill>
            <a:srgbClr val="F8F9FB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61104" y="3136391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Condition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48072" y="3131820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variant_scope, policy_condition, lifecycle_status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06240" y="3483863"/>
            <a:ext cx="3154680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261104" y="3520439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Governance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48072" y="3515868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owner_team, source_system, approval_state, baseline_ver.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06240" y="3867911"/>
            <a:ext cx="3154680" cy="365760"/>
          </a:xfrm>
          <a:prstGeom prst="rect">
            <a:avLst/>
          </a:prstGeom>
          <a:solidFill>
            <a:srgbClr val="F8F9FB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61104" y="3904487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Analysis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48072" y="3899915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impact_weight, gate_rule, evidence_link, confidence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06240" y="4251959"/>
            <a:ext cx="3154680" cy="365760"/>
          </a:xfrm>
          <a:prstGeom prst="rect">
            <a:avLst/>
          </a:prstGeom>
          <a:solidFill>
            <a:srgbClr val="FFFFFF"/>
          </a:solidFill>
          <a:ln w="825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61104" y="4288536"/>
            <a:ext cx="850392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80" b="1">
                <a:solidFill>
                  <a:srgbClr val="002060"/>
                </a:solidFill>
                <a:latin typeface="Arial"/>
              </a:rPr>
              <a:t>Runtime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48072" y="4283964"/>
            <a:ext cx="2148840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660" b="0">
                <a:solidFill>
                  <a:srgbClr val="262626"/>
                </a:solidFill>
                <a:latin typeface="Arial"/>
              </a:rPr>
              <a:t>priority, safe_default, fallback_target, timeout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206240" y="4727447"/>
            <a:ext cx="3154680" cy="621792"/>
          </a:xfrm>
          <a:prstGeom prst="roundRect">
            <a:avLst/>
          </a:prstGeom>
          <a:solidFill>
            <a:srgbClr val="EBF3FA"/>
          </a:solidFill>
          <a:ln w="8255">
            <a:solidFill>
              <a:srgbClr val="C5D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334256" y="4791455"/>
            <a:ext cx="2898648" cy="16459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780" b="1">
                <a:solidFill>
                  <a:srgbClr val="002060"/>
                </a:solidFill>
                <a:latin typeface="Arial"/>
              </a:rPr>
              <a:t>설계 원칙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34256" y="4983479"/>
            <a:ext cx="2898648" cy="28346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rial"/>
              </a:rPr>
              <a:t>관계는 자유 텍스트가 아니라 타입·방향·조건·상태를 가진 데이터여야 한다. 그래야 Graph Traversal, Gate Check, Change Impact가 자동화된다.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891271" y="1965960"/>
            <a:ext cx="3099816" cy="475488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01000" y="2057400"/>
            <a:ext cx="2880360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CENTER NODE: FEAT-BDC-001 / BDC Policy Control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863840" y="2569464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936992" y="2615184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24544" y="2615184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002060"/>
                </a:solidFill>
                <a:latin typeface="Arial"/>
              </a:rPr>
              <a:t>─ parent_of 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912096" y="2615184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FEAT-BODY-001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01000" y="2834640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상위 Body Comfort Feature 영향 범위에 포함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863840" y="3081528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936992" y="3127248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24544" y="3127248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84241E"/>
                </a:solidFill>
                <a:latin typeface="Arial"/>
              </a:rPr>
              <a:t>─ requires 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12096" y="3127248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FEAT-RUNTIME-001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01000" y="3346704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Policy Agent 검증 없이는 Release Gate 통과 불가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863840" y="3593592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936992" y="3639312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24544" y="3639312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84241E"/>
                </a:solidFill>
                <a:latin typeface="Arial"/>
              </a:rPr>
              <a:t>─ excludes →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12096" y="3639312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FEAT-MANUAL-001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01000" y="3858768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Manual Override와 동시 활성 차단 필요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863840" y="4105656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936992" y="4151376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24544" y="4151376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008060"/>
                </a:solidFill>
                <a:latin typeface="Arial"/>
              </a:rPr>
              <a:t>─ fallback_to →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912096" y="4151376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POLICY-BDC-PREV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001000" y="4370832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Policy 실패 시 Previous Stable로 복귀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863840" y="4617720"/>
            <a:ext cx="3154680" cy="457200"/>
          </a:xfrm>
          <a:prstGeom prst="roundRect">
            <a:avLst/>
          </a:prstGeom>
          <a:solidFill>
            <a:srgbClr val="F8F9FB"/>
          </a:solidFill>
          <a:ln w="825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936992" y="4663440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24544" y="4663440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40" b="1">
                <a:solidFill>
                  <a:srgbClr val="4B245D"/>
                </a:solidFill>
                <a:latin typeface="Arial"/>
              </a:rPr>
              <a:t>─ replaces →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912096" y="4663440"/>
            <a:ext cx="960120" cy="1645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660" b="1">
                <a:solidFill>
                  <a:srgbClr val="002060"/>
                </a:solidFill>
                <a:latin typeface="Arial"/>
              </a:rPr>
              <a:t>FEAT-BDC-002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01000" y="4882896"/>
            <a:ext cx="2880360" cy="17373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40" b="0">
                <a:solidFill>
                  <a:srgbClr val="262626"/>
                </a:solidFill>
                <a:latin typeface="Arial"/>
              </a:rPr>
              <a:t>Legacy Logic 전환 범위와 잔여 Gap 추적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11480" y="5559552"/>
            <a:ext cx="2194560" cy="201168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40" b="1">
                <a:solidFill>
                  <a:srgbClr val="002060"/>
                </a:solidFill>
                <a:latin typeface="Arial"/>
              </a:rPr>
              <a:t>Edge 품질 규칙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11480" y="5779008"/>
            <a:ext cx="2697480" cy="502920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75488" y="5833872"/>
            <a:ext cx="301752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2960" y="5824728"/>
            <a:ext cx="2221992" cy="1554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rial"/>
              </a:rPr>
              <a:t>No Cycle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2960" y="5998464"/>
            <a:ext cx="2221992" cy="25603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" b="0">
                <a:solidFill>
                  <a:srgbClr val="E6ECF9"/>
                </a:solidFill>
                <a:latin typeface="Arial"/>
              </a:rPr>
              <a:t>parent_of / requires 관계는 순환 구조를 금지한다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246120" y="5779008"/>
            <a:ext cx="2697480" cy="502920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310127" y="5833872"/>
            <a:ext cx="301752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657600" y="5824728"/>
            <a:ext cx="2221992" cy="1554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rial"/>
              </a:rPr>
              <a:t>Dependency Gate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57600" y="5998464"/>
            <a:ext cx="2221992" cy="25603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" b="0">
                <a:solidFill>
                  <a:srgbClr val="E6ECF9"/>
                </a:solidFill>
                <a:latin typeface="Arial"/>
              </a:rPr>
              <a:t>requires 대상은 Approved/Released 상태여야 한다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080760" y="5779008"/>
            <a:ext cx="2697480" cy="502920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144768" y="5833872"/>
            <a:ext cx="301752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92240" y="5824728"/>
            <a:ext cx="2221992" cy="1554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rial"/>
              </a:rPr>
              <a:t>Conflict Gate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92240" y="5998464"/>
            <a:ext cx="2221992" cy="25603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" b="0">
                <a:solidFill>
                  <a:srgbClr val="E6ECF9"/>
                </a:solidFill>
                <a:latin typeface="Arial"/>
              </a:rPr>
              <a:t>excludes/overrides 충돌 시 배포를 차단한다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915400" y="5779008"/>
            <a:ext cx="2697480" cy="502920"/>
          </a:xfrm>
          <a:prstGeom prst="roundRect">
            <a:avLst/>
          </a:prstGeom>
          <a:solidFill>
            <a:srgbClr val="002060"/>
          </a:solidFill>
          <a:ln w="8255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979408" y="5833872"/>
            <a:ext cx="301752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326880" y="5824728"/>
            <a:ext cx="2221992" cy="1554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770" b="1">
                <a:solidFill>
                  <a:srgbClr val="FFFFFF"/>
                </a:solidFill>
                <a:latin typeface="Arial"/>
              </a:rPr>
              <a:t>Recovery Gate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326880" y="5998464"/>
            <a:ext cx="2221992" cy="25603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660" b="0">
                <a:solidFill>
                  <a:srgbClr val="E6ECF9"/>
                </a:solidFill>
                <a:latin typeface="Arial"/>
              </a:rPr>
              <a:t>Runtime Control은 fallback_to 또는 Safe Default가 필요하다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01168" y="6620256"/>
            <a:ext cx="10881360" cy="13716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520" b="0">
                <a:solidFill>
                  <a:srgbClr val="6E6E6E"/>
                </a:solidFill>
                <a:latin typeface="Arial"/>
              </a:rPr>
              <a:t>출처/근거/참조: FODA/Feature Model(Kang et al., 1990); OMG SysML 2.0(requirement/model relationships); ISO/IEC/IEEE 29148:2018(traceability &amp; requirement information items); Mutuus Lab Feature Topology edge taxonomy.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333333"/>
                </a:solidFill>
              </a:rPr>
              <a:t>Feature Topology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594360" y="731520"/>
            <a:ext cx="10332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Malgun Gothic"/>
              </a:rPr>
              <a:t>Feature ID를 기준으로 BOM 구성요소와 Relationship Edge를 연결해 변경 의사결정을 계산하는 그래프 모델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94360" y="1115568"/>
            <a:ext cx="6400800" cy="4114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4672" y="1197864"/>
            <a:ext cx="59436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Malgun Gothic"/>
              </a:rPr>
              <a:t>Feature Topology = Feature BOM + Feature Modeling + Decision Context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4360" y="1627632"/>
            <a:ext cx="6309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algun Gothic"/>
              </a:rPr>
              <a:t>Feature 중심 관계 그래프</a:t>
            </a:r>
          </a:p>
        </p:txBody>
      </p:sp>
      <p:cxnSp>
        <p:nvCxnSpPr>
          <p:cNvPr id="90" name="Connector 89"/>
          <p:cNvCxnSpPr/>
          <p:nvPr/>
        </p:nvCxnSpPr>
        <p:spPr>
          <a:xfrm flipH="1" flipV="1">
            <a:off x="1371600" y="2304288"/>
            <a:ext cx="2468880" cy="1179576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3017520" y="2304288"/>
            <a:ext cx="822960" cy="1179576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840480" y="2304288"/>
            <a:ext cx="822960" cy="1179576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840480" y="2304288"/>
            <a:ext cx="2468880" cy="1179576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1371600" y="3483864"/>
            <a:ext cx="2468880" cy="210312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840480" y="3483864"/>
            <a:ext cx="2468880" cy="210312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1371600" y="3483864"/>
            <a:ext cx="2468880" cy="1554480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3017520" y="3483864"/>
            <a:ext cx="822960" cy="1554480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840480" y="3483864"/>
            <a:ext cx="822960" cy="1554480"/>
          </a:xfrm>
          <a:prstGeom prst="line">
            <a:avLst/>
          </a:prstGeom>
          <a:ln w="15240">
            <a:solidFill>
              <a:srgbClr val="A6B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3063240" y="3127248"/>
            <a:ext cx="1554480" cy="7132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FEAT-BDC-001</a:t>
            </a:r>
            <a:br/>
            <a:r>
              <a:t>BDC Policy Control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85800" y="2039112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Requirement</a:t>
            </a:r>
            <a:br/>
            <a:r>
              <a:t>SYS/SWE/SEC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5800" y="2039112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331720" y="2039112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Architecture</a:t>
            </a:r>
            <a:br/>
            <a:r>
              <a:t>SWC / ECU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331720" y="2039112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3977639" y="2039112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Interface</a:t>
            </a:r>
            <a:br/>
            <a:r>
              <a:t>API / Signal / DTC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77639" y="2039112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623560" y="2039112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Variant</a:t>
            </a:r>
            <a:br/>
            <a:r>
              <a:t>Region / Trim / HW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623560" y="2039112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85800" y="3429000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Supplier</a:t>
            </a:r>
            <a:br/>
            <a:r>
              <a:t>Function / Contract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5800" y="3429000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623560" y="3429000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Control</a:t>
            </a:r>
            <a:br/>
            <a:r>
              <a:t>Policy / Flag / Kill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3429000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685800" y="4773168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Verification</a:t>
            </a:r>
            <a:br/>
            <a:r>
              <a:t>Test / Evidence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5800" y="4773168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2331720" y="4773168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Deployment</a:t>
            </a:r>
            <a:br/>
            <a:r>
              <a:t>Binary / Policy Pkg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331720" y="4773168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3977639" y="4773168"/>
            <a:ext cx="13716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860" b="0">
                <a:solidFill>
                  <a:srgbClr val="333333"/>
                </a:solidFill>
                <a:latin typeface="Malgun Gothic"/>
              </a:defRPr>
            </a:pPr>
            <a:r>
              <a:t>Operations</a:t>
            </a:r>
            <a:br/>
            <a:r>
              <a:t>Telemetry / Audit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77639" y="4773168"/>
            <a:ext cx="1371600" cy="73152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360920" y="1133856"/>
            <a:ext cx="4160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Malgun Gothic"/>
              </a:rPr>
              <a:t>Topology가 계산하는 5가지 결과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60920" y="1627632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7498079" y="1773936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36992" y="1709928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Malgun Gothic"/>
              </a:rPr>
              <a:t>영향도 분석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936992" y="1938528"/>
            <a:ext cx="349300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Malgun Gothic"/>
              </a:rPr>
              <a:t>변경 시 영향받는 Feature · SWC · API · Supplier 산출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360920" y="2386584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7498079" y="2532888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36992" y="2468879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Malgun Gothic"/>
              </a:rPr>
              <a:t>검증범위 도출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936992" y="2697479"/>
            <a:ext cx="349300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Malgun Gothic"/>
              </a:rPr>
              <a:t>Variant · Control · Safety 조건 기반 필수 Test 도출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360920" y="3145536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498079" y="3291840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936992" y="3227832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Malgun Gothic"/>
              </a:rPr>
              <a:t>배포방식 판단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36992" y="3456432"/>
            <a:ext cx="349300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Malgun Gothic"/>
              </a:rPr>
              <a:t>Binary OTA / Policy-only / Calibration Update 구분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360920" y="3904487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498079" y="4050791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936992" y="3986783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Malgun Gothic"/>
              </a:rPr>
              <a:t>책임범위 추적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36992" y="4215383"/>
            <a:ext cx="349300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Malgun Gothic"/>
              </a:rPr>
              <a:t>OEM · 협력사 · 운영 조직별 책임 Artifact 연결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360920" y="4663440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498079" y="4809744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936992" y="4745736"/>
            <a:ext cx="13258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Malgun Gothic"/>
              </a:rPr>
              <a:t>복구경로 확인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936992" y="4974336"/>
            <a:ext cx="3493008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Malgun Gothic"/>
              </a:rPr>
              <a:t>Safe Default · Rollback Plan · 이전 안정 상태 연결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60920" y="5559552"/>
            <a:ext cx="4251960" cy="310896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516368" y="5623560"/>
            <a:ext cx="393192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333333"/>
                </a:solidFill>
                <a:latin typeface="Malgun Gothic"/>
              </a:rPr>
              <a:t>BOM은 목록, Topology는 관계와 의사결정 Context까지 포함한다.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2920" y="6126480"/>
            <a:ext cx="11155680" cy="384048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13232" y="6208776"/>
            <a:ext cx="106984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Malgun Gothic"/>
              </a:rPr>
              <a:t>핵심 : Feature Topology는 “기능 구성 목록”을 넘어, 변경 영향도 · 검증범위 · 배포방식 · 책임범위 · 복구경로를 자동 산출하는 관계 그래프이다.</a:t>
            </a:r>
          </a:p>
        </p:txBody>
      </p:sp>
      <p:sp>
        <p:nvSpPr>
          <p:cNvPr id="14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SysML 2.0; Graph-based Traceability; Mutuus Lab Topology 모델.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Feature Topology Registry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Rectangle 89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" y="768096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Malgun Gothic"/>
              </a:rPr>
              <a:t>Feature 기준정보를 저장·분석·연동하는 Source of Truth — Feature ID를 모든 도구의 공통 Key로 사용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1335024"/>
            <a:ext cx="5394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algun Gothic"/>
              </a:rPr>
              <a:t>Registry 기준 아키텍처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" y="1691640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48640" y="1691640"/>
            <a:ext cx="5715000" cy="310896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8368" y="1764792"/>
            <a:ext cx="5495544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Malgun Gothic"/>
              </a:rPr>
              <a:t>UI / API Layer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3232" y="2130552"/>
            <a:ext cx="5385816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40" b="0">
                <a:solidFill>
                  <a:srgbClr val="333333"/>
                </a:solidFill>
                <a:latin typeface="Malgun Gothic"/>
              </a:rPr>
              <a:t>Feature Catalog · Detail · Topology Graph · Variant Matrix
Impact / Release Readiness 화면 · External API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401568" y="2459736"/>
            <a:ext cx="0" cy="146304"/>
          </a:xfrm>
          <a:prstGeom prst="line">
            <a:avLst/>
          </a:prstGeom>
          <a:ln w="12700">
            <a:solidFill>
              <a:srgbClr val="809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548640" y="2624328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8640" y="2624328"/>
            <a:ext cx="5715000" cy="310896"/>
          </a:xfrm>
          <a:prstGeom prst="rect">
            <a:avLst/>
          </a:prstGeom>
          <a:solidFill>
            <a:srgbClr val="1F5D85"/>
          </a:solidFill>
          <a:ln>
            <a:solidFill>
              <a:srgbClr val="1F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8368" y="2697480"/>
            <a:ext cx="5495544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Malgun Gothic"/>
              </a:rPr>
              <a:t>Engine Layer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3232" y="3063240"/>
            <a:ext cx="5385816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40" b="0">
                <a:solidFill>
                  <a:srgbClr val="333333"/>
                </a:solidFill>
                <a:latin typeface="Malgun Gothic"/>
              </a:rPr>
              <a:t>Impact Analysis · Verification Scope · Deploy Decision
Consistency Check · Supplier Responsibility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401568" y="3392424"/>
            <a:ext cx="0" cy="146304"/>
          </a:xfrm>
          <a:prstGeom prst="line">
            <a:avLst/>
          </a:prstGeom>
          <a:ln w="12700">
            <a:solidFill>
              <a:srgbClr val="809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548640" y="3557016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48640" y="3557016"/>
            <a:ext cx="5715000" cy="31089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58368" y="3630168"/>
            <a:ext cx="5495544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Malgun Gothic"/>
              </a:rPr>
              <a:t>Data / Graph Layer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3232" y="3995928"/>
            <a:ext cx="5385816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40" b="0">
                <a:solidFill>
                  <a:srgbClr val="333333"/>
                </a:solidFill>
                <a:latin typeface="Malgun Gothic"/>
              </a:rPr>
              <a:t>Feature Master · BOM · Relationship Edge · Baseline
Variant Rule · Control Point · Test Evidence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3401568" y="4325112"/>
            <a:ext cx="0" cy="146304"/>
          </a:xfrm>
          <a:prstGeom prst="line">
            <a:avLst/>
          </a:prstGeom>
          <a:ln w="12700">
            <a:solidFill>
              <a:srgbClr val="809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548640" y="4489704"/>
            <a:ext cx="5715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4F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8640" y="4489704"/>
            <a:ext cx="5715000" cy="310896"/>
          </a:xfrm>
          <a:prstGeom prst="rect">
            <a:avLst/>
          </a:prstGeom>
          <a:solidFill>
            <a:srgbClr val="4F6D7A"/>
          </a:solidFill>
          <a:ln>
            <a:solidFill>
              <a:srgbClr val="4F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8368" y="4562856"/>
            <a:ext cx="5495544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Malgun Gothic"/>
              </a:rPr>
              <a:t>Integration Layer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" y="4928616"/>
            <a:ext cx="5385816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40" b="0">
                <a:solidFill>
                  <a:srgbClr val="333333"/>
                </a:solidFill>
                <a:latin typeface="Malgun Gothic"/>
              </a:rPr>
              <a:t>ALM · PLM · Feature Flag · OTA · Test DB · Supplier Portal
양방향 동기화와 Audit Log 수집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8640" y="5440680"/>
            <a:ext cx="5715000" cy="3840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9808" y="5541264"/>
            <a:ext cx="5303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60" b="1">
                <a:solidFill>
                  <a:srgbClr val="333333"/>
                </a:solidFill>
                <a:latin typeface="Malgun Gothic"/>
              </a:rPr>
              <a:t>SoT 원칙 : Feature ID → 모든 Artifact의 연결 키 · Baseline/ChangeSet 단위로 변경 추적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537960" y="1335024"/>
            <a:ext cx="48920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Malgun Gothic"/>
              </a:rPr>
              <a:t>Registry 핵심 기능 그룹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537960" y="1700784"/>
            <a:ext cx="4663440" cy="658368"/>
          </a:xfrm>
          <a:prstGeom prst="roundRect">
            <a:avLst/>
          </a:prstGeom>
          <a:solidFill>
            <a:srgbClr val="ECF3FA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693408" y="1865376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50608" y="1819656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1F4E79"/>
                </a:solidFill>
                <a:latin typeface="Malgun Gothic"/>
              </a:rPr>
              <a:t>기준정보 관리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50608" y="2057400"/>
            <a:ext cx="3794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3333"/>
                </a:solidFill>
                <a:latin typeface="Malgun Gothic"/>
              </a:rPr>
              <a:t>Feature Catalog · Taxonomy Browser · BOM Management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537960" y="2569464"/>
            <a:ext cx="4663440" cy="658368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693408" y="2734056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50608" y="2688336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1F4E79"/>
                </a:solidFill>
                <a:latin typeface="Malgun Gothic"/>
              </a:rPr>
              <a:t>관계/조건 모델링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50608" y="2926080"/>
            <a:ext cx="3794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3333"/>
                </a:solidFill>
                <a:latin typeface="Malgun Gothic"/>
              </a:rPr>
              <a:t>Topology Graph · Variant Matrix · Control Point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537960" y="3438144"/>
            <a:ext cx="4663440" cy="658368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693408" y="3602736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150608" y="3557015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1F4E79"/>
                </a:solidFill>
                <a:latin typeface="Malgun Gothic"/>
              </a:rPr>
              <a:t>의사결정 자동화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50608" y="3794759"/>
            <a:ext cx="3794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3333"/>
                </a:solidFill>
                <a:latin typeface="Malgun Gothic"/>
              </a:rPr>
              <a:t>Impact Analysis · Verification Scope · Deploy Decision · Consistency Check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537960" y="4306824"/>
            <a:ext cx="4663440" cy="65836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693408" y="4471416"/>
            <a:ext cx="292608" cy="29260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50608" y="4425696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1F4E79"/>
                </a:solidFill>
                <a:latin typeface="Malgun Gothic"/>
              </a:rPr>
              <a:t>연계/운영 관리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150608" y="4663440"/>
            <a:ext cx="37947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3333"/>
                </a:solidFill>
                <a:latin typeface="Malgun Gothic"/>
              </a:rPr>
              <a:t>Supplier Portal · Operations Dashboard · Audit / Incident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537960" y="5184648"/>
            <a:ext cx="48920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80" b="1">
                <a:solidFill>
                  <a:srgbClr val="333333"/>
                </a:solidFill>
                <a:latin typeface="Malgun Gothic"/>
              </a:rPr>
              <a:t>Registry 설계 시 필수 관리 항목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537960" y="5468112"/>
            <a:ext cx="46634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693408" y="5568696"/>
            <a:ext cx="43434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30" b="0">
                <a:solidFill>
                  <a:srgbClr val="333333"/>
                </a:solidFill>
                <a:latin typeface="Malgun Gothic"/>
              </a:rPr>
              <a:t>Owner · 권한 · 승인상태 · Baseline · ChangeSet · API Version · Evidence · Audit Log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2920" y="6126480"/>
            <a:ext cx="10927080" cy="3840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13232" y="6208776"/>
            <a:ext cx="10515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Malgun Gothic"/>
              </a:rPr>
              <a:t>핵심 : Registry는 Feature Flag 도구가 아니라, Feature 기준정보·관계·의사결정 결과를 통합 관리하는 Source of Truth이다.</a:t>
            </a:r>
          </a:p>
        </p:txBody>
      </p:sp>
      <p:sp>
        <p:nvSpPr>
          <p:cNvPr id="136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ReqIF 1.2; ISO/IEC/IEEE 29148:2018; OpenAPI 3.2.0; MBSE Authoritative Source of Truth.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통합 메타모델 &amp; Consistency Rules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Rectangle 83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768096"/>
            <a:ext cx="107442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Malgun Gothic"/>
              </a:rPr>
              <a:t>Feature 중심 데이터 구조를 정의하고, 필수 연결·검증·변경 규칙으로 Registry 정합성을 보장한다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1188720"/>
            <a:ext cx="5349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20" b="1">
                <a:solidFill>
                  <a:srgbClr val="333333"/>
                </a:solidFill>
                <a:latin typeface="Malgun Gothic"/>
              </a:rPr>
              <a:t>메타모델 핵심 구조 — 18 Entity / 4 Group</a:t>
            </a:r>
          </a:p>
        </p:txBody>
      </p:sp>
      <p:cxnSp>
        <p:nvCxnSpPr>
          <p:cNvPr id="87" name="Connector 86"/>
          <p:cNvCxnSpPr/>
          <p:nvPr/>
        </p:nvCxnSpPr>
        <p:spPr>
          <a:xfrm flipH="1" flipV="1">
            <a:off x="3035808" y="2340864"/>
            <a:ext cx="22860" cy="402336"/>
          </a:xfrm>
          <a:prstGeom prst="line">
            <a:avLst/>
          </a:prstGeom>
          <a:ln w="1397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2148840" y="3081528"/>
            <a:ext cx="246888" cy="274320"/>
          </a:xfrm>
          <a:prstGeom prst="line">
            <a:avLst/>
          </a:prstGeom>
          <a:ln w="1397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721608" y="3081528"/>
            <a:ext cx="228600" cy="274320"/>
          </a:xfrm>
          <a:prstGeom prst="line">
            <a:avLst/>
          </a:prstGeom>
          <a:ln w="13970">
            <a:solidFill>
              <a:srgbClr val="E87B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3035808" y="3419856"/>
            <a:ext cx="22860" cy="932688"/>
          </a:xfrm>
          <a:prstGeom prst="line">
            <a:avLst/>
          </a:prstGeom>
          <a:ln w="1397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658368" y="1627632"/>
            <a:ext cx="4754880" cy="71323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2960" y="1719072"/>
            <a:ext cx="440740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60" b="1">
                <a:solidFill>
                  <a:srgbClr val="1F4E79"/>
                </a:solidFill>
                <a:latin typeface="Malgun Gothic"/>
              </a:rPr>
              <a:t>Feature 기준정보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59536" y="1975104"/>
            <a:ext cx="91440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40" b="0">
                <a:solidFill>
                  <a:srgbClr val="333333"/>
                </a:solidFill>
                <a:latin typeface="Malgun Gothic"/>
              </a:rPr>
              <a:t>TaxonomyNode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856231" y="1975104"/>
            <a:ext cx="74980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40" b="0">
                <a:solidFill>
                  <a:srgbClr val="333333"/>
                </a:solidFill>
                <a:latin typeface="Malgun Gothic"/>
              </a:rPr>
              <a:t>FeatureBOM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798064" y="1975104"/>
            <a:ext cx="74980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40" b="0">
                <a:solidFill>
                  <a:srgbClr val="333333"/>
                </a:solidFill>
                <a:latin typeface="Malgun Gothic"/>
              </a:rPr>
              <a:t>BOMItem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39312" y="1975104"/>
            <a:ext cx="74980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40" b="0">
                <a:solidFill>
                  <a:srgbClr val="333333"/>
                </a:solidFill>
                <a:latin typeface="Malgun Gothic"/>
              </a:rPr>
              <a:t>Requirement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581144" y="1975104"/>
            <a:ext cx="74980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40" b="0">
                <a:solidFill>
                  <a:srgbClr val="333333"/>
                </a:solidFill>
                <a:latin typeface="Malgun Gothic"/>
              </a:rPr>
              <a:t>Feature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48640" y="2761488"/>
            <a:ext cx="1600200" cy="1188720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6656" y="2871216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6A4C93"/>
                </a:solidFill>
                <a:latin typeface="Malgun Gothic"/>
              </a:rPr>
              <a:t>Architecture
&amp; Interface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3232" y="3236976"/>
            <a:ext cx="1170432" cy="109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SWComponent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3232" y="3364992"/>
            <a:ext cx="1170432" cy="109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ECU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3232" y="3493008"/>
            <a:ext cx="1170432" cy="109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APIService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3232" y="3621024"/>
            <a:ext cx="1170432" cy="109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Signal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3232" y="3749039"/>
            <a:ext cx="1170432" cy="1097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DTC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950208" y="2761488"/>
            <a:ext cx="1600200" cy="1188720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87368" y="2871216"/>
            <a:ext cx="129844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E87B2C"/>
                </a:solidFill>
                <a:latin typeface="Malgun Gothic"/>
              </a:rPr>
              <a:t>Control
&amp; Deployment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06240" y="3273552"/>
            <a:ext cx="1078992" cy="118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VariantRule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06240" y="3419856"/>
            <a:ext cx="1078992" cy="118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ControlPoint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06240" y="3566160"/>
            <a:ext cx="1078992" cy="118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DeploymentUnit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06240" y="3712464"/>
            <a:ext cx="1078992" cy="118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RollbackPlan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58368" y="4352544"/>
            <a:ext cx="4754880" cy="713232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" y="4443984"/>
            <a:ext cx="440740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60" b="1">
                <a:solidFill>
                  <a:srgbClr val="2E7D32"/>
                </a:solidFill>
                <a:latin typeface="Malgun Gothic"/>
              </a:rPr>
              <a:t>Verification &amp; Operations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14400" y="4709160"/>
            <a:ext cx="84124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50" b="0">
                <a:solidFill>
                  <a:srgbClr val="333333"/>
                </a:solidFill>
                <a:latin typeface="Malgun Gothic"/>
              </a:rPr>
              <a:t>TestCase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874519" y="4709160"/>
            <a:ext cx="84124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50" b="0">
                <a:solidFill>
                  <a:srgbClr val="333333"/>
                </a:solidFill>
                <a:latin typeface="Malgun Gothic"/>
              </a:rPr>
              <a:t>TestEvidence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852928" y="4709160"/>
            <a:ext cx="106070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50" b="0">
                <a:solidFill>
                  <a:srgbClr val="333333"/>
                </a:solidFill>
                <a:latin typeface="Malgun Gothic"/>
              </a:rPr>
              <a:t>SupplierFunction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160520" y="4709160"/>
            <a:ext cx="84124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50" b="0">
                <a:solidFill>
                  <a:srgbClr val="333333"/>
                </a:solidFill>
                <a:latin typeface="Malgun Gothic"/>
              </a:rPr>
              <a:t>TelemetryEvent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395728" y="2743200"/>
            <a:ext cx="1325880" cy="676656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Feature</a:t>
            </a:r>
            <a:br/>
            <a:r>
              <a:rPr sz="1100" b="1">
                <a:solidFill>
                  <a:srgbClr val="FFFFFF"/>
                </a:solidFill>
                <a:latin typeface="Malgun Gothic"/>
              </a:rPr>
              <a:t>Entity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5285232"/>
            <a:ext cx="5010912" cy="512064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13232" y="5376672"/>
            <a:ext cx="47091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80" b="0">
                <a:solidFill>
                  <a:srgbClr val="333333"/>
                </a:solidFill>
                <a:latin typeface="Malgun Gothic"/>
              </a:rPr>
              <a:t>대표 Relationship: derives · implemented_by · uses_api · applies_to · controlled_by · deployed_as · verified_by · realized_by · emits_event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97880" y="1188720"/>
            <a:ext cx="5440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20" b="1">
                <a:solidFill>
                  <a:srgbClr val="333333"/>
                </a:solidFill>
                <a:latin typeface="Malgun Gothic"/>
              </a:rPr>
              <a:t>Consistency Rules 12종 — 데이터 품질 Gate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897880" y="1572768"/>
            <a:ext cx="541324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5971032" y="1645920"/>
            <a:ext cx="1755648" cy="18288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80" b="1">
                <a:solidFill>
                  <a:srgbClr val="1F4E79"/>
                </a:solidFill>
                <a:latin typeface="Malgun Gothic"/>
              </a:rPr>
              <a:t>A. Required Link Rules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989320" y="1901952"/>
            <a:ext cx="5230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035040" y="1956816"/>
            <a:ext cx="393192" cy="5486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501383" y="1965960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L2 Feature → 최소 1 Requirement 연결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989320" y="2103120"/>
            <a:ext cx="5230368" cy="16459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6035040" y="2157984"/>
            <a:ext cx="393192" cy="5486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501383" y="2167128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L2 Feature → Owner 필수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989320" y="2304288"/>
            <a:ext cx="5230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6035040" y="2359152"/>
            <a:ext cx="393192" cy="5486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501383" y="2368296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Released Feature → 최소 1 Test Evidence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897880" y="2642615"/>
            <a:ext cx="541324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5971032" y="2715768"/>
            <a:ext cx="1755648" cy="182880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80" b="1">
                <a:solidFill>
                  <a:srgbClr val="E87B2C"/>
                </a:solidFill>
                <a:latin typeface="Malgun Gothic"/>
              </a:rPr>
              <a:t>B. Runtime / Deployment Rules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989320" y="2971799"/>
            <a:ext cx="5230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6035040" y="3026663"/>
            <a:ext cx="393192" cy="54864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501383" y="3035807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Runtime Control → Safe Default 필수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989320" y="3172968"/>
            <a:ext cx="5230368" cy="16459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6035040" y="3227832"/>
            <a:ext cx="393192" cy="54864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01383" y="3236975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Policy-only → Rollback Plan 필수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989320" y="3374135"/>
            <a:ext cx="5230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6035040" y="3428999"/>
            <a:ext cx="393192" cy="54864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501383" y="3438143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Variant Rule 없으면 Production 활성화 불가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897880" y="3712463"/>
            <a:ext cx="541324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5971032" y="3785615"/>
            <a:ext cx="1755648" cy="182880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80" b="1">
                <a:solidFill>
                  <a:srgbClr val="2E86AB"/>
                </a:solidFill>
                <a:latin typeface="Malgun Gothic"/>
              </a:rPr>
              <a:t>C. Supplier / Change Rules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989320" y="4041648"/>
            <a:ext cx="5230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6035040" y="4096511"/>
            <a:ext cx="393192" cy="54864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501383" y="4105656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Supplier 구현 → Supplier Function ID 연결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989320" y="4242816"/>
            <a:ext cx="5230368" cy="16459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6035040" y="4297679"/>
            <a:ext cx="393192" cy="54864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011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501383" y="4306824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API Contract 변경 → 영향 Feature 자동 산출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989320" y="4443984"/>
            <a:ext cx="5230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6035040" y="4498848"/>
            <a:ext cx="393192" cy="54864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01383" y="4507992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BOM Baseline 변경 → ChangeSet 기록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897880" y="4782312"/>
            <a:ext cx="541324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5971032" y="4855464"/>
            <a:ext cx="1755648" cy="182880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80" b="1">
                <a:solidFill>
                  <a:srgbClr val="B72B2B"/>
                </a:solidFill>
                <a:latin typeface="Malgun Gothic"/>
              </a:rPr>
              <a:t>D. Safety / Security / Lifecycle Rules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5989320" y="5111496"/>
            <a:ext cx="5230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6035040" y="5166359"/>
            <a:ext cx="393192" cy="54864"/>
          </a:xfrm>
          <a:prstGeom prst="roundRect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501383" y="5175504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Safety Impact → Safety Gate 통과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989320" y="5312664"/>
            <a:ext cx="5230368" cy="164592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6035040" y="5367527"/>
            <a:ext cx="393192" cy="54864"/>
          </a:xfrm>
          <a:prstGeom prst="roundRect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009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01383" y="5376672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Security Impact → Security Gate 통과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989320" y="5513832"/>
            <a:ext cx="5230368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6035040" y="5568696"/>
            <a:ext cx="393192" cy="54864"/>
          </a:xfrm>
          <a:prstGeom prst="roundRect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010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501383" y="5577840"/>
            <a:ext cx="4626864" cy="54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Deprecated → 신규 Control Point 생성 차단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897880" y="5925312"/>
            <a:ext cx="541324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690" b="1">
                <a:solidFill>
                  <a:srgbClr val="333333"/>
                </a:solidFill>
                <a:latin typeface="Malgun Gothic"/>
              </a:rPr>
              <a:t>Rule 실행 시점: 등록 · 수정 · 승인 · 배포 · Baseline 변경 · API 변경 이벤트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02920" y="6181344"/>
            <a:ext cx="10927080" cy="34747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13232" y="6254496"/>
            <a:ext cx="105156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Malgun Gothic"/>
              </a:rPr>
              <a:t>핵심 : 메타모델은 Feature Topology Registry의 데이터 설계도이고, Consistency Rules는 누락·충돌·승인 누수를 차단하는 자동 품질 게이트이다.</a:t>
            </a:r>
          </a:p>
        </p:txBody>
      </p:sp>
      <p:sp>
        <p:nvSpPr>
          <p:cNvPr id="168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SysML 2.0; OMG ReqIF 1.2; ISO/IEC/IEEE 29148:2018; Mutuus Lab Consistency Rule 모델.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09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Variant Management &amp; Runtime Control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Rectangle 48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768096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70" b="0">
                <a:solidFill>
                  <a:srgbClr val="002060"/>
                </a:solidFill>
                <a:latin typeface="Malgun Gothic"/>
              </a:rPr>
              <a:t>Variant는 구조적 적용 가능성, Control은 동적 활성화 판단 — 둘을 분리해야 Policy-only 운영이 가능하다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1298448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80" b="1">
                <a:solidFill>
                  <a:srgbClr val="333333"/>
                </a:solidFill>
                <a:latin typeface="Malgun Gothic"/>
              </a:rPr>
              <a:t>Feature 활성화 판단 모델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1664208"/>
            <a:ext cx="3154680" cy="235915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1664208"/>
            <a:ext cx="3154680" cy="3657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" y="1760220"/>
            <a:ext cx="286207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algun Gothic"/>
              </a:rPr>
              <a:t>1  Variant Filter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2194560"/>
            <a:ext cx="2752344" cy="1773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333333"/>
                </a:solidFill>
                <a:latin typeface="Malgun Gothic"/>
              </a:rPr>
              <a:t>“이 Feature가 이 차량에 적용 가능한가?”
• Platform / 차종
• Region / Market
• Model Year / Trim
• HW Generation
• SW Version / Capability
판단 성격: 구조적 조건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813048" y="2834640"/>
            <a:ext cx="283463" cy="0"/>
          </a:xfrm>
          <a:prstGeom prst="line">
            <a:avLst/>
          </a:prstGeom>
          <a:ln w="19050">
            <a:solidFill>
              <a:srgbClr val="809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187952" y="1664208"/>
            <a:ext cx="3154680" cy="2359152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87952" y="1664208"/>
            <a:ext cx="3154680" cy="365760"/>
          </a:xfrm>
          <a:prstGeom prst="rect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34256" y="1760220"/>
            <a:ext cx="286207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algun Gothic"/>
              </a:rPr>
              <a:t>2  Control Gate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2194560"/>
            <a:ext cx="2752344" cy="1773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333333"/>
                </a:solidFill>
                <a:latin typeface="Malgun Gothic"/>
              </a:rPr>
              <a:t>“지금 이 Feature를 활성화할 것인가?”
• Policy Rule / Targeting
• Rollout % / Cohort
• Entitlement / Auth
• Kill-switch 상태
• Safe Default / Rollback
판단 성격: 운영 시점 조건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452360" y="2834640"/>
            <a:ext cx="283464" cy="0"/>
          </a:xfrm>
          <a:prstGeom prst="line">
            <a:avLst/>
          </a:prstGeom>
          <a:ln w="19050">
            <a:solidFill>
              <a:srgbClr val="809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7827264" y="1664208"/>
            <a:ext cx="3154680" cy="2359152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27264" y="1664208"/>
            <a:ext cx="3154680" cy="3657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73568" y="1760220"/>
            <a:ext cx="286207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Malgun Gothic"/>
              </a:rPr>
              <a:t>3  Runtime State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28432" y="2194560"/>
            <a:ext cx="2752344" cy="1773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333333"/>
                </a:solidFill>
                <a:latin typeface="Malgun Gothic"/>
              </a:rPr>
              <a:t>차량 내 평가 결과를 상태로 관리
• enabled / disabled
• degraded / blocked
• policy_apply_fail
• rollback_required
• telemetry_event
판단 성격: 실차 실행 결과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279392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50" b="1">
                <a:solidFill>
                  <a:srgbClr val="333333"/>
                </a:solidFill>
                <a:latin typeface="Malgun Gothic"/>
              </a:rPr>
              <a:t>운영 판단 규칙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4590288"/>
            <a:ext cx="5760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4736592"/>
            <a:ext cx="5257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60" b="1">
                <a:solidFill>
                  <a:srgbClr val="002060"/>
                </a:solidFill>
                <a:latin typeface="Malgun Gothic"/>
              </a:rPr>
              <a:t>IF Variant = PASS AND Control Gate = ALLOW AND Runtime Context = VALID
THEN Feature = ON
ELSE Feature = OFF / SAFE DEFAULT / ROLLBACK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37960" y="4279392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50" b="1">
                <a:solidFill>
                  <a:srgbClr val="333333"/>
                </a:solidFill>
                <a:latin typeface="Malgun Gothic"/>
              </a:rPr>
              <a:t>BDC-001 예시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37960" y="4590288"/>
            <a:ext cx="4663440" cy="84124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20840" y="4718304"/>
            <a:ext cx="4315968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3333"/>
                </a:solidFill>
                <a:latin typeface="Malgun Gothic"/>
              </a:rPr>
              <a:t>Variant: KR/EU · MY2027+ · Premium · Gen3 · SW &gt;= 3.2 → PASS
Control: POLICY-BDC-ENABLE=true · Rollout 100% · Kill-switch=OFF
Result: Feature ON, failure 시 Safe Default=disabled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6126480"/>
            <a:ext cx="10927080" cy="3840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" y="6208776"/>
            <a:ext cx="10515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FFFFFF"/>
                </a:solidFill>
                <a:latin typeface="Malgun Gothic"/>
              </a:rPr>
              <a:t>핵심 : Variant는 “적용 가능한 차량”을, Control은 “현재 활성화 가능한 조건”을 판단한다. 이 분리가 Binary OTA와 Policy-only 배포를 가르는 기준이다.</a:t>
            </a:r>
          </a:p>
        </p:txBody>
      </p:sp>
      <p:sp>
        <p:nvSpPr>
          <p:cNvPr id="7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Spec; Unleash Feature Flag Concepts; Evaluation Context/Strategy 패턴; Mutuus Lab Runtime 모델.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Deployment Decision &amp; Verification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Rectangle 65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768096"/>
            <a:ext cx="107442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Malgun Gothic"/>
              </a:rPr>
              <a:t>변경 유형은 배포 방식을 결정하고, Feature 조건은 검증 범위를 자동 도출한다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1298448"/>
            <a:ext cx="51206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80" b="1">
                <a:solidFill>
                  <a:srgbClr val="333333"/>
                </a:solidFill>
                <a:latin typeface="Malgun Gothic"/>
              </a:rPr>
              <a:t>배포방식 판단 모델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1664208"/>
            <a:ext cx="242316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변경 유형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71800" y="1664208"/>
            <a:ext cx="310896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배포 방식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2011680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SWC 코드 변경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971800" y="201168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1">
                <a:solidFill>
                  <a:srgbClr val="002060"/>
                </a:solidFill>
                <a:latin typeface="Malgun Gothic"/>
              </a:rPr>
              <a:t>Binary OTA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2359152"/>
            <a:ext cx="242316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ECU Adapter 변경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71800" y="2359152"/>
            <a:ext cx="310896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1">
                <a:solidFill>
                  <a:srgbClr val="002060"/>
                </a:solidFill>
                <a:latin typeface="Malgun Gothic"/>
              </a:rPr>
              <a:t>Binary OTA + 통합 검증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270662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API / Signal / DTC 변경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971800" y="2706624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1">
                <a:solidFill>
                  <a:srgbClr val="002060"/>
                </a:solidFill>
                <a:latin typeface="Malgun Gothic"/>
              </a:rPr>
              <a:t>Binary OTA + Supplier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3054096"/>
            <a:ext cx="242316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Targeting / Policy Rule 변경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71800" y="3054096"/>
            <a:ext cx="310896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1">
                <a:solidFill>
                  <a:srgbClr val="E87B2C"/>
                </a:solidFill>
                <a:latin typeface="Malgun Gothic"/>
              </a:rPr>
              <a:t>Policy-only Deploy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3401568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Variant Rule 변경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71800" y="3401568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1">
                <a:solidFill>
                  <a:srgbClr val="E87B2C"/>
                </a:solidFill>
                <a:latin typeface="Malgun Gothic"/>
              </a:rPr>
              <a:t>Policy-only / Config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" y="3749040"/>
            <a:ext cx="242316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Calibration 변경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71800" y="3749040"/>
            <a:ext cx="310896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Calibration Update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4096512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긴급 기능 차단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71800" y="4096512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1">
                <a:solidFill>
                  <a:srgbClr val="E87B2C"/>
                </a:solidFill>
                <a:latin typeface="Malgun Gothic"/>
              </a:rPr>
              <a:t>Policy-only Emergency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4617720"/>
            <a:ext cx="5532120" cy="96012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8096" y="4754880"/>
            <a:ext cx="50749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40" b="1">
                <a:solidFill>
                  <a:srgbClr val="1F4E79"/>
                </a:solidFill>
                <a:latin typeface="Malgun Gothic"/>
              </a:rPr>
              <a:t>Decision Rule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4672" y="4983480"/>
            <a:ext cx="498348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60" b="0">
                <a:solidFill>
                  <a:srgbClr val="333333"/>
                </a:solidFill>
                <a:latin typeface="Malgun Gothic"/>
              </a:rPr>
              <a:t>IF SWC/API/ECU 변경 → Binary OTA
ELIF Policy/Variant만 변경 → Policy-only
ELIF Calibration 변경 → Calibration Update
ELSE → Manual Review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46520" y="1298448"/>
            <a:ext cx="51206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80" b="1">
                <a:solidFill>
                  <a:srgbClr val="333333"/>
                </a:solidFill>
                <a:latin typeface="Malgun Gothic"/>
              </a:rPr>
              <a:t>검증범위 자동 도출 모델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46520" y="1664208"/>
            <a:ext cx="21488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Feature 조건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95360" y="1664208"/>
            <a:ext cx="31546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필수 검증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46520" y="2011680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2E7D32"/>
                </a:solidFill>
                <a:latin typeface="Malgun Gothic"/>
              </a:rPr>
              <a:t>Runtime Control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95360" y="2011680"/>
            <a:ext cx="3154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60" b="0">
                <a:solidFill>
                  <a:srgbClr val="333333"/>
                </a:solidFill>
                <a:latin typeface="Malgun Gothic"/>
              </a:rPr>
              <a:t>Policy Apply / Fail / Rollback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46520" y="2359152"/>
            <a:ext cx="214884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2E7D32"/>
                </a:solidFill>
                <a:latin typeface="Malgun Gothic"/>
              </a:rPr>
              <a:t>Variant Rule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2359152"/>
            <a:ext cx="315468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60" b="0">
                <a:solidFill>
                  <a:srgbClr val="333333"/>
                </a:solidFill>
                <a:latin typeface="Malgun Gothic"/>
              </a:rPr>
              <a:t>적용 / 비적용 차량 조건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46520" y="2706624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Supplier Function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95360" y="2706624"/>
            <a:ext cx="3154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60" b="0">
                <a:solidFill>
                  <a:srgbClr val="333333"/>
                </a:solidFill>
                <a:latin typeface="Malgun Gothic"/>
              </a:rPr>
              <a:t>Supplier Integration Test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46520" y="3054096"/>
            <a:ext cx="214884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1">
                <a:solidFill>
                  <a:srgbClr val="B72B2B"/>
                </a:solidFill>
                <a:latin typeface="Malgun Gothic"/>
              </a:rPr>
              <a:t>Safety Impact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95360" y="3054096"/>
            <a:ext cx="315468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60" b="0">
                <a:solidFill>
                  <a:srgbClr val="333333"/>
                </a:solidFill>
                <a:latin typeface="Malgun Gothic"/>
              </a:rPr>
              <a:t>Safe Default / Degraded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46520" y="3401568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1">
                <a:solidFill>
                  <a:srgbClr val="B72B2B"/>
                </a:solidFill>
                <a:latin typeface="Malgun Gothic"/>
              </a:rPr>
              <a:t>Security Impact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95360" y="3401568"/>
            <a:ext cx="3154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60" b="0">
                <a:solidFill>
                  <a:srgbClr val="333333"/>
                </a:solidFill>
                <a:latin typeface="Malgun Gothic"/>
              </a:rPr>
              <a:t>Authorization / Integrity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446520" y="3749040"/>
            <a:ext cx="214884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OTA 연계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95360" y="3749040"/>
            <a:ext cx="3154680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60" b="0">
                <a:solidFill>
                  <a:srgbClr val="333333"/>
                </a:solidFill>
                <a:latin typeface="Malgun Gothic"/>
              </a:rPr>
              <a:t>Binary 또는 Policy-only 배포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46520" y="4096512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80" b="0">
                <a:solidFill>
                  <a:srgbClr val="333333"/>
                </a:solidFill>
                <a:latin typeface="Malgun Gothic"/>
              </a:rPr>
              <a:t>Telemetry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95360" y="4096512"/>
            <a:ext cx="3154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60" b="0">
                <a:solidFill>
                  <a:srgbClr val="333333"/>
                </a:solidFill>
                <a:latin typeface="Malgun Gothic"/>
              </a:rPr>
              <a:t>Event / Audit / DTC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46520" y="4617720"/>
            <a:ext cx="53492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20" b="1">
                <a:solidFill>
                  <a:srgbClr val="333333"/>
                </a:solidFill>
                <a:latin typeface="Malgun Gothic"/>
              </a:rPr>
              <a:t>검증 Gate 산출 규칙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446520" y="4919472"/>
            <a:ext cx="5303520" cy="658368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629400" y="5056632"/>
            <a:ext cx="493776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10" b="0">
                <a:solidFill>
                  <a:srgbClr val="333333"/>
                </a:solidFill>
                <a:latin typeface="Malgun Gothic"/>
              </a:rPr>
              <a:t>Feature BOM + Variant + Control + Safety/Security + Supplier 조건을 조합하여
필수 Test Scope · Missing Evidence · Release Gate를 산출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6190488" y="3063240"/>
            <a:ext cx="164592" cy="0"/>
          </a:xfrm>
          <a:prstGeom prst="line">
            <a:avLst/>
          </a:prstGeom>
          <a:ln w="17780">
            <a:solidFill>
              <a:srgbClr val="8093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502920" y="6126480"/>
            <a:ext cx="10927080" cy="3840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3232" y="6208776"/>
            <a:ext cx="10515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핵심 : 변경 유형은 Binary/Policy-only 판단을, Feature 조건은 필수 검증범위를 결정한다. 두 결과가 Release Readiness Gate의 입력이 된다.</a:t>
            </a:r>
          </a:p>
        </p:txBody>
      </p:sp>
      <p:sp>
        <p:nvSpPr>
          <p:cNvPr id="111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 24089:2023; OpenFeature Spec; Unleash Rollout/Rollback 개념; ISO/IEC/IEEE 29148 검증 가이드.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Operations / Telemetry / Audit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Rectangle 64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768096"/>
            <a:ext cx="107442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Malgun Gothic"/>
              </a:rPr>
              <a:t>실차 운영 상태를 관측하고, 이벤트를 증적화하며, 이상 발생 시 즉시 복구 액션으로 연결한다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1243584"/>
            <a:ext cx="54406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80" b="1">
                <a:solidFill>
                  <a:srgbClr val="333333"/>
                </a:solidFill>
                <a:latin typeface="Malgun Gothic"/>
              </a:rPr>
              <a:t>운영 추적 항목 6종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1591056"/>
            <a:ext cx="160020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69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48840" y="1591056"/>
            <a:ext cx="388620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869" b="1">
                <a:solidFill>
                  <a:srgbClr val="FFFFFF"/>
                </a:solidFill>
                <a:latin typeface="Malgun Gothic"/>
              </a:rPr>
              <a:t>관리 목적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1920240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40" b="1">
                <a:solidFill>
                  <a:srgbClr val="2E7D32"/>
                </a:solidFill>
                <a:latin typeface="Malgun Gothic"/>
              </a:rPr>
              <a:t>Runtime State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8840" y="1920240"/>
            <a:ext cx="3886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10" b="0">
                <a:solidFill>
                  <a:srgbClr val="333333"/>
                </a:solidFill>
                <a:latin typeface="Malgun Gothic"/>
              </a:rPr>
              <a:t>enabled · disabled · degraded · blocked 상태 추적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2249424"/>
            <a:ext cx="16002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40" b="1">
                <a:solidFill>
                  <a:srgbClr val="333333"/>
                </a:solidFill>
                <a:latin typeface="Malgun Gothic"/>
              </a:rPr>
              <a:t>Telemetry Event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48840" y="2249424"/>
            <a:ext cx="38862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10" b="0">
                <a:solidFill>
                  <a:srgbClr val="333333"/>
                </a:solidFill>
                <a:latin typeface="Malgun Gothic"/>
              </a:rPr>
              <a:t>정책 적용 성공/실패 · rollback · 지연 이벤트 수집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2578608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40" b="1">
                <a:solidFill>
                  <a:srgbClr val="333333"/>
                </a:solidFill>
                <a:latin typeface="Malgun Gothic"/>
              </a:rPr>
              <a:t>DTC / Diagnostic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48840" y="2578608"/>
            <a:ext cx="3886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10" b="0">
                <a:solidFill>
                  <a:srgbClr val="333333"/>
                </a:solidFill>
                <a:latin typeface="Malgun Gothic"/>
              </a:rPr>
              <a:t>ECU 오류 · 센서 이상 · 차량 진단 이벤트 연결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2907791"/>
            <a:ext cx="16002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40" b="1">
                <a:solidFill>
                  <a:srgbClr val="333333"/>
                </a:solidFill>
                <a:latin typeface="Malgun Gothic"/>
              </a:rPr>
              <a:t>Audit Log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48840" y="2907791"/>
            <a:ext cx="38862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10" b="0">
                <a:solidFill>
                  <a:srgbClr val="333333"/>
                </a:solidFill>
                <a:latin typeface="Malgun Gothic"/>
              </a:rPr>
              <a:t>정책 변경자 · 시간 · 승인 · 배포 이력 보관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3236976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40" b="1">
                <a:solidFill>
                  <a:srgbClr val="E87B2C"/>
                </a:solidFill>
                <a:latin typeface="Malgun Gothic"/>
              </a:rPr>
              <a:t>Alert Rule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48840" y="3236976"/>
            <a:ext cx="3886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10" b="0">
                <a:solidFill>
                  <a:srgbClr val="333333"/>
                </a:solidFill>
                <a:latin typeface="Malgun Gothic"/>
              </a:rPr>
              <a:t>실패율 증가 · rollback 증가 · 정책 지연 감지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3566160"/>
            <a:ext cx="16002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40" b="1">
                <a:solidFill>
                  <a:srgbClr val="E87B2C"/>
                </a:solidFill>
                <a:latin typeface="Malgun Gothic"/>
              </a:rPr>
              <a:t>Incident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48840" y="3566160"/>
            <a:ext cx="388620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l"/>
            <a:r>
              <a:rPr sz="710" b="0">
                <a:solidFill>
                  <a:srgbClr val="333333"/>
                </a:solidFill>
                <a:latin typeface="Malgun Gothic"/>
              </a:rPr>
              <a:t>Field Issue · VOC · 장애 Ticket과 Feature 연결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2084832" y="4928616"/>
            <a:ext cx="274320" cy="0"/>
          </a:xfrm>
          <a:prstGeom prst="line">
            <a:avLst/>
          </a:prstGeom>
          <a:ln w="13970">
            <a:solidFill>
              <a:srgbClr val="96A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867912" y="4928616"/>
            <a:ext cx="274319" cy="0"/>
          </a:xfrm>
          <a:prstGeom prst="line">
            <a:avLst/>
          </a:prstGeom>
          <a:ln w="13970">
            <a:solidFill>
              <a:srgbClr val="96A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650992" y="4928616"/>
            <a:ext cx="274320" cy="0"/>
          </a:xfrm>
          <a:prstGeom prst="line">
            <a:avLst/>
          </a:prstGeom>
          <a:ln w="13970">
            <a:solidFill>
              <a:srgbClr val="96A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434071" y="4928616"/>
            <a:ext cx="274321" cy="0"/>
          </a:xfrm>
          <a:prstGeom prst="line">
            <a:avLst/>
          </a:prstGeom>
          <a:ln w="13970">
            <a:solidFill>
              <a:srgbClr val="96A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217152" y="4928616"/>
            <a:ext cx="274320" cy="0"/>
          </a:xfrm>
          <a:prstGeom prst="line">
            <a:avLst/>
          </a:prstGeom>
          <a:ln w="13970">
            <a:solidFill>
              <a:srgbClr val="96A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640080" y="4617720"/>
            <a:ext cx="1444752" cy="62179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3231" y="4690872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33271" y="4727448"/>
            <a:ext cx="9601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60" b="1">
                <a:solidFill>
                  <a:srgbClr val="333333"/>
                </a:solidFill>
                <a:latin typeface="Malgun Gothic"/>
              </a:rPr>
              <a:t>Runtime
Evaluate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423160" y="4617720"/>
            <a:ext cx="1444752" cy="621792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96312" y="4690872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16352" y="4727448"/>
            <a:ext cx="9601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60" b="1">
                <a:solidFill>
                  <a:srgbClr val="333333"/>
                </a:solidFill>
                <a:latin typeface="Malgun Gothic"/>
              </a:rPr>
              <a:t>Telemetry
Collect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0" y="4617720"/>
            <a:ext cx="1444752" cy="621792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79392" y="4690872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99431" y="4727448"/>
            <a:ext cx="9601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60" b="1">
                <a:solidFill>
                  <a:srgbClr val="333333"/>
                </a:solidFill>
                <a:latin typeface="Malgun Gothic"/>
              </a:rPr>
              <a:t>Alert
Detect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989320" y="4617720"/>
            <a:ext cx="1444752" cy="621792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62472" y="4690872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2512" y="4727448"/>
            <a:ext cx="9601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60" b="1">
                <a:solidFill>
                  <a:srgbClr val="333333"/>
                </a:solidFill>
                <a:latin typeface="Malgun Gothic"/>
              </a:rPr>
              <a:t>Incident
Open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772400" y="4617720"/>
            <a:ext cx="1444752" cy="621792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845552" y="4690872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165592" y="4727448"/>
            <a:ext cx="9601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60" b="1">
                <a:solidFill>
                  <a:srgbClr val="333333"/>
                </a:solidFill>
                <a:latin typeface="Malgun Gothic"/>
              </a:rPr>
              <a:t>Rollback /
Kill Switch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555480" y="4617720"/>
            <a:ext cx="1444752" cy="62179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28632" y="4690872"/>
            <a:ext cx="329184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948672" y="4727448"/>
            <a:ext cx="96012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60" b="1">
                <a:solidFill>
                  <a:srgbClr val="333333"/>
                </a:solidFill>
                <a:latin typeface="Malgun Gothic"/>
              </a:rPr>
              <a:t>Topology
Update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4224528"/>
            <a:ext cx="1083564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algun Gothic"/>
              </a:rPr>
              <a:t>Event-to-Action Loop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09360" y="1243584"/>
            <a:ext cx="51663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80" b="1">
                <a:solidFill>
                  <a:srgbClr val="333333"/>
                </a:solidFill>
                <a:latin typeface="Malgun Gothic"/>
              </a:rPr>
              <a:t>FEAT-BDC-001 운영 Dashboard 예시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09360" y="1618488"/>
            <a:ext cx="159105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82512" y="1737360"/>
            <a:ext cx="144475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20" b="1">
                <a:solidFill>
                  <a:srgbClr val="2E7D32"/>
                </a:solidFill>
                <a:latin typeface="Malgun Gothic"/>
              </a:rPr>
              <a:t>Activation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82512" y="1965960"/>
            <a:ext cx="144475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2E7D32"/>
                </a:solidFill>
                <a:latin typeface="Malgun Gothic"/>
              </a:rPr>
              <a:t>98.7%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82512" y="2313432"/>
            <a:ext cx="144475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  <a:latin typeface="Malgun Gothic"/>
              </a:rPr>
              <a:t>Success Rate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65008" y="1618488"/>
            <a:ext cx="159105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38160" y="1737360"/>
            <a:ext cx="144475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20" b="1">
                <a:solidFill>
                  <a:srgbClr val="E87B2C"/>
                </a:solidFill>
                <a:latin typeface="Malgun Gothic"/>
              </a:rPr>
              <a:t>Policy Apply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138160" y="1965960"/>
            <a:ext cx="144475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E87B2C"/>
                </a:solidFill>
                <a:latin typeface="Malgun Gothic"/>
              </a:rPr>
              <a:t>12 / 10K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38160" y="2313432"/>
            <a:ext cx="144475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  <a:latin typeface="Malgun Gothic"/>
              </a:rPr>
              <a:t>Failures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820656" y="1618488"/>
            <a:ext cx="159105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893808" y="1737360"/>
            <a:ext cx="1444752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20" b="1">
                <a:solidFill>
                  <a:srgbClr val="B72B2B"/>
                </a:solidFill>
                <a:latin typeface="Malgun Gothic"/>
              </a:rPr>
              <a:t>Rollback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893808" y="1965960"/>
            <a:ext cx="1444752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B72B2B"/>
                </a:solidFill>
                <a:latin typeface="Malgun Gothic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93808" y="2313432"/>
            <a:ext cx="144475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  <a:latin typeface="Malgun Gothic"/>
              </a:rPr>
              <a:t>Count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309360" y="2834640"/>
            <a:ext cx="5102352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73952" y="2953512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333333"/>
                </a:solidFill>
                <a:latin typeface="Malgun Gothic"/>
              </a:rPr>
              <a:t>Recent Events</a:t>
            </a:r>
          </a:p>
        </p:txBody>
      </p:sp>
      <p:sp>
        <p:nvSpPr>
          <p:cNvPr id="121" name="Oval 120"/>
          <p:cNvSpPr/>
          <p:nvPr/>
        </p:nvSpPr>
        <p:spPr>
          <a:xfrm>
            <a:off x="6492240" y="3310128"/>
            <a:ext cx="73152" cy="73152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629400" y="3273552"/>
            <a:ext cx="214884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60" b="1">
                <a:solidFill>
                  <a:srgbClr val="2E7D32"/>
                </a:solidFill>
                <a:latin typeface="Malgun Gothic"/>
              </a:rPr>
              <a:t>POLICY_APPLY_SUCCESS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23960" y="3273552"/>
            <a:ext cx="24231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VIN cohort pilot_kr_01</a:t>
            </a:r>
          </a:p>
        </p:txBody>
      </p:sp>
      <p:sp>
        <p:nvSpPr>
          <p:cNvPr id="124" name="Oval 123"/>
          <p:cNvSpPr/>
          <p:nvPr/>
        </p:nvSpPr>
        <p:spPr>
          <a:xfrm>
            <a:off x="6492240" y="3584448"/>
            <a:ext cx="73152" cy="73152"/>
          </a:xfrm>
          <a:prstGeom prst="ellipse">
            <a:avLst/>
          </a:prstGeom>
          <a:solidFill>
            <a:srgbClr val="E87B2C"/>
          </a:solidFill>
          <a:ln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629400" y="3547872"/>
            <a:ext cx="214884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60" b="1">
                <a:solidFill>
                  <a:srgbClr val="E87B2C"/>
                </a:solidFill>
                <a:latin typeface="Malgun Gothic"/>
              </a:rPr>
              <a:t>POLICY_APPLY_FAIL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823960" y="3547872"/>
            <a:ext cx="24231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Reason: ECU version mismatch</a:t>
            </a:r>
          </a:p>
        </p:txBody>
      </p:sp>
      <p:sp>
        <p:nvSpPr>
          <p:cNvPr id="127" name="Oval 126"/>
          <p:cNvSpPr/>
          <p:nvPr/>
        </p:nvSpPr>
        <p:spPr>
          <a:xfrm>
            <a:off x="6492240" y="3858768"/>
            <a:ext cx="73152" cy="73152"/>
          </a:xfrm>
          <a:prstGeom prst="ellipse">
            <a:avLst/>
          </a:prstGeom>
          <a:solidFill>
            <a:srgbClr val="B72B2B"/>
          </a:solidFill>
          <a:ln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29400" y="3822191"/>
            <a:ext cx="214884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60" b="1">
                <a:solidFill>
                  <a:srgbClr val="B72B2B"/>
                </a:solidFill>
                <a:latin typeface="Malgun Gothic"/>
              </a:rPr>
              <a:t>POLICY_ROLLBACK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23960" y="3822191"/>
            <a:ext cx="24231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Target: previous stable policy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09360" y="4297680"/>
            <a:ext cx="51663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40" b="1">
                <a:solidFill>
                  <a:srgbClr val="333333"/>
                </a:solidFill>
                <a:latin typeface="Malgun Gothic"/>
              </a:rPr>
              <a:t>운영 Actions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09360" y="4599432"/>
            <a:ext cx="1133856" cy="384048"/>
          </a:xfrm>
          <a:prstGeom prst="roundRect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Open Incident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607808" y="4599432"/>
            <a:ext cx="1133856" cy="384048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Rollback Policy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906256" y="4599432"/>
            <a:ext cx="1133856" cy="38404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Export Audit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204704" y="4599432"/>
            <a:ext cx="1133856" cy="38404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Update Topology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309360" y="5138928"/>
            <a:ext cx="5102352" cy="53035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92240" y="5266944"/>
            <a:ext cx="4736592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40" b="0">
                <a:solidFill>
                  <a:srgbClr val="333333"/>
                </a:solidFill>
                <a:latin typeface="Malgun Gothic"/>
              </a:rPr>
              <a:t>Audit · Telemetry · Incident는 Feature ID 기준으로 저장되어 Release 후에도 검증 증적과 변경 이력을 연결한다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02920" y="6126480"/>
            <a:ext cx="10927080" cy="3840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13232" y="6208776"/>
            <a:ext cx="105156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Malgun Gothic"/>
              </a:rPr>
              <a:t>핵심 : 운영 데이터는 단순 모니터링 지표가 아니라, Feature Topology를 갱신하고 Rollback · Kill Switch · 검증 보완을 트리거하는 증적 데이터이다.</a:t>
            </a:r>
          </a:p>
        </p:txBody>
      </p:sp>
      <p:sp>
        <p:nvSpPr>
          <p:cNvPr id="13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Events/Tracking/Observability; Unleash Testing &amp; Monitoring Docs; ISO 24089:2023.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Decision Engines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8096"/>
            <a:ext cx="107442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Malgun Gothic"/>
              </a:rPr>
              <a:t>Feature Topology Graph를 실행 가능한 판단 로직으로 전환해 변경 요청의 영향도·검증·배포·책임을 자동 산출한다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31089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20" b="1">
                <a:solidFill>
                  <a:srgbClr val="333333"/>
                </a:solidFill>
                <a:latin typeface="Malgun Gothic"/>
              </a:rPr>
              <a:t>의사결정 파이프라인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627632"/>
            <a:ext cx="1078992" cy="45720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60" b="1">
                <a:solidFill>
                  <a:srgbClr val="FFFFFF"/>
                </a:solidFill>
                <a:latin typeface="Malgun Gothic"/>
              </a:rPr>
              <a:t>Change</a:t>
            </a:r>
            <a:br/>
            <a:r>
              <a:rPr sz="760" b="1">
                <a:solidFill>
                  <a:srgbClr val="FFFFFF"/>
                </a:solidFill>
                <a:latin typeface="Malgun Gothic"/>
              </a:rPr>
              <a:t>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1856232"/>
            <a:ext cx="109728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901952" y="1627632"/>
            <a:ext cx="1207008" cy="4572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60" b="1">
                <a:solidFill>
                  <a:srgbClr val="FFFFFF"/>
                </a:solidFill>
                <a:latin typeface="Malgun Gothic"/>
              </a:rPr>
              <a:t>Topology</a:t>
            </a:r>
            <a:br/>
            <a:r>
              <a:rPr sz="760" b="1">
                <a:solidFill>
                  <a:srgbClr val="FFFFFF"/>
                </a:solidFill>
                <a:latin typeface="Malgun Gothic"/>
              </a:rPr>
              <a:t>Lookup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63824" y="1856232"/>
            <a:ext cx="118872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37560" y="1627632"/>
            <a:ext cx="1133856" cy="457200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60" b="1">
                <a:solidFill>
                  <a:srgbClr val="FFFFFF"/>
                </a:solidFill>
                <a:latin typeface="Malgun Gothic"/>
              </a:rPr>
              <a:t>Impact</a:t>
            </a:r>
            <a:br/>
            <a:r>
              <a:rPr sz="760" b="1">
                <a:solidFill>
                  <a:srgbClr val="FFFFFF"/>
                </a:solidFill>
                <a:latin typeface="Malgun Gothic"/>
              </a:rPr>
              <a:t>Analysis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79" y="1856232"/>
            <a:ext cx="118873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00016" y="1627632"/>
            <a:ext cx="1170432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60" b="1">
                <a:solidFill>
                  <a:srgbClr val="FFFFFF"/>
                </a:solidFill>
                <a:latin typeface="Malgun Gothic"/>
              </a:rPr>
              <a:t>Verification</a:t>
            </a:r>
            <a:br/>
            <a:r>
              <a:rPr sz="760" b="1">
                <a:solidFill>
                  <a:srgbClr val="FFFFFF"/>
                </a:solidFill>
                <a:latin typeface="Malgun Gothic"/>
              </a:rPr>
              <a:t>Scope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25312" y="1856232"/>
            <a:ext cx="118872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99048" y="1627632"/>
            <a:ext cx="1133856" cy="457200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60" b="1">
                <a:solidFill>
                  <a:srgbClr val="FFFFFF"/>
                </a:solidFill>
                <a:latin typeface="Malgun Gothic"/>
              </a:rPr>
              <a:t>Deploy</a:t>
            </a:r>
            <a:br/>
            <a:r>
              <a:rPr sz="760" b="1">
                <a:solidFill>
                  <a:srgbClr val="FFFFFF"/>
                </a:solidFill>
                <a:latin typeface="Malgun Gothic"/>
              </a:rPr>
              <a:t>Decision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87768" y="1856232"/>
            <a:ext cx="118872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61504" y="1627632"/>
            <a:ext cx="1133856" cy="457200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60" b="1">
                <a:solidFill>
                  <a:srgbClr val="FFFFFF"/>
                </a:solidFill>
                <a:latin typeface="Malgun Gothic"/>
              </a:rPr>
              <a:t>Supplier</a:t>
            </a:r>
            <a:br/>
            <a:r>
              <a:rPr sz="760" b="1">
                <a:solidFill>
                  <a:srgbClr val="FFFFFF"/>
                </a:solidFill>
                <a:latin typeface="Malgun Gothic"/>
              </a:rPr>
              <a:t>Scope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50224" y="1856232"/>
            <a:ext cx="118872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823960" y="1627632"/>
            <a:ext cx="1115568" cy="457200"/>
          </a:xfrm>
          <a:prstGeom prst="roundRect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60" b="1">
                <a:solidFill>
                  <a:srgbClr val="FFFFFF"/>
                </a:solidFill>
                <a:latin typeface="Malgun Gothic"/>
              </a:rPr>
              <a:t>Decision</a:t>
            </a:r>
            <a:br/>
            <a:r>
              <a:rPr sz="760" b="1">
                <a:solidFill>
                  <a:srgbClr val="FFFFFF"/>
                </a:solidFill>
                <a:latin typeface="Malgun Gothic"/>
              </a:rP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618488"/>
            <a:ext cx="1261872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680" b="1">
                <a:solidFill>
                  <a:srgbClr val="333333"/>
                </a:solidFill>
                <a:latin typeface="Malgun Gothic"/>
              </a:rPr>
              <a:t>Gate / Gap
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53492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algun Gothic"/>
              </a:rPr>
              <a:t>4개 Engine — 입력 / 판단 / 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331720"/>
            <a:ext cx="5010912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algun Gothic"/>
              </a:rPr>
              <a:t>Engine 결과가 만드는 산출물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2697480"/>
            <a:ext cx="528523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2697480"/>
            <a:ext cx="5285232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940" b="1">
                <a:solidFill>
                  <a:srgbClr val="FFFFFF"/>
                </a:solidFill>
                <a:latin typeface="Malgun Gothic"/>
              </a:rPr>
              <a:t>①  영향도 분석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3145536"/>
            <a:ext cx="499262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90" b="1">
                <a:solidFill>
                  <a:srgbClr val="333333"/>
                </a:solidFill>
                <a:latin typeface="Malgun Gothic"/>
              </a:rPr>
              <a:t>변경 대상에서 Topology Graph를 탐색해 영향 범위를 계산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3538728"/>
            <a:ext cx="530352" cy="164592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입력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3520440"/>
            <a:ext cx="438912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  <a:latin typeface="Malgun Gothic"/>
              </a:rPr>
              <a:t>Feature / SWC / API / ECU / Policy 변경 대상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3867912"/>
            <a:ext cx="530352" cy="164592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3849624"/>
            <a:ext cx="4389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  <a:latin typeface="Malgun Gothic"/>
              </a:rPr>
              <a:t>Impacted Features · Requirements · SWCs · ECUs · APIs · Variants · Tests · Suppliers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3977639"/>
            <a:ext cx="4992624" cy="16459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역할: 변경 누락 방지 · 사전 영향도 산출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407408"/>
            <a:ext cx="528523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407408"/>
            <a:ext cx="5285232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940" b="1">
                <a:solidFill>
                  <a:srgbClr val="FFFFFF"/>
                </a:solidFill>
                <a:latin typeface="Malgun Gothic"/>
              </a:rPr>
              <a:t>②  검증범위 도출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4855464"/>
            <a:ext cx="499262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90" b="1">
                <a:solidFill>
                  <a:srgbClr val="333333"/>
                </a:solidFill>
                <a:latin typeface="Malgun Gothic"/>
              </a:rPr>
              <a:t>Variant·Control·Safety 조건에 따라 필수 테스트와 증적 Gap 도출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" y="5248656"/>
            <a:ext cx="530352" cy="16459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입력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5230368"/>
            <a:ext cx="438912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  <a:latin typeface="Malgun Gothic"/>
              </a:rPr>
              <a:t>Feature Dependency · Variant Rule · Runtime Control · Safety/Security Impact · OTA Type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" y="5577840"/>
            <a:ext cx="530352" cy="16459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559552"/>
            <a:ext cx="4389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  <a:latin typeface="Malgun Gothic"/>
              </a:rPr>
              <a:t>Mandatory Tests · Missing Evidence · Coverage Gap · Quality Gate Result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4944" y="5687568"/>
            <a:ext cx="4992624" cy="16459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역할: 과소/과잉 검증 방지 · Gate 자동화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08192" y="2697480"/>
            <a:ext cx="528523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08192" y="2697480"/>
            <a:ext cx="5285232" cy="329184"/>
          </a:xfrm>
          <a:prstGeom prst="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940" b="1">
                <a:solidFill>
                  <a:srgbClr val="FFFFFF"/>
                </a:solidFill>
                <a:latin typeface="Malgun Gothic"/>
              </a:rPr>
              <a:t>③  배포방식 판단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3145536"/>
            <a:ext cx="499262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90" b="1">
                <a:solidFill>
                  <a:srgbClr val="333333"/>
                </a:solidFill>
                <a:latin typeface="Malgun Gothic"/>
              </a:rPr>
              <a:t>변경 유형을 분석해 Binary OTA / Policy-only / Calibration Update 구분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54496" y="3538728"/>
            <a:ext cx="530352" cy="164592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입력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520440"/>
            <a:ext cx="438912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  <a:latin typeface="Malgun Gothic"/>
              </a:rPr>
              <a:t>SWC 변경 · API 변경 · Policy 변경 · Variant 변경 · Calibration 변경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54496" y="3867912"/>
            <a:ext cx="530352" cy="164592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849624"/>
            <a:ext cx="4389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  <a:latin typeface="Malgun Gothic"/>
              </a:rPr>
              <a:t>Deploy Type · Required Gates · Rollback Test · Manual Review 필요 여부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54496" y="3977639"/>
            <a:ext cx="4992624" cy="16459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역할: 불필요한 Binary OTA 제거 · 정책 배포 가능성 판단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08192" y="4407408"/>
            <a:ext cx="5285232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08192" y="4407408"/>
            <a:ext cx="5285232" cy="329184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940" b="1">
                <a:solidFill>
                  <a:srgbClr val="FFFFFF"/>
                </a:solidFill>
                <a:latin typeface="Malgun Gothic"/>
              </a:rPr>
              <a:t>④  협력사 책임 분석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54496" y="4855464"/>
            <a:ext cx="499262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90" b="1">
                <a:solidFill>
                  <a:srgbClr val="333333"/>
                </a:solidFill>
                <a:latin typeface="Malgun Gothic"/>
              </a:rPr>
              <a:t>Feature → Supplier Function → SWC/API 경로로 책임 범위와 계약 Gap 산출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54496" y="5248656"/>
            <a:ext cx="530352" cy="164592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입력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230368"/>
            <a:ext cx="438912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  <a:latin typeface="Malgun Gothic"/>
              </a:rPr>
              <a:t>Feature ID · Supplier Function · SWC · API / Signal / DTC Mapping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54496" y="5577840"/>
            <a:ext cx="530352" cy="164592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559552"/>
            <a:ext cx="4389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00" b="0">
                <a:solidFill>
                  <a:srgbClr val="333333"/>
                </a:solidFill>
                <a:latin typeface="Malgun Gothic"/>
              </a:rPr>
              <a:t>Supplier Scope · Acceptance Criteria · Contract Gap · Test Evidence Status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54496" y="5687568"/>
            <a:ext cx="4992624" cy="16459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역할: 협력사 책임 경계 명확화 · Release Package 검증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91072" y="1975104"/>
            <a:ext cx="10972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80" b="1">
                <a:solidFill>
                  <a:srgbClr val="2E86AB"/>
                </a:solidFill>
                <a:latin typeface="Malgun Gothic"/>
              </a:rPr>
              <a:t>Impact Report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34656" y="1975104"/>
            <a:ext cx="10972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80" b="1">
                <a:solidFill>
                  <a:srgbClr val="2E7D32"/>
                </a:solidFill>
                <a:latin typeface="Malgun Gothic"/>
              </a:rPr>
              <a:t>Test Scope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78240" y="1975104"/>
            <a:ext cx="10972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80" b="1">
                <a:solidFill>
                  <a:srgbClr val="E87B2C"/>
                </a:solidFill>
                <a:latin typeface="Malgun Gothic"/>
              </a:rPr>
              <a:t>Deploy Decision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21824" y="1975104"/>
            <a:ext cx="1097280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80" b="1">
                <a:solidFill>
                  <a:srgbClr val="6A4C93"/>
                </a:solidFill>
                <a:latin typeface="Malgun Gothic"/>
              </a:rPr>
              <a:t>Supplier Report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핵심 : Decision Engine은 Feature Topology를 조회해 변경 요청별 영향도 · 검증범위 · 배포방식 · 협력사 책임을 하나의 의사결정 Report로 통합한다.</a:t>
            </a:r>
          </a:p>
        </p:txBody>
      </p:sp>
      <p:sp>
        <p:nvSpPr>
          <p:cNvPr id="65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DMN; ISO/IEC/IEEE 29148 Traceability; OpenAPI 3.2.0; Mutuus Lab Decision Engine 설계.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Registry UI — 4대 화면 설계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8096"/>
            <a:ext cx="107442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Malgun Gothic"/>
              </a:rPr>
              <a:t>UI는 Feature 기준정보 입력·관계 탐색·의사결정 실행·배포 준비성 확인을 하나의 작업 흐름으로 연결한다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265176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20" b="1">
                <a:solidFill>
                  <a:srgbClr val="333333"/>
                </a:solidFill>
                <a:latin typeface="Malgun Gothic"/>
              </a:rPr>
              <a:t>사용자 작업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1280160" cy="438912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Feature</a:t>
            </a:r>
            <a:br/>
            <a:r>
              <a:rPr sz="720" b="1">
                <a:solidFill>
                  <a:srgbClr val="FFFFFF"/>
                </a:solidFill>
                <a:latin typeface="Malgun Gothic"/>
              </a:rPr>
              <a:t>Catalog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93391" y="1773936"/>
            <a:ext cx="356617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23160" y="1554480"/>
            <a:ext cx="1243584" cy="438912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Feature</a:t>
            </a:r>
            <a:br/>
            <a:r>
              <a:rPr sz="720" b="1">
                <a:solidFill>
                  <a:srgbClr val="FFFFFF"/>
                </a:solidFill>
                <a:latin typeface="Malgun Gothic"/>
              </a:rPr>
              <a:t>Detail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39896" y="1773936"/>
            <a:ext cx="347472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0520" y="1554480"/>
            <a:ext cx="1298448" cy="43891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Topology /</a:t>
            </a:r>
            <a:br/>
            <a:r>
              <a:rPr sz="720" b="1">
                <a:solidFill>
                  <a:srgbClr val="FFFFFF"/>
                </a:solidFill>
                <a:latin typeface="Malgun Gothic"/>
              </a:rPr>
              <a:t>BOM Edit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32120" y="1773936"/>
            <a:ext cx="384048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89320" y="1554480"/>
            <a:ext cx="1298448" cy="438912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Impact</a:t>
            </a:r>
            <a:br/>
            <a:r>
              <a:rPr sz="720" b="1">
                <a:solidFill>
                  <a:srgbClr val="FFFFFF"/>
                </a:solidFill>
                <a:latin typeface="Malgun Gothic"/>
              </a:rPr>
              <a:t>Analysis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60919" y="1773936"/>
            <a:ext cx="384049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18120" y="1554480"/>
            <a:ext cx="1353312" cy="438912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Release</a:t>
            </a:r>
            <a:br/>
            <a:r>
              <a:rPr sz="720" b="1">
                <a:solidFill>
                  <a:srgbClr val="FFFFFF"/>
                </a:solidFill>
                <a:latin typeface="Malgun Gothic"/>
              </a:rPr>
              <a:t>Readiness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44584" y="1773936"/>
            <a:ext cx="411480" cy="0"/>
          </a:xfrm>
          <a:prstGeom prst="line">
            <a:avLst/>
          </a:prstGeom>
          <a:ln w="12700">
            <a:solidFill>
              <a:srgbClr val="8B9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29216" y="1554480"/>
            <a:ext cx="1243584" cy="438912"/>
          </a:xfrm>
          <a:prstGeom prst="roundRect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Decision</a:t>
            </a:r>
            <a:br/>
            <a:r>
              <a:rPr sz="720" b="1">
                <a:solidFill>
                  <a:srgbClr val="FFFFFF"/>
                </a:solidFill>
                <a:latin typeface="Malgun Gothic"/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267712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algun Gothic"/>
              </a:rPr>
              <a:t>Registry 대표 화면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" y="2633472"/>
            <a:ext cx="4160520" cy="24140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2743200"/>
            <a:ext cx="3977639" cy="23774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60" b="1">
                <a:solidFill>
                  <a:srgbClr val="FFFFFF"/>
                </a:solidFill>
                <a:latin typeface="Malgun Gothic"/>
              </a:rPr>
              <a:t>Feature Topology Registry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" y="3090672"/>
            <a:ext cx="530352" cy="1810512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8096" y="3236976"/>
            <a:ext cx="384048" cy="73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096" y="3566160"/>
            <a:ext cx="384048" cy="7315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" y="3895344"/>
            <a:ext cx="384048" cy="7315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35024" y="3145536"/>
            <a:ext cx="3227832" cy="274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35024" y="3529584"/>
            <a:ext cx="1549907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94660" y="3529584"/>
            <a:ext cx="1549907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5024" y="4114800"/>
            <a:ext cx="3227832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175504"/>
            <a:ext cx="37033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입력/조회 화면은 Catalog와 Feature Detail을 중심으로 구성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267712"/>
            <a:ext cx="60350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Malgun Gothic"/>
              </a:rPr>
              <a:t>4대 화면 역할 정의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2633472"/>
            <a:ext cx="29077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74920" y="2633472"/>
            <a:ext cx="2907792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①  Dashboard / Catalog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2936" y="3063239"/>
            <a:ext cx="26517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60" b="1">
                <a:solidFill>
                  <a:srgbClr val="333333"/>
                </a:solidFill>
                <a:latin typeface="Malgun Gothic"/>
              </a:rPr>
              <a:t>전체 Feature 상태와 traceability health를 한눈에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02936" y="3392424"/>
            <a:ext cx="566928" cy="164592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UI 요소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1304" y="3374136"/>
            <a:ext cx="197510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550" b="0">
                <a:solidFill>
                  <a:srgbClr val="333333"/>
                </a:solidFill>
                <a:latin typeface="Malgun Gothic"/>
              </a:rPr>
              <a:t>검색 · 필터 · Lifecycle · Owner · Deploy Type · Health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02936" y="3758183"/>
            <a:ext cx="566928" cy="164592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61304" y="3739896"/>
            <a:ext cx="197510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550" b="0">
                <a:solidFill>
                  <a:srgbClr val="333333"/>
                </a:solidFill>
                <a:latin typeface="Malgun Gothic"/>
              </a:rPr>
              <a:t>Missing Traceability · High Risk Change · OTA Summary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02936" y="3703320"/>
            <a:ext cx="2651760" cy="201168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30952" y="3758183"/>
            <a:ext cx="329184" cy="91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06440" y="3758183"/>
            <a:ext cx="329184" cy="91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1928" y="3758183"/>
            <a:ext cx="329184" cy="91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47888" y="2633472"/>
            <a:ext cx="29077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47888" y="2633472"/>
            <a:ext cx="2907792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②  Feature Detail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3063239"/>
            <a:ext cx="26517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60" b="1">
                <a:solidFill>
                  <a:srgbClr val="333333"/>
                </a:solidFill>
                <a:latin typeface="Malgun Gothic"/>
              </a:rPr>
              <a:t>Feature ID 기준으로 Taxonomy·BOM·Topology·검증을 통합 조회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75904" y="3392424"/>
            <a:ext cx="566928" cy="164592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UI 요소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3374136"/>
            <a:ext cx="197510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550" b="0">
                <a:solidFill>
                  <a:srgbClr val="333333"/>
                </a:solidFill>
                <a:latin typeface="Malgun Gothic"/>
              </a:rPr>
              <a:t>Summary · BOM · Topology · Variant · Control · Supplier · Ops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75904" y="3758183"/>
            <a:ext cx="566928" cy="164592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34272" y="3739896"/>
            <a:ext cx="197510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550" b="0">
                <a:solidFill>
                  <a:srgbClr val="333333"/>
                </a:solidFill>
                <a:latin typeface="Malgun Gothic"/>
              </a:rPr>
              <a:t>Feature Master · 연결 Artifact · 경고 · Quick Action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75904" y="3703320"/>
            <a:ext cx="2651760" cy="201168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EA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03919" y="3758183"/>
            <a:ext cx="329184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79407" y="3758183"/>
            <a:ext cx="329184" cy="91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454896" y="3758183"/>
            <a:ext cx="329184" cy="91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074920" y="4224528"/>
            <a:ext cx="29077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74920" y="4224528"/>
            <a:ext cx="2907792" cy="310896"/>
          </a:xfrm>
          <a:prstGeom prst="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③  Impact Analysis Center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02936" y="4654296"/>
            <a:ext cx="26517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60" b="1">
                <a:solidFill>
                  <a:srgbClr val="333333"/>
                </a:solidFill>
                <a:latin typeface="Malgun Gothic"/>
              </a:rPr>
              <a:t>변경 대상을 입력하면 Topology 기반 영향 범위를 산출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02936" y="4983480"/>
            <a:ext cx="566928" cy="164592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UI 요소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61304" y="4965192"/>
            <a:ext cx="197510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550" b="0">
                <a:solidFill>
                  <a:srgbClr val="333333"/>
                </a:solidFill>
                <a:latin typeface="Malgun Gothic"/>
              </a:rPr>
              <a:t>Change Target · Impact Graph · Scope Filter · Export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02936" y="5349240"/>
            <a:ext cx="566928" cy="164592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61304" y="5330952"/>
            <a:ext cx="197510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550" b="0">
                <a:solidFill>
                  <a:srgbClr val="333333"/>
                </a:solidFill>
                <a:latin typeface="Malgun Gothic"/>
              </a:rPr>
              <a:t>Impacted Feature · SWC · ECU · API · Test · Supplier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02936" y="5294376"/>
            <a:ext cx="2651760" cy="201168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F8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330952" y="5349240"/>
            <a:ext cx="329184" cy="91440"/>
          </a:xfrm>
          <a:prstGeom prst="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806440" y="5349240"/>
            <a:ext cx="329184" cy="91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8" y="5349240"/>
            <a:ext cx="329184" cy="91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47888" y="4224528"/>
            <a:ext cx="290779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47888" y="4224528"/>
            <a:ext cx="2907792" cy="310896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④  Release Readiness Center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75904" y="4654296"/>
            <a:ext cx="265176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660" b="1">
                <a:solidFill>
                  <a:srgbClr val="333333"/>
                </a:solidFill>
                <a:latin typeface="Malgun Gothic"/>
              </a:rPr>
              <a:t>Production 활성화 전 9개 Gate 통과 여부와 Gap을 확인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75904" y="4983480"/>
            <a:ext cx="566928" cy="164592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UI 요소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4272" y="4965192"/>
            <a:ext cx="1975104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550" b="0">
                <a:solidFill>
                  <a:srgbClr val="333333"/>
                </a:solidFill>
                <a:latin typeface="Malgun Gothic"/>
              </a:rPr>
              <a:t>Gate Matrix · Evidence Status · Approver · Blocking Issue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75904" y="5349240"/>
            <a:ext cx="566928" cy="164592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4272" y="5330952"/>
            <a:ext cx="197510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550" b="0">
                <a:solidFill>
                  <a:srgbClr val="333333"/>
                </a:solidFill>
                <a:latin typeface="Malgun Gothic"/>
              </a:rPr>
              <a:t>PASS/PENDING/FAIL · Missing Evidence · Release Decision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75904" y="5294376"/>
            <a:ext cx="2651760" cy="201168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F0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503919" y="5349240"/>
            <a:ext cx="329184" cy="9144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979407" y="5349240"/>
            <a:ext cx="329184" cy="91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54896" y="5349240"/>
            <a:ext cx="329184" cy="9144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03504" y="5522976"/>
            <a:ext cx="4133087" cy="27432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8D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30" b="1">
                <a:solidFill>
                  <a:srgbClr val="002060"/>
                </a:solidFill>
                <a:latin typeface="Malgun Gothic"/>
              </a:rPr>
              <a:t>Quick Actions: Run Impact · Derive Verification · Deploy Decision · Create CR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핵심 : UI는 Catalog · Detail · Impact · Release Readiness를 중심으로 Feature 기준정보 관리와 의사결정 실행을 하나의 흐름으로 제공한다.</a:t>
            </a:r>
          </a:p>
        </p:txBody>
      </p:sp>
      <p:sp>
        <p:nvSpPr>
          <p:cNvPr id="8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요구사항 속성; OMG ReqIF Metadata; Mutuus Lab Registry UI 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14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End-to-End Scenario — BDC Policy Control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8096"/>
            <a:ext cx="10744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002060"/>
                </a:solidFill>
                <a:latin typeface="Malgun Gothic"/>
              </a:rPr>
              <a:t>FEAT-BDC-001 하나로 Feature Master → Topology → Decision → Gate → Operations 흐름을 검증한다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188720"/>
            <a:ext cx="10771632" cy="384048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002060"/>
                </a:solidFill>
                <a:latin typeface="Malgun Gothic"/>
              </a:rPr>
              <a:t>Case: FEAT-BDC-001  |  BDC Policy Control  |  L2 Vehicle/System Feature  |  Runtime Control Feature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755648"/>
            <a:ext cx="2971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" y="1755648"/>
            <a:ext cx="297180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Malgun Gothic"/>
              </a:rPr>
              <a:t>1  Feature 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176272"/>
            <a:ext cx="1060704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Display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10512" y="2176272"/>
            <a:ext cx="1591056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FEAT-BDC-001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423160"/>
            <a:ext cx="1060704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10512" y="2423160"/>
            <a:ext cx="1591056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BDC Policy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2670048"/>
            <a:ext cx="1060704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Level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10512" y="2670048"/>
            <a:ext cx="1591056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L2 Vehicle/System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916936"/>
            <a:ext cx="1060704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10512" y="2916936"/>
            <a:ext cx="1591056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Body Platform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3163824"/>
            <a:ext cx="1060704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Lifecycle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10512" y="3163824"/>
            <a:ext cx="1591056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Approved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3410712"/>
            <a:ext cx="1060704" cy="228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Safety / 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10512" y="3410712"/>
            <a:ext cx="1591056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QM / Medium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30752" y="1755648"/>
            <a:ext cx="3675887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30752" y="1755648"/>
            <a:ext cx="3675887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Malgun Gothic"/>
              </a:rPr>
              <a:t>2  Topology 연결 요약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2331720"/>
            <a:ext cx="658368" cy="438912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70" b="1">
                <a:solidFill>
                  <a:srgbClr val="FFFFFF"/>
                </a:solidFill>
                <a:latin typeface="Malgun Gothic"/>
              </a:rPr>
              <a:t>Req</a:t>
            </a:r>
            <a:br/>
            <a:r>
              <a:rPr sz="570" b="1">
                <a:solidFill>
                  <a:srgbClr val="FFFFFF"/>
                </a:solidFill>
                <a:latin typeface="Malgun Gothic"/>
              </a:rPr>
              <a:t>SYS-BODY-001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80559" y="2551176"/>
            <a:ext cx="256033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791456" y="2331720"/>
            <a:ext cx="658368" cy="43891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70" b="1">
                <a:solidFill>
                  <a:srgbClr val="FFFFFF"/>
                </a:solidFill>
                <a:latin typeface="Malgun Gothic"/>
              </a:rPr>
              <a:t>SWC</a:t>
            </a:r>
            <a:br/>
            <a:r>
              <a:rPr sz="570" b="1">
                <a:solidFill>
                  <a:srgbClr val="FFFFFF"/>
                </a:solidFill>
                <a:latin typeface="Malgun Gothic"/>
              </a:rPr>
              <a:t>BDC-ADAPTER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40096" y="2551176"/>
            <a:ext cx="329184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724144" y="2331720"/>
            <a:ext cx="658368" cy="438912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70" b="1">
                <a:solidFill>
                  <a:srgbClr val="FFFFFF"/>
                </a:solidFill>
                <a:latin typeface="Malgun Gothic"/>
              </a:rPr>
              <a:t>ECU</a:t>
            </a:r>
            <a:br/>
            <a:r>
              <a:rPr sz="570" b="1">
                <a:solidFill>
                  <a:srgbClr val="FFFFFF"/>
                </a:solidFill>
                <a:latin typeface="Malgun Gothic"/>
              </a:rPr>
              <a:t>ECU-BDC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72783" y="2551176"/>
            <a:ext cx="182881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10528" y="2331720"/>
            <a:ext cx="658368" cy="438912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70" b="1">
                <a:solidFill>
                  <a:srgbClr val="FFFFFF"/>
                </a:solidFill>
                <a:latin typeface="Malgun Gothic"/>
              </a:rPr>
              <a:t>API</a:t>
            </a:r>
            <a:br/>
            <a:r>
              <a:rPr sz="570" b="1">
                <a:solidFill>
                  <a:srgbClr val="FFFFFF"/>
                </a:solidFill>
                <a:latin typeface="Malgun Gothic"/>
              </a:rPr>
              <a:t>BDC-POLICY v1.4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68496" y="2999232"/>
            <a:ext cx="877824" cy="438912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Variant</a:t>
            </a:r>
            <a:br/>
            <a:r>
              <a:rPr sz="560" b="1">
                <a:solidFill>
                  <a:srgbClr val="FFFFFF"/>
                </a:solidFill>
                <a:latin typeface="Malgun Gothic"/>
              </a:rPr>
              <a:t>KR/EU · MY2027+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00016" y="3218687"/>
            <a:ext cx="301752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74920" y="2999232"/>
            <a:ext cx="877824" cy="438912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Control</a:t>
            </a:r>
            <a:br/>
            <a:r>
              <a:rPr sz="560" b="1">
                <a:solidFill>
                  <a:srgbClr val="FFFFFF"/>
                </a:solidFill>
                <a:latin typeface="Malgun Gothic"/>
              </a:rPr>
              <a:t>POLICY-BDC-EN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806440" y="3218687"/>
            <a:ext cx="292608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172200" y="2999232"/>
            <a:ext cx="877824" cy="43891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60" b="1">
                <a:solidFill>
                  <a:srgbClr val="FFFFFF"/>
                </a:solidFill>
                <a:latin typeface="Malgun Gothic"/>
              </a:rPr>
              <a:t>Verify</a:t>
            </a:r>
            <a:br/>
            <a:r>
              <a:rPr sz="560" b="1">
                <a:solidFill>
                  <a:srgbClr val="FFFFFF"/>
                </a:solidFill>
                <a:latin typeface="Malgun Gothic"/>
              </a:rPr>
              <a:t>HIL / RB / TEL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8496" y="3529584"/>
            <a:ext cx="3017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20" b="0">
                <a:solidFill>
                  <a:srgbClr val="333333"/>
                </a:solidFill>
                <a:latin typeface="Malgun Gothic"/>
              </a:rPr>
              <a:t>Req → SWC → ECU → API / Variant → Control → Verification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07808" y="1755648"/>
            <a:ext cx="3749039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07808" y="1755648"/>
            <a:ext cx="3749039" cy="310896"/>
          </a:xfrm>
          <a:prstGeom prst="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Malgun Gothic"/>
              </a:rPr>
              <a:t>3  Deployment Decision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2194560"/>
            <a:ext cx="1417320" cy="402336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Policy-only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2176272"/>
            <a:ext cx="155448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40" b="1">
                <a:solidFill>
                  <a:srgbClr val="2E7D32"/>
                </a:solidFill>
                <a:latin typeface="Malgun Gothic"/>
              </a:rPr>
              <a:t>Confidence: High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27264" y="2670048"/>
            <a:ext cx="164592" cy="16459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2651760"/>
            <a:ext cx="2926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SWC 코드 변경 없음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27264" y="2916936"/>
            <a:ext cx="164592" cy="16459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2898648"/>
            <a:ext cx="2926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API Contract 변경 없음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27264" y="3163824"/>
            <a:ext cx="164592" cy="16459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008" y="3145536"/>
            <a:ext cx="2926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기존 Adapter가 Policy Apply 지원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27264" y="3410712"/>
            <a:ext cx="164592" cy="164592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58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3392424"/>
            <a:ext cx="2926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Runtime Context 추가 없음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" y="4041648"/>
            <a:ext cx="2926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20" b="1">
                <a:solidFill>
                  <a:srgbClr val="333333"/>
                </a:solidFill>
                <a:latin typeface="Malgun Gothic"/>
              </a:rPr>
              <a:t>E2E 의사결정 흐름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4480560"/>
            <a:ext cx="987552" cy="56692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1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Change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Request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700784" y="4764024"/>
            <a:ext cx="493776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2267712" y="4480560"/>
            <a:ext cx="987552" cy="566928"/>
          </a:xfrm>
          <a:prstGeom prst="round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2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Topology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Lookup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328416" y="4764024"/>
            <a:ext cx="493775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3895344" y="4480560"/>
            <a:ext cx="987552" cy="56692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3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Impact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Scope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956048" y="4764024"/>
            <a:ext cx="493776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522976" y="4480560"/>
            <a:ext cx="987552" cy="566928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4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Deploy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Decision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583680" y="4764024"/>
            <a:ext cx="493776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7150608" y="4480560"/>
            <a:ext cx="987552" cy="566928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5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Required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Gates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211312" y="4764024"/>
            <a:ext cx="493776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778240" y="4480560"/>
            <a:ext cx="987552" cy="566928"/>
          </a:xfrm>
          <a:prstGeom prst="roundRect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50" b="1">
                <a:solidFill>
                  <a:srgbClr val="FFFFFF"/>
                </a:solidFill>
                <a:latin typeface="Malgun Gothic"/>
              </a:rPr>
              <a:t>6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Monitor /</a:t>
            </a:r>
            <a:br/>
            <a:r>
              <a:rPr sz="650" b="1">
                <a:solidFill>
                  <a:srgbClr val="FFFFFF"/>
                </a:solidFill>
                <a:latin typeface="Malgun Gothic"/>
              </a:rPr>
              <a:t>Audit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49840" y="4389120"/>
            <a:ext cx="987552" cy="749808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2E7D32"/>
                </a:solidFill>
                <a:latin typeface="Malgun Gothic"/>
              </a:rPr>
              <a:t>Result</a:t>
            </a:r>
            <a:br/>
            <a:r>
              <a:rPr sz="700" b="1">
                <a:solidFill>
                  <a:srgbClr val="2E7D32"/>
                </a:solidFill>
                <a:latin typeface="Malgun Gothic"/>
              </a:rPr>
              <a:t>Policy-only</a:t>
            </a:r>
            <a:br/>
            <a:r>
              <a:rPr sz="700" b="1">
                <a:solidFill>
                  <a:srgbClr val="2E7D32"/>
                </a:solidFill>
                <a:latin typeface="Malgun Gothic"/>
              </a:rPr>
              <a:t>+ 4 Gates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285232"/>
            <a:ext cx="4663440" cy="493776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7C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6A4C93"/>
                </a:solidFill>
                <a:latin typeface="Malgun Gothic"/>
              </a:rPr>
              <a:t>필요 Gate: Policy Approval · Variant Rule Review · Rollback Test · Telemetry Validation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04688" y="5285232"/>
            <a:ext cx="5212080" cy="493776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E8C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E87B2C"/>
                </a:solidFill>
                <a:latin typeface="Malgun Gothic"/>
              </a:rPr>
              <a:t>영향 범위: 2 Features · 1 SWC · 1 Supplier · 3 Test Cases · Sec Medium 재검토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핵심 : BDC Policy Control은 SWC/API 변경 없이 Policy-only 배포가 가능하며, 4개 Gate 통과 후 실차 적용·모니터링으로 연결된다.</a:t>
            </a:r>
          </a:p>
        </p:txBody>
      </p:sp>
      <p:sp>
        <p:nvSpPr>
          <p:cNvPr id="6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BDC 예시; ISO/IEC/IEEE 29148:2018; OpenFeature Spec; ISO 24089:2023.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End-to-End Scenario — BDC Policy Control Decision Flow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68096"/>
            <a:ext cx="107442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70" b="0">
                <a:solidFill>
                  <a:srgbClr val="002060"/>
                </a:solidFill>
                <a:latin typeface="Malgun Gothic"/>
              </a:rPr>
              <a:t>변경 요청이 발생하면 Topology 조회 → 영향도 분석 → 검증범위 도출 → 배포방식 판단 → Gate 통과 → 모니터링으로 이어진다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07008"/>
            <a:ext cx="10698480" cy="39319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69" b="1">
                <a:solidFill>
                  <a:srgbClr val="002060"/>
                </a:solidFill>
                <a:latin typeface="Malgun Gothic"/>
              </a:rPr>
              <a:t>Scenario: FEAT-BDC-001의 Targeting Rule 변경 요청 — SWC/API 변경 없이 Policy 조건만 변경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3" y="1975104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변경 요청
접수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Targeting Rule 변경
Policy 조건만 변경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2487168"/>
            <a:ext cx="91439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11095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84248" y="1975104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432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Topology
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7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BOM · 관계 · Variant
Control Point 탐색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63823" y="2487168"/>
            <a:ext cx="91441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91840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64992" y="1975104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영향도
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2 Features · 1 SWC
1 Supplier · 3 Tests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44568" y="2487168"/>
            <a:ext cx="91440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72584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45736" y="1975104"/>
            <a:ext cx="274320" cy="274320"/>
          </a:xfrm>
          <a:prstGeom prst="ellipse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검증범위
도출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HIL-BDC-001
OTA-RB-002 · TEL-BDC-001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25312" y="2487168"/>
            <a:ext cx="91440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53328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26480" y="1975104"/>
            <a:ext cx="274320" cy="27432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배포방식
판단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SWC/API 변경 없음
Policy-only 확정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06056" y="2487168"/>
            <a:ext cx="91440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34071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07223" y="1975104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6407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협력사
책임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52944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SUP-BDC-A 범위
API Contract 변경 없음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86799" y="2487168"/>
            <a:ext cx="91441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814816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887968" y="1975104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Gate
통과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33688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Policy · Variant
Rollback · Telemetry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067544" y="2487168"/>
            <a:ext cx="91440" cy="0"/>
          </a:xfrm>
          <a:prstGeom prst="line">
            <a:avLst/>
          </a:prstGeom>
          <a:ln w="13970">
            <a:solidFill>
              <a:srgbClr val="9A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195560" y="1865376"/>
            <a:ext cx="1225296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68712" y="1975104"/>
            <a:ext cx="274320" cy="274320"/>
          </a:xfrm>
          <a:prstGeom prst="ellipse">
            <a:avLst/>
          </a:prstGeom>
          <a:solidFill>
            <a:srgbClr val="B72B2B"/>
          </a:solidFill>
          <a:ln w="12700">
            <a:solidFill>
              <a:srgbClr val="B7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97896" y="1938528"/>
            <a:ext cx="694944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10" b="1">
                <a:solidFill>
                  <a:srgbClr val="002060"/>
                </a:solidFill>
                <a:latin typeface="Malgun Gothic"/>
              </a:rPr>
              <a:t>배포 ·
모니터링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4432" y="2505456"/>
            <a:ext cx="987552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70" b="0">
                <a:solidFill>
                  <a:srgbClr val="333333"/>
                </a:solidFill>
                <a:latin typeface="Malgun Gothic"/>
              </a:rPr>
              <a:t>Policy Package 배포
98.7% 활성화 성공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3429000"/>
            <a:ext cx="5074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" y="3429000"/>
            <a:ext cx="5074920" cy="310896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Decision Result Summary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" y="3895344"/>
            <a:ext cx="10972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변경 유형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83664" y="3895344"/>
            <a:ext cx="35661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Targeting Rule 변경 — Policy 조건만 변경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" y="4178807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배포 방식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83664" y="4178807"/>
            <a:ext cx="3566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Policy-only Deploy — Binary OTA 불필요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" y="4462271"/>
            <a:ext cx="10972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영향 범위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83664" y="4462271"/>
            <a:ext cx="35661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2 Features · 1 SWC · 1 Supplier · 3 Test Cases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" y="4745735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필요 Gate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83664" y="4745735"/>
            <a:ext cx="3566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Policy Approval · Variant Review · Rollback Test · Telemetry Validation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" y="5029199"/>
            <a:ext cx="10972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1">
                <a:solidFill>
                  <a:srgbClr val="333333"/>
                </a:solidFill>
                <a:latin typeface="Malgun Gothic"/>
              </a:rPr>
              <a:t>운영 결과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83664" y="5029199"/>
            <a:ext cx="35661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640" b="0">
                <a:solidFill>
                  <a:srgbClr val="333333"/>
                </a:solidFill>
                <a:latin typeface="Malgun Gothic"/>
              </a:rPr>
              <a:t>98.7% Activation Success · Audit Log 기록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25312" y="3429000"/>
            <a:ext cx="5349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25312" y="3429000"/>
            <a:ext cx="534924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판단 로직 — 왜 Policy-only인가?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63056" y="3886200"/>
            <a:ext cx="219456" cy="1828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3867912"/>
            <a:ext cx="1691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80" b="1">
                <a:solidFill>
                  <a:srgbClr val="333333"/>
                </a:solidFill>
                <a:latin typeface="Malgun Gothic"/>
              </a:rPr>
              <a:t>SWC 변경 없음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3867912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Binary OTA 조건 미충족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63056" y="4215384"/>
            <a:ext cx="219456" cy="1828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73952" y="4197096"/>
            <a:ext cx="1691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80" b="1">
                <a:solidFill>
                  <a:srgbClr val="333333"/>
                </a:solidFill>
                <a:latin typeface="Malgun Gothic"/>
              </a:rPr>
              <a:t>API Contract 변경 없음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4197096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Supplier 재통합 범위 제한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63056" y="4544568"/>
            <a:ext cx="219456" cy="1828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3952" y="4526280"/>
            <a:ext cx="1691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80" b="1">
                <a:solidFill>
                  <a:srgbClr val="333333"/>
                </a:solidFill>
                <a:latin typeface="Malgun Gothic"/>
              </a:rPr>
              <a:t>Runtime Context 지원됨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4526280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차량 내부 Evaluator 수정 불필요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63056" y="4873752"/>
            <a:ext cx="219456" cy="18288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73952" y="4855464"/>
            <a:ext cx="1691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80" b="1">
                <a:solidFill>
                  <a:srgbClr val="333333"/>
                </a:solidFill>
                <a:latin typeface="Malgun Gothic"/>
              </a:rPr>
              <a:t>Rollback Plan 정의됨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4855464"/>
            <a:ext cx="25603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Malgun Gothic"/>
              </a:rPr>
              <a:t>운영 리스크 복구 가능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72200" y="5120640"/>
            <a:ext cx="4773168" cy="219456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C8E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60" b="1">
                <a:solidFill>
                  <a:srgbClr val="2E7D32"/>
                </a:solidFill>
                <a:latin typeface="Malgun Gothic"/>
              </a:rPr>
              <a:t>Decision: Policy Package 배포 후 Telemetry로 활성화 성공률과 실패 이벤트를 모니터링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6384" y="5669280"/>
            <a:ext cx="2423160" cy="347472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E8C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E87B2C"/>
                </a:solidFill>
                <a:latin typeface="Malgun Gothic"/>
              </a:rPr>
              <a:t>Binary OTA 대비</a:t>
            </a:r>
            <a:br/>
            <a:r>
              <a:rPr sz="720" b="1">
                <a:solidFill>
                  <a:srgbClr val="E87B2C"/>
                </a:solidFill>
                <a:latin typeface="Malgun Gothic"/>
              </a:rPr>
              <a:t>검증·배포 간소화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56432" y="5669280"/>
            <a:ext cx="2423160" cy="347472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7C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6A4C93"/>
                </a:solidFill>
                <a:latin typeface="Malgun Gothic"/>
              </a:rPr>
              <a:t>Feature Topology 기반</a:t>
            </a:r>
            <a:br/>
            <a:r>
              <a:rPr sz="720" b="1">
                <a:solidFill>
                  <a:srgbClr val="6A4C93"/>
                </a:solidFill>
                <a:latin typeface="Malgun Gothic"/>
              </a:rPr>
              <a:t>사전 영향도 산출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26480" y="5669280"/>
            <a:ext cx="2423160" cy="34747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1F4E79"/>
                </a:solidFill>
                <a:latin typeface="Malgun Gothic"/>
              </a:rPr>
              <a:t>Gate 통과 후</a:t>
            </a:r>
            <a:br/>
            <a:r>
              <a:rPr sz="720" b="1">
                <a:solidFill>
                  <a:srgbClr val="1F4E79"/>
                </a:solidFill>
                <a:latin typeface="Malgun Gothic"/>
              </a:rPr>
              <a:t>Policy Package 배포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96528" y="5669280"/>
            <a:ext cx="2148840" cy="347472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E8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B72B2B"/>
                </a:solidFill>
                <a:latin typeface="Malgun Gothic"/>
              </a:rPr>
              <a:t>운영 Telemetry</a:t>
            </a:r>
            <a:br/>
            <a:r>
              <a:rPr sz="720" b="1">
                <a:solidFill>
                  <a:srgbClr val="B72B2B"/>
                </a:solidFill>
                <a:latin typeface="Malgun Gothic"/>
              </a:rPr>
              <a:t>Audit 증적화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핵심 : Feature Topology가 구축되면 변경 요청부터 배포·모니터링까지 데이터 기반 의사결정 파이프라인으로 자동화된다.</a:t>
            </a:r>
          </a:p>
        </p:txBody>
      </p:sp>
      <p:sp>
        <p:nvSpPr>
          <p:cNvPr id="8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BDC 예시; OpenFeature Spec; Unleash Rollout/Monitoring Docs; ISO 24089:2023.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03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최종 결론 — Feature Topology 설계 원칙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795528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58952"/>
            <a:ext cx="107442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60" b="0">
                <a:solidFill>
                  <a:srgbClr val="002060"/>
                </a:solidFill>
                <a:latin typeface="Malgun Gothic"/>
              </a:rPr>
              <a:t>Feature Topology는 Feature ID 기준정보를 통해 변경 영향도 · 검증범위 · 배포방식 · 책임범위 · 복구경로를 사전에 계산하는 설계 체계이다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744200" cy="4389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002060"/>
                </a:solidFill>
                <a:latin typeface="Malgun Gothic"/>
              </a:rPr>
              <a:t>결론: Feature Topology는 ALM · PLM · Feature Flag 도구를 대체하는 것이 아니라, 이들을 Feature ID로 연결하는 기준정보 계층이다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002060"/>
                </a:solidFill>
                <a:latin typeface="Malgun Gothic"/>
              </a:rPr>
              <a:t>설계 핵심 4계층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084831"/>
            <a:ext cx="2606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2194560"/>
            <a:ext cx="301752" cy="301752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19456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002060"/>
                </a:solidFill>
                <a:latin typeface="Malgun Gothic"/>
              </a:rPr>
              <a:t>Feature Taxonomy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615184"/>
            <a:ext cx="227685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50" b="0">
                <a:solidFill>
                  <a:srgbClr val="333333"/>
                </a:solidFill>
                <a:latin typeface="Malgun Gothic"/>
              </a:rPr>
              <a:t>기능을 L0~L5로
분류·계층화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2596896"/>
            <a:ext cx="128016" cy="0"/>
          </a:xfrm>
          <a:prstGeom prst="line">
            <a:avLst/>
          </a:prstGeom>
          <a:ln w="12700">
            <a:solidFill>
              <a:srgbClr val="B0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65576" y="2084831"/>
            <a:ext cx="2606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5304" y="2194560"/>
            <a:ext cx="301752" cy="30175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219456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002060"/>
                </a:solidFill>
                <a:latin typeface="Malgun Gothic"/>
              </a:rPr>
              <a:t>Feature BOM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615184"/>
            <a:ext cx="227685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50" b="0">
                <a:solidFill>
                  <a:srgbClr val="333333"/>
                </a:solidFill>
                <a:latin typeface="Malgun Gothic"/>
              </a:rPr>
              <a:t>하나의 Feature를
11개 영역으로 구조화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8" y="2596896"/>
            <a:ext cx="128016" cy="0"/>
          </a:xfrm>
          <a:prstGeom prst="line">
            <a:avLst/>
          </a:prstGeom>
          <a:ln w="12700">
            <a:solidFill>
              <a:srgbClr val="B0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72784" y="2084831"/>
            <a:ext cx="2606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82512" y="2194560"/>
            <a:ext cx="301752" cy="301752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19456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002060"/>
                </a:solidFill>
                <a:latin typeface="Malgun Gothic"/>
              </a:rPr>
              <a:t>Feature Topology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615184"/>
            <a:ext cx="227685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50" b="0">
                <a:solidFill>
                  <a:srgbClr val="333333"/>
                </a:solidFill>
                <a:latin typeface="Malgun Gothic"/>
              </a:rPr>
              <a:t>BOM 구성요소 간
관계를 그래프로 연결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06256" y="2596896"/>
            <a:ext cx="128016" cy="0"/>
          </a:xfrm>
          <a:prstGeom prst="line">
            <a:avLst/>
          </a:prstGeom>
          <a:ln w="12700">
            <a:solidFill>
              <a:srgbClr val="B0B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79992" y="2084831"/>
            <a:ext cx="2606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89720" y="2194560"/>
            <a:ext cx="301752" cy="3017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19456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002060"/>
                </a:solidFill>
                <a:latin typeface="Malgun Gothic"/>
              </a:rPr>
              <a:t>Topology Registry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2615184"/>
            <a:ext cx="2276856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50" b="0">
                <a:solidFill>
                  <a:srgbClr val="333333"/>
                </a:solidFill>
                <a:latin typeface="Malgun Gothic"/>
              </a:rPr>
              <a:t>기준정보를 저장·조회·분석하는
Source of Truth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456432"/>
            <a:ext cx="10149840" cy="47548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Feature ID = 요구사항 · SWC · ECU · API · Variant · Policy · Test · Supplier · Telemetry를 연결하는 공통 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51376"/>
            <a:ext cx="29260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002060"/>
                </a:solidFill>
                <a:latin typeface="Malgun Gothic"/>
              </a:rPr>
              <a:t>자동화되는 의사결정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443984"/>
            <a:ext cx="1993392" cy="96012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1F4E79"/>
                </a:solidFill>
                <a:latin typeface="Malgun Gothic"/>
              </a:rPr>
              <a:t>Impact
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변경 시 영향받는
Feature·SWC·API 산출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16352" y="4443984"/>
            <a:ext cx="1993392" cy="960120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2E7D32"/>
                </a:solidFill>
                <a:latin typeface="Malgun Gothic"/>
              </a:rPr>
              <a:t>Verification
Scope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3512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조건별 필수 Test와
Evidence Gap 도출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92624" y="4443984"/>
            <a:ext cx="1993392" cy="960120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02352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E87B2C"/>
                </a:solidFill>
                <a:latin typeface="Malgun Gothic"/>
              </a:rPr>
              <a:t>Deployment
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9784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Binary OTA vs
Policy-only 판단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68896" y="4443984"/>
            <a:ext cx="1993392" cy="960120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8624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6A4C93"/>
                </a:solidFill>
                <a:latin typeface="Malgun Gothic"/>
              </a:rPr>
              <a:t>Supplier
Responsibility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06056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협력사 기능·API·검증
책임범위 추적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45168" y="4443984"/>
            <a:ext cx="1993392" cy="960120"/>
          </a:xfrm>
          <a:prstGeom prst="roundRect">
            <a:avLst/>
          </a:prstGeom>
          <a:solidFill>
            <a:srgbClr val="FAEAEA"/>
          </a:solidFill>
          <a:ln w="12700">
            <a:solidFill>
              <a:srgbClr val="D3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54896" y="4553712"/>
            <a:ext cx="1773936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760" b="1">
                <a:solidFill>
                  <a:srgbClr val="B72B2B"/>
                </a:solidFill>
                <a:latin typeface="Malgun Gothic"/>
              </a:rPr>
              <a:t>Operations
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2328" y="4956048"/>
            <a:ext cx="171907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590" b="0">
                <a:solidFill>
                  <a:srgbClr val="333333"/>
                </a:solidFill>
                <a:latin typeface="Malgun Gothic"/>
              </a:rPr>
              <a:t>Telemetry·Audit·Incident
운영 증적화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5641848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1F4E79"/>
                </a:solidFill>
                <a:latin typeface="Malgun Gothic"/>
              </a:rPr>
              <a:t>Flag ≠ Feature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72968" y="5641848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2E86AB"/>
                </a:solidFill>
                <a:latin typeface="Malgun Gothic"/>
              </a:rPr>
              <a:t>Variant ≠ Control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50992" y="5641848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E87B2C"/>
                </a:solidFill>
                <a:latin typeface="Malgun Gothic"/>
              </a:rPr>
              <a:t>Policy-only ≠ Binary OTA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9016" y="5641848"/>
            <a:ext cx="260604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2E7D32"/>
                </a:solidFill>
                <a:latin typeface="Malgun Gothic"/>
              </a:rPr>
              <a:t>Released Feature → Evidence 필수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FFFFFF"/>
                </a:solidFill>
                <a:latin typeface="Malgun Gothic"/>
              </a:rPr>
              <a:t>핵심 : Taxonomy · BOM · Topology · Registry를 기준정보화하면 SDV Feature 운영은 경험 의존이 아니라 데이터 기반 의사결정 체계로 전환된다.</a:t>
            </a:r>
          </a:p>
        </p:txBody>
      </p:sp>
      <p:sp>
        <p:nvSpPr>
          <p:cNvPr id="5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SysML 2.0; OMG ReqIF 1.2; OpenFeature Spec; Mutuus Lab 종합 분석.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>
                <a:solidFill>
                  <a:srgbClr val="FFFFFF"/>
                </a:solidFill>
                <a:latin typeface="Malgun Gothic"/>
              </a:rPr>
              <a:t>Appendix — 상세 설계 구성</a:t>
            </a:r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502920" y="795528"/>
            <a:ext cx="36576" cy="29260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758952"/>
            <a:ext cx="107442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20" b="0">
                <a:solidFill>
                  <a:srgbClr val="002060"/>
                </a:solidFill>
                <a:latin typeface="Malgun Gothic"/>
              </a:rPr>
              <a:t>본문은 Feature Topology의 핵심 논리를 설명하고, Appendix는 Gate · Governance · UI · PoC · FAQ까지 상세 설계를 완결한다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188720"/>
            <a:ext cx="10744200" cy="4389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C9D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19" b="1">
                <a:solidFill>
                  <a:srgbClr val="002060"/>
                </a:solidFill>
                <a:latin typeface="Malgun Gothic"/>
              </a:rPr>
              <a:t>Appendix 역할: 발표 중 질문이 나오는 항목을 즉시 열람할 수 있는 상세 설계·검증 근거 패키지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28346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002060"/>
                </a:solidFill>
                <a:latin typeface="Malgun Gothic"/>
              </a:rPr>
              <a:t>본문에서 확정한 설계 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21408"/>
            <a:ext cx="2697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249424"/>
            <a:ext cx="274320" cy="2743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12848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Malgun Gothic"/>
              </a:rPr>
              <a:t>Feature ID 기준정보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70" b="0">
                <a:solidFill>
                  <a:srgbClr val="333333"/>
                </a:solidFill>
                <a:latin typeface="Malgun Gothic"/>
              </a:rPr>
              <a:t>Definition · Taxonomy · BOM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29968" y="2670048"/>
            <a:ext cx="0" cy="173736"/>
          </a:xfrm>
          <a:prstGeom prst="line">
            <a:avLst/>
          </a:prstGeom>
          <a:ln w="11430">
            <a:solidFill>
              <a:srgbClr val="B2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2834639"/>
            <a:ext cx="2697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2962656"/>
            <a:ext cx="274320" cy="2743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26079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Malgun Gothic"/>
              </a:rPr>
              <a:t>관계 그래프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36391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70" b="0">
                <a:solidFill>
                  <a:srgbClr val="333333"/>
                </a:solidFill>
                <a:latin typeface="Malgun Gothic"/>
              </a:rPr>
              <a:t>Modeling · Topology · Registry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29968" y="3383279"/>
            <a:ext cx="0" cy="173736"/>
          </a:xfrm>
          <a:prstGeom prst="line">
            <a:avLst/>
          </a:prstGeom>
          <a:ln w="11430">
            <a:solidFill>
              <a:srgbClr val="B2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3547872"/>
            <a:ext cx="2697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3675887"/>
            <a:ext cx="274320" cy="274320"/>
          </a:xfrm>
          <a:prstGeom prst="ellipse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639312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Malgun Gothic"/>
              </a:rPr>
              <a:t>운영 판단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849624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70" b="0">
                <a:solidFill>
                  <a:srgbClr val="333333"/>
                </a:solidFill>
                <a:latin typeface="Malgun Gothic"/>
              </a:rPr>
              <a:t>Runtime · Deployment · Operations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029968" y="4096511"/>
            <a:ext cx="0" cy="173737"/>
          </a:xfrm>
          <a:prstGeom prst="line">
            <a:avLst/>
          </a:prstGeom>
          <a:ln w="11430">
            <a:solidFill>
              <a:srgbClr val="B2BE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4261104"/>
            <a:ext cx="26974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4389120"/>
            <a:ext cx="274320" cy="274320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352544"/>
            <a:ext cx="20116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1">
                <a:solidFill>
                  <a:srgbClr val="002060"/>
                </a:solidFill>
                <a:latin typeface="Malgun Gothic"/>
              </a:rPr>
              <a:t>자동화 엔진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562856"/>
            <a:ext cx="201168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570" b="0">
                <a:solidFill>
                  <a:srgbClr val="333333"/>
                </a:solidFill>
                <a:latin typeface="Malgun Gothic"/>
              </a:rPr>
              <a:t>Impact · Verification · Deploy · Supplier</a:t>
            </a:r>
          </a:p>
        </p:txBody>
      </p:sp>
      <p:sp>
        <p:nvSpPr>
          <p:cNvPr id="31" name="Oval 30"/>
          <p:cNvSpPr/>
          <p:nvPr/>
        </p:nvSpPr>
        <p:spPr>
          <a:xfrm>
            <a:off x="3730752" y="2953512"/>
            <a:ext cx="548640" cy="54864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3566160"/>
            <a:ext cx="10972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30" b="1">
                <a:solidFill>
                  <a:srgbClr val="002060"/>
                </a:solidFill>
                <a:latin typeface="Malgun Gothic"/>
              </a:rPr>
              <a:t>상세 설계로 확장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1810512"/>
            <a:ext cx="292608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40" b="1">
                <a:solidFill>
                  <a:srgbClr val="002060"/>
                </a:solidFill>
                <a:latin typeface="Malgun Gothic"/>
              </a:rPr>
              <a:t>Appendix 상세 설계 묶음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2121408"/>
            <a:ext cx="3127248" cy="1353312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64024" y="2267712"/>
            <a:ext cx="475488" cy="310896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A–C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249424"/>
            <a:ext cx="21488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1">
                <a:solidFill>
                  <a:srgbClr val="1F4E79"/>
                </a:solidFill>
                <a:latin typeface="Malgun Gothic"/>
              </a:rPr>
              <a:t>Gate · Governance · 도입 효과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88336"/>
            <a:ext cx="2697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Malgun Gothic"/>
              </a:rPr>
              <a:t>Release Readiness 9 Gate
Lifecycle &amp; Governance
Before / After 비교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1" y="2121408"/>
            <a:ext cx="3127248" cy="1353312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74736" y="2267712"/>
            <a:ext cx="475488" cy="310896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D–H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2249424"/>
            <a:ext cx="21488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1">
                <a:solidFill>
                  <a:srgbClr val="2E7D32"/>
                </a:solidFill>
                <a:latin typeface="Malgun Gothic"/>
              </a:rPr>
              <a:t>운영 규칙 · 영향도 · 협력사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688336"/>
            <a:ext cx="2697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Malgun Gothic"/>
              </a:rPr>
              <a:t>Variant Matrix · Glossary
Impact Analysis
Supplier API Package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3794760"/>
            <a:ext cx="3127248" cy="1353312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4024" y="3941064"/>
            <a:ext cx="475488" cy="310896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I–N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3922776"/>
            <a:ext cx="21488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1">
                <a:solidFill>
                  <a:srgbClr val="E87B2C"/>
                </a:solidFill>
                <a:latin typeface="Malgun Gothic"/>
              </a:rPr>
              <a:t>UI · 도구 연계 · PoC 환경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8888" y="4361688"/>
            <a:ext cx="2697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Malgun Gothic"/>
              </a:rPr>
              <a:t>Feature Detail / Catalog UI
기존 도구 비교
PoC 기술 스택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8431" y="3794760"/>
            <a:ext cx="3127248" cy="1353312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74736" y="3941064"/>
            <a:ext cx="475488" cy="310896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FFFFFF"/>
                </a:solidFill>
                <a:latin typeface="Malgun Gothic"/>
              </a:rPr>
              <a:t>O–S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9952" y="3922776"/>
            <a:ext cx="2148840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1">
                <a:solidFill>
                  <a:srgbClr val="6A4C93"/>
                </a:solidFill>
                <a:latin typeface="Malgun Gothic"/>
              </a:rPr>
              <a:t>변경관리 · Demo · FAQ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361688"/>
            <a:ext cx="269748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Malgun Gothic"/>
              </a:rPr>
              <a:t>BOM Baseline · ChangeSet
Kill Switch Demo
FAQ · Dashboard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596128"/>
            <a:ext cx="2148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1F4E79"/>
                </a:solidFill>
                <a:latin typeface="Malgun Gothic"/>
              </a:rPr>
              <a:t>질문 대응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71800" y="5596128"/>
            <a:ext cx="2148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2E86AB"/>
                </a:solidFill>
                <a:latin typeface="Malgun Gothic"/>
              </a:rPr>
              <a:t>상세 근거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5596128"/>
            <a:ext cx="2148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E87B2C"/>
                </a:solidFill>
                <a:latin typeface="Malgun Gothic"/>
              </a:rPr>
              <a:t>구현 설계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35240" y="5596128"/>
            <a:ext cx="2148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6A4C93"/>
                </a:solidFill>
                <a:latin typeface="Malgun Gothic"/>
              </a:rPr>
              <a:t>데모/FAQ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66960" y="5596128"/>
            <a:ext cx="141732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10" b="1">
                <a:solidFill>
                  <a:srgbClr val="2E7D32"/>
                </a:solidFill>
                <a:latin typeface="Malgun Gothic"/>
              </a:rPr>
              <a:t>완결성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190488"/>
            <a:ext cx="10927080" cy="3383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6254496"/>
            <a:ext cx="10533888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핵심 : Appendix는 부가자료가 아니라 Feature Topology 상세 설계의 일부이며, Gate·Rule·UI·PoC·FAQ까지 PPT 안에서 완결한다.</a:t>
            </a:r>
          </a:p>
        </p:txBody>
      </p:sp>
      <p:sp>
        <p:nvSpPr>
          <p:cNvPr id="57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상세 설계 패키지; ISO/IEC/IEEE 29148:2018; OMG SysML 2.0.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37744"/>
            <a:ext cx="914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283464"/>
            <a:ext cx="7498079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algun Gothic"/>
              </a:rPr>
              <a:t>상세 설계 · 검증 근거 · PoC 대응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301752"/>
            <a:ext cx="566928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55321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Malgun Gothic"/>
              </a:rPr>
              <a:t>Appendix는 부가자료가 아니라 Feature Topology 상세 설계의 일부이다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20240"/>
            <a:ext cx="534924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Malgun Gothic"/>
              </a:rPr>
              <a:t>본문에서 정의한 Feature ID 기준정보·관계 그래프·운영 판단·자동화 엔진을 Gate, Rule, UI, PoC, FAQ 수준까지 확장한다.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2743200"/>
            <a:ext cx="2057400" cy="841248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Feature</a:t>
            </a:r>
            <a:br/>
            <a:r>
              <a:rPr sz="1500" b="1">
                <a:solidFill>
                  <a:srgbClr val="FFFFFF"/>
                </a:solidFill>
                <a:latin typeface="Malgun Gothic"/>
              </a:rPr>
              <a:t>Topology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269748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800" b="1">
                <a:solidFill>
                  <a:srgbClr val="002060"/>
                </a:solidFill>
                <a:latin typeface="Malgun Gothic"/>
              </a:rPr>
              <a:t>상세 설계 패키지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743200"/>
            <a:ext cx="3584448" cy="1005840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2907792"/>
            <a:ext cx="548640" cy="292608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A–C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89504"/>
            <a:ext cx="2423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1F4E79"/>
                </a:solidFill>
                <a:latin typeface="Malgun Gothic"/>
              </a:rPr>
              <a:t>Gate · Governance ·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273552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70" b="0">
                <a:solidFill>
                  <a:srgbClr val="333333"/>
                </a:solidFill>
                <a:latin typeface="Malgun Gothic"/>
              </a:rPr>
              <a:t>배포 준비도, 생애주기, 도입 전/후 비교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743200"/>
            <a:ext cx="3584448" cy="1005840"/>
          </a:xfrm>
          <a:prstGeom prst="roundRect">
            <a:avLst/>
          </a:prstGeom>
          <a:solidFill>
            <a:srgbClr val="ECF6F0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36992" y="2907792"/>
            <a:ext cx="548640" cy="29260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D–H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889504"/>
            <a:ext cx="2423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2E7D32"/>
                </a:solidFill>
                <a:latin typeface="Malgun Gothic"/>
              </a:rPr>
              <a:t>운영 규칙 · 영향도 · 협력사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273552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70" b="0">
                <a:solidFill>
                  <a:srgbClr val="333333"/>
                </a:solidFill>
                <a:latin typeface="Malgun Gothic"/>
              </a:rPr>
              <a:t>Variant, Glossary, Impact, Supplier Package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498848"/>
            <a:ext cx="3584448" cy="1005840"/>
          </a:xfrm>
          <a:prstGeom prst="roundRect">
            <a:avLst/>
          </a:prstGeom>
          <a:solidFill>
            <a:srgbClr val="F8F1E9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4663440"/>
            <a:ext cx="548640" cy="292608"/>
          </a:xfrm>
          <a:prstGeom prst="roundRect">
            <a:avLst/>
          </a:prstGeom>
          <a:solidFill>
            <a:srgbClr val="E87B2C"/>
          </a:solidFill>
          <a:ln w="12700">
            <a:solidFill>
              <a:srgbClr val="E87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I–N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645152"/>
            <a:ext cx="2423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E87B2C"/>
                </a:solidFill>
                <a:latin typeface="Malgun Gothic"/>
              </a:rPr>
              <a:t>UI · 도구 연계 · PoC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029200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70" b="0">
                <a:solidFill>
                  <a:srgbClr val="333333"/>
                </a:solidFill>
                <a:latin typeface="Malgun Gothic"/>
              </a:rPr>
              <a:t>Feature Detail, Catalog, 기존 도구, 기술 스택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498848"/>
            <a:ext cx="3584448" cy="1005840"/>
          </a:xfrm>
          <a:prstGeom prst="roundRect">
            <a:avLst/>
          </a:prstGeom>
          <a:solidFill>
            <a:srgbClr val="F0EDF7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36992" y="4663440"/>
            <a:ext cx="548640" cy="292608"/>
          </a:xfrm>
          <a:prstGeom prst="roundRect">
            <a:avLst/>
          </a:prstGeom>
          <a:solidFill>
            <a:srgbClr val="6A4C93"/>
          </a:solidFill>
          <a:ln w="127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50" b="1">
                <a:solidFill>
                  <a:srgbClr val="FFFFFF"/>
                </a:solidFill>
                <a:latin typeface="Malgun Gothic"/>
              </a:rPr>
              <a:t>O–S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645152"/>
            <a:ext cx="2423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30" b="1">
                <a:solidFill>
                  <a:srgbClr val="6A4C93"/>
                </a:solidFill>
                <a:latin typeface="Malgun Gothic"/>
              </a:rPr>
              <a:t>변경관리 · Demo · FAQ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5029200"/>
            <a:ext cx="2971800" cy="3017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70" b="0">
                <a:solidFill>
                  <a:srgbClr val="333333"/>
                </a:solidFill>
                <a:latin typeface="Malgun Gothic"/>
              </a:rPr>
              <a:t>ChangeSet, Kill Switch, Dashboard, 예상 질의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4297680" y="3163824"/>
            <a:ext cx="777240" cy="73152"/>
          </a:xfrm>
          <a:prstGeom prst="line">
            <a:avLst/>
          </a:prstGeom>
          <a:ln w="1143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32320" y="3163824"/>
            <a:ext cx="640080" cy="73152"/>
          </a:xfrm>
          <a:prstGeom prst="line">
            <a:avLst/>
          </a:prstGeom>
          <a:ln w="1143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297680" y="3584448"/>
            <a:ext cx="777240" cy="1316736"/>
          </a:xfrm>
          <a:prstGeom prst="line">
            <a:avLst/>
          </a:prstGeom>
          <a:ln w="11430">
            <a:solidFill>
              <a:srgbClr val="E87B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32320" y="3584448"/>
            <a:ext cx="640080" cy="1316736"/>
          </a:xfrm>
          <a:prstGeom prst="line">
            <a:avLst/>
          </a:prstGeom>
          <a:ln w="1143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5833872"/>
            <a:ext cx="10863072" cy="420624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8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50" b="1">
                <a:solidFill>
                  <a:srgbClr val="002060"/>
                </a:solidFill>
                <a:latin typeface="Malgun Gothic"/>
              </a:rPr>
              <a:t>발표 본문은 핵심 논리를 설명하고, Appendix는 질문 대응 시 즉시 열람 가능한 상세 설계 근거로 사용한다.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2823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30" b="0">
                <a:solidFill>
                  <a:srgbClr val="333333"/>
                </a:solidFill>
                <a:latin typeface="Malgun Gothic"/>
              </a:rPr>
              <a:t>Mutuus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6428232"/>
            <a:ext cx="21031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30" b="0">
                <a:solidFill>
                  <a:srgbClr val="333333"/>
                </a:solidFill>
                <a:latin typeface="Malgun Gothic"/>
              </a:rPr>
              <a:t>Feature Topology 설계안</a:t>
            </a:r>
          </a:p>
        </p:txBody>
      </p:sp>
      <p:sp>
        <p:nvSpPr>
          <p:cNvPr id="3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상세 설계 패키지; ISO/IEC/IEEE 29148:2018; OMG ReqIF 1.2; OpenFeature Spec.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28600"/>
            <a:ext cx="50292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700" b="0">
                <a:solidFill>
                  <a:srgbClr val="7CA7D9"/>
                </a:solidFill>
                <a:latin typeface="Malgun Gothic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3736"/>
            <a:ext cx="5852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algun Gothic"/>
              </a:rPr>
              <a:t>Release Readiness — 9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274320"/>
            <a:ext cx="11887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>
                <a:solidFill>
                  <a:srgbClr val="B8C9DF"/>
                </a:solidFill>
                <a:latin typeface="Malgun Gothic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74320"/>
            <a:ext cx="329184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78638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40" b="1">
                <a:solidFill>
                  <a:srgbClr val="002060"/>
                </a:solidFill>
                <a:latin typeface="Malgun Gothic"/>
              </a:rPr>
              <a:t>Production 활성화는 9개 Gate 통과 상태가 Feature Baseline에 기록된 후에만 허용한다.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25296"/>
            <a:ext cx="71780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333333"/>
                </a:solidFill>
                <a:latin typeface="Malgun Gothic"/>
              </a:rPr>
              <a:t>FEAT-BDC-001 기준: 8개 Gate PASS, Verification Gate 1개 PENDING — OTA Rollback Test 완료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969264"/>
            <a:ext cx="2212848" cy="429768"/>
          </a:xfrm>
          <a:prstGeom prst="roundRect">
            <a:avLst/>
          </a:prstGeom>
          <a:solidFill>
            <a:srgbClr val="ECF7EF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30" b="1">
                <a:solidFill>
                  <a:srgbClr val="156F38"/>
                </a:solidFill>
                <a:latin typeface="Malgun Gothic"/>
              </a:rPr>
              <a:t>FEAT-BDC-001  ·  8 / 9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673352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1673352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760220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746504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Feature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6976" y="1737360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148840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Feature Master 등록
Owner: Body Platform Team
Lifecycle: 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1673352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673352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1416" y="1760220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5" y="1746504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Requirement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1" y="1737360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148840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SYS-BODY-001 연결
SWE-BDC-010 연결
요구사항 Trace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1673352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3" y="1673352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1311" y="1760220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1746504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Variant Gate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16767" y="1737360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2148840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KR/EU · MY2027+
Premium · Gen3
Applicability Rule 유효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081528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" y="3081528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3168396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154680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Control 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6976" y="3145536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3557016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Safe Default: disabled
Rollback Plan: defined
Kill Switch: available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1688" y="3081528"/>
            <a:ext cx="3456432" cy="1115568"/>
          </a:xfrm>
          <a:prstGeom prst="roundRect">
            <a:avLst/>
          </a:prstGeom>
          <a:solidFill>
            <a:srgbClr val="FCF1EA"/>
          </a:solidFill>
          <a:ln w="12700">
            <a:solidFill>
              <a:srgbClr val="D96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61688" y="3081528"/>
            <a:ext cx="3456432" cy="347472"/>
          </a:xfrm>
          <a:prstGeom prst="rect">
            <a:avLst/>
          </a:prstGeom>
          <a:solidFill>
            <a:srgbClr val="D9621E"/>
          </a:solidFill>
          <a:ln w="12700">
            <a:solidFill>
              <a:srgbClr val="D96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71416" y="3168396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1455" y="3154680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Verification Gate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76871" y="3145536"/>
            <a:ext cx="713232" cy="246888"/>
          </a:xfrm>
          <a:prstGeom prst="roundRect">
            <a:avLst/>
          </a:prstGeom>
          <a:solidFill>
            <a:srgbClr val="FFD400"/>
          </a:solidFill>
          <a:ln w="12700"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002060"/>
                </a:solidFill>
                <a:latin typeface="Malgun Gothic"/>
              </a:rPr>
              <a:t>PENDING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79" y="3557016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HIL-BDC-001 완료
OTA-RB-002 미완
Telemetry Validation 필요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01583" y="3081528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01583" y="3081528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11311" y="3168396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1352" y="3154680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Supplier Gate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16767" y="3145536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5" y="3557016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SUP-BDC-A 매핑
BDC_FUNC_032 연결
API Contract 영향 없음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" y="4489704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" y="4489704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1520" y="4576572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4562856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Safety / Security Gate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36976" y="4553712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4965192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Safety: QM → 추가 승인 N/A
Security: Medium
Integrity Check 필요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61688" y="4489704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4489704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71416" y="4576572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91455" y="4562856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OTA Gate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76871" y="4553712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79" y="4965192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Policy-only Deploy 확정
Binary OTA 불필요
배포 채널 설정 완료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01583" y="4489704"/>
            <a:ext cx="345643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01583" y="4489704"/>
            <a:ext cx="3456432" cy="347472"/>
          </a:xfrm>
          <a:prstGeom prst="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211311" y="4576572"/>
            <a:ext cx="256032" cy="164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31352" y="4562856"/>
            <a:ext cx="2221991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Malgun Gothic"/>
              </a:rPr>
              <a:t>Operations Gate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716767" y="4553712"/>
            <a:ext cx="713232" cy="246888"/>
          </a:xfrm>
          <a:prstGeom prst="roundRect">
            <a:avLst/>
          </a:prstGeom>
          <a:solidFill>
            <a:srgbClr val="1F8A45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70" b="1">
                <a:solidFill>
                  <a:srgbClr val="FFFFFF"/>
                </a:solidFill>
                <a:latin typeface="Malgun Gothic"/>
              </a:rPr>
              <a:t>PASS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66175" y="4965192"/>
            <a:ext cx="3136391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90" b="0">
                <a:solidFill>
                  <a:srgbClr val="333333"/>
                </a:solidFill>
                <a:latin typeface="Malgun Gothic"/>
              </a:rPr>
              <a:t>TEL-BDC-001 연결
Audit Log 설정
Alert Rule 준비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" y="5824728"/>
            <a:ext cx="10917936" cy="50292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" y="5943600"/>
            <a:ext cx="1600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Gate Decision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8880" y="5943600"/>
            <a:ext cx="3749039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00" b="1">
                <a:solidFill>
                  <a:srgbClr val="FFD400"/>
                </a:solidFill>
                <a:latin typeface="Malgun Gothic"/>
              </a:rPr>
              <a:t>Production 활성화 보류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57800" y="5943600"/>
            <a:ext cx="53949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D8E5FF"/>
                </a:solidFill>
                <a:latin typeface="Malgun Gothic"/>
              </a:rPr>
              <a:t>조건: OTA Rollback Test 완료 후 Verification Gate 재평가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561320" y="5925312"/>
            <a:ext cx="667512" cy="228600"/>
          </a:xfrm>
          <a:prstGeom prst="roundRect">
            <a:avLst/>
          </a:prstGeom>
          <a:solidFill>
            <a:srgbClr val="FFD400"/>
          </a:solidFill>
          <a:ln w="12700"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20" b="1">
                <a:solidFill>
                  <a:srgbClr val="002060"/>
                </a:solidFill>
                <a:latin typeface="Malgun Gothic"/>
              </a:rPr>
              <a:t>HOLD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" y="6510528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Malgun Gothic"/>
              </a:rPr>
              <a:t>Mutuus Lab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26880" y="6510528"/>
            <a:ext cx="21945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333333"/>
                </a:solidFill>
                <a:latin typeface="Malgun Gothic"/>
              </a:rPr>
              <a:t>Feature Topology 설계안</a:t>
            </a:r>
          </a:p>
        </p:txBody>
      </p:sp>
      <p:sp>
        <p:nvSpPr>
          <p:cNvPr id="7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검증 원칙; ISO 26262:2018; ISO/SAE 21434:2021; ISO 24089:2023.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28600"/>
            <a:ext cx="50292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700" b="0">
                <a:solidFill>
                  <a:srgbClr val="7CA7D9"/>
                </a:solidFill>
                <a:latin typeface="Malgun Gothic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3736"/>
            <a:ext cx="64922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algun Gothic"/>
              </a:rPr>
              <a:t>Feature Lifecycle &amp; Governance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0" y="274320"/>
            <a:ext cx="11887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800" b="1">
                <a:solidFill>
                  <a:srgbClr val="B8C9DF"/>
                </a:solidFill>
                <a:latin typeface="Malgun Gothic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274320"/>
            <a:ext cx="329184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50976"/>
            <a:ext cx="8503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140" b="1">
                <a:solidFill>
                  <a:srgbClr val="002060"/>
                </a:solidFill>
                <a:latin typeface="Malgun Gothic"/>
              </a:rPr>
              <a:t>Feature는 생애주기 상태와 Governance Rule을 함께 관리해야 Production 활성화가 가능하다.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16152"/>
            <a:ext cx="8138160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60" b="0">
                <a:solidFill>
                  <a:srgbClr val="333333"/>
                </a:solidFill>
                <a:latin typeface="Malgun Gothic"/>
              </a:rPr>
              <a:t>상태 전이는 Gate 통과, Traceability 완성, Baseline 기록, 승인 이력 확보를 전제로 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987552"/>
            <a:ext cx="2395728" cy="384048"/>
          </a:xfrm>
          <a:prstGeom prst="roundRect">
            <a:avLst/>
          </a:prstGeom>
          <a:solidFill>
            <a:srgbClr val="ECF7EF"/>
          </a:solidFill>
          <a:ln w="12700">
            <a:solidFill>
              <a:srgbClr val="1F8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840" b="1">
                <a:solidFill>
                  <a:srgbClr val="1F8A45"/>
                </a:solidFill>
                <a:latin typeface="Malgun Gothic"/>
              </a:rPr>
              <a:t>Released 상태에서만 Production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27632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Malgun Gothic"/>
              </a:rPr>
              <a:t>Feature Lifecycle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1965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002060"/>
                </a:solidFill>
                <a:latin typeface="Malgun Gothic"/>
              </a:rPr>
              <a:t>Proposed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요청·후보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49424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23744" y="1965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8608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002060"/>
                </a:solidFill>
                <a:latin typeface="Malgun Gothic"/>
              </a:rPr>
              <a:t>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등록·승인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51376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25696" y="1965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002060"/>
                </a:solidFill>
                <a:latin typeface="Malgun Gothic"/>
              </a:rPr>
              <a:t>Developing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구현·연계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3328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27648" y="1965960"/>
            <a:ext cx="1600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002060"/>
                </a:solidFill>
                <a:latin typeface="Malgun Gothic"/>
              </a:rPr>
              <a:t>Verified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검증 완료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55279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29600" y="1965960"/>
            <a:ext cx="1600200" cy="62179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Malgun Gothic"/>
              </a:rPr>
              <a:t>Released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운영 적용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57232" y="2276856"/>
            <a:ext cx="2286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131552" y="1965960"/>
            <a:ext cx="1600200" cy="62179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86416" y="2066543"/>
            <a:ext cx="149047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1">
                <a:solidFill>
                  <a:srgbClr val="333333"/>
                </a:solidFill>
                <a:latin typeface="Malgun Gothic"/>
              </a:rPr>
              <a:t>Retired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04704" y="2322576"/>
            <a:ext cx="145389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640" b="0">
                <a:solidFill>
                  <a:srgbClr val="333333"/>
                </a:solidFill>
                <a:latin typeface="Malgun Gothic"/>
              </a:rPr>
              <a:t>폐기·전환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2770632"/>
            <a:ext cx="10917936" cy="420624"/>
          </a:xfrm>
          <a:prstGeom prst="roundRect">
            <a:avLst/>
          </a:prstGeom>
          <a:solidFill>
            <a:srgbClr val="EAF4FB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2880360"/>
            <a:ext cx="14173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20" b="1">
                <a:solidFill>
                  <a:srgbClr val="002060"/>
                </a:solidFill>
                <a:latin typeface="Malgun Gothic"/>
              </a:rPr>
              <a:t>State Transition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2880360"/>
            <a:ext cx="66294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20" b="0">
                <a:solidFill>
                  <a:srgbClr val="333333"/>
                </a:solidFill>
                <a:latin typeface="Malgun Gothic"/>
              </a:rPr>
              <a:t>Gate 통과 · Owner 승인 · ChangeSet 기록 · Baseline 갱신 · Evidence 연결이 완료되어야 다음 상태로 전이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1160" y="2866644"/>
            <a:ext cx="1947672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690" b="1">
                <a:solidFill>
                  <a:srgbClr val="002060"/>
                </a:solidFill>
                <a:latin typeface="Malgun Gothic"/>
              </a:rPr>
              <a:t>Lifecycle Event = Audit 대상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401568"/>
            <a:ext cx="237744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Malgun Gothic"/>
              </a:rPr>
              <a:t>Governance 핵심 원칙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3749039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3232" y="385876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3831335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Feature ID 기반 통합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059935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요구사항·SWC·ECU·API·Test·Supplier를 Feature ID로 연결한다.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92424" y="3749039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83864" y="385876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67912" y="3831335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Flag ≠ Feature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67912" y="4059935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Flag는 Feature를 제어하는 Control Point이며 Feature로 관리하지 않는다.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3749039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54495" y="385876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38544" y="3831335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BOM Baseline 관리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38544" y="4059935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Feature BOM 변경은 ChangeSet으로 기록하고 Baseline을 관리한다.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33688" y="3749039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25128" y="385876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9176" y="3831335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변경 전 영향도 판단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9176" y="4059935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변경 요청 시 Topology 기반으로 영향 범위를 산출한 후 진행한다.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" y="4617720"/>
            <a:ext cx="2615184" cy="713232"/>
          </a:xfrm>
          <a:prstGeom prst="roundRect">
            <a:avLst/>
          </a:prstGeom>
          <a:solidFill>
            <a:srgbClr val="FCF1EA"/>
          </a:solidFill>
          <a:ln w="12700">
            <a:solidFill>
              <a:srgbClr val="D96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13232" y="472744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4700016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Safe Default 필수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4928616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Runtime Control Feature는 Safe Default와 Rollback Plan을 반드시 정의한다.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92424" y="4617720"/>
            <a:ext cx="2615184" cy="713232"/>
          </a:xfrm>
          <a:prstGeom prst="roundRect">
            <a:avLst/>
          </a:prstGeom>
          <a:solidFill>
            <a:srgbClr val="FCF1EA"/>
          </a:solidFill>
          <a:ln w="12700">
            <a:solidFill>
              <a:srgbClr val="D96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483864" y="472744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67912" y="4700016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Gate 기반 배포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67912" y="4928616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9개 Release Readiness Gate 통과 후 Production 활성화를 허용한다.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63055" y="4617720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54495" y="472744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38544" y="4700016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Supplier 계약 패키지화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38544" y="4928616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협력사 API/사양은 Feature ID 기반 검증 가능한 Package로 관리한다.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33688" y="4617720"/>
            <a:ext cx="261518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025128" y="4727448"/>
            <a:ext cx="301752" cy="256032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09176" y="4700016"/>
            <a:ext cx="2029967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50" b="1">
                <a:solidFill>
                  <a:srgbClr val="002060"/>
                </a:solidFill>
                <a:latin typeface="Malgun Gothic"/>
              </a:rPr>
              <a:t>Telemetry 연결 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09176" y="4928616"/>
            <a:ext cx="2029967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625" b="0">
                <a:solidFill>
                  <a:srgbClr val="333333"/>
                </a:solidFill>
                <a:latin typeface="Malgun Gothic"/>
              </a:rPr>
              <a:t>Released Feature는 Telemetry/Audit 연결 없이 운영 상태로 방치하지 않는다.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1792" y="5596128"/>
            <a:ext cx="10917936" cy="54864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248" y="574243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Malgun Gothic"/>
              </a:rPr>
              <a:t>운영 기준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12848" y="5742432"/>
            <a:ext cx="493776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D8E5FF"/>
                </a:solidFill>
                <a:latin typeface="Malgun Gothic"/>
              </a:rPr>
              <a:t>Lifecycle 상태 · BOM Baseline · Gate Evidence · Audit Log를 하나의 Feature Record에 통합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98079" y="5705856"/>
            <a:ext cx="960120" cy="256032"/>
          </a:xfrm>
          <a:prstGeom prst="roundRect">
            <a:avLst/>
          </a:prstGeom>
          <a:solidFill>
            <a:srgbClr val="FFD400"/>
          </a:solidFill>
          <a:ln w="12700">
            <a:solidFill>
              <a:srgbClr val="FFD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002060"/>
                </a:solidFill>
                <a:latin typeface="Malgun Gothic"/>
              </a:rPr>
              <a:t>Governed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22792" y="5742432"/>
            <a:ext cx="2331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Malgun Gothic"/>
              </a:rPr>
              <a:t>Production 변경은 Trace 가능한 절차로만 허용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" y="6510528"/>
            <a:ext cx="18288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Malgun Gothic"/>
              </a:rPr>
              <a:t>Mutuus Lab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6880" y="6510528"/>
            <a:ext cx="21945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00" b="0">
                <a:solidFill>
                  <a:srgbClr val="333333"/>
                </a:solidFill>
                <a:latin typeface="Malgun Gothic"/>
              </a:rPr>
              <a:t>Feature Topology 설계안</a:t>
            </a:r>
          </a:p>
        </p:txBody>
      </p:sp>
      <p:sp>
        <p:nvSpPr>
          <p:cNvPr id="7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ISO 24089:2023; OpenFeature Lifecycle 개념; Mutuus Lab Governance 모델.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C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 도입 전 vs 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Topology가 없을 때의 문제점과 도입 후 기대 효과를 비교한다.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1155680" cy="43891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0292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구분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14600" y="1508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Before (Topology 없음)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86600" y="1508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After (Topology 구축)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194767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" y="19476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기능 변경 영향도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19476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담당자 경험에 의존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누락 위험 상존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86600" y="19476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 Graph 기반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자동 산출 → 누락 제로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254203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02920" y="25420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검증 범위 결정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514600" y="25420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수동 판단, 과잉/과소 검증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비용 낭비 또는 품질 리스크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86600" y="25420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조건별 자동 도출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필수 Test만 정확히 수행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313639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31363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배포 방식 판단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31363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 OTA 일괄 적용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불필요한 다운타임 발생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086600" y="31363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 자동 판별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 OTA 대비 70% 시간 단축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" y="373075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02920" y="37307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협력사 책임 범위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514600" y="37307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문서 기반 계약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책임 경계 불명확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086600" y="373075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ID 기반 자동 매핑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책임 범위 · Gap 즉시 파악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" y="432511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02920" y="4325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기준정보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514600" y="43251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조직마다 다른 명칭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중복 등록 · 추적 불가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086600" y="43251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Catalog 단일 Source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Taxonomy 기반 통합 관리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491947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02920" y="49194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운영 모니터링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514600" y="49194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장애 발생 후 수동 추적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B241C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복구 경로 불명확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086600" y="49194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연결 · Alert 자동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7A3D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Rollback Plan 사전 정의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결론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도입으로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경험 의존 → 데이터 기반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으로 전환하여 비용·위험·시간을 구조적으로 절감할 수 있다.</a:t>
            </a:r>
            <a:endParaRPr lang="en-US" sz="1300" dirty="0"/>
          </a:p>
        </p:txBody>
      </p:sp>
      <p:sp>
        <p:nvSpPr>
          <p:cNvPr id="40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내부 분석 및 작업 가설; 정량 효과는 PoC 측정과 고객 Baseline 검증 필요.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Quick Win 연계 &amp; Action Items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설계가 현재 Quick Win 시나리오 및 향후 PoC/MVP와 어떻게 연결되는지 정리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Quick Win 시나리오 연계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" y="1920240"/>
            <a:ext cx="1005840" cy="10058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02920" y="1920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QW-2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 시나리오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645920" y="2011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Catalog 등록 → Policy/Flag 제어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→ Kill Switch 실행 → IVI 알림 → 복구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3035808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02920" y="3035808"/>
            <a:ext cx="1005840" cy="10058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02920" y="3035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QW-12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3538728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In-Vehicle Feedback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45920" y="31272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Operations Dashboard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→ Telemetry Event 수집 → 사용자 피드백 연계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4151376"/>
            <a:ext cx="54864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02920" y="4151376"/>
            <a:ext cx="1005840" cy="10058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415137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QW-15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" y="4654296"/>
            <a:ext cx="1005840" cy="502920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 실증 (NIO)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45920" y="42428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BOM 기반 영향도 분석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→ 246K 리콜 시나리오 대응 데모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17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Action Items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1920240"/>
            <a:ext cx="5394960" cy="38404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21792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#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Action Item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144000" y="1920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담당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51560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일정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17920" y="2304288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217920" y="23042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583680" y="23042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Definition Guide 작성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144000" y="2304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515600" y="2304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1주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217920" y="2688336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217920" y="26883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583680" y="2688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L0~L5 Taxonomy 초안 정의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144000" y="2688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 + HAE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51560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2주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217920" y="3072384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6217920" y="30723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583680" y="30723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Quick Win Feature BOM 입력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144000" y="3072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0515600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2주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217920" y="3456432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6217920" y="34564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583680" y="34564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Catalog UI Wireframe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9144000" y="34564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051560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3주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217920" y="3840480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6217920" y="38404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6583680" y="3840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 Graph PoC 구현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14400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051560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4주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217920" y="4224528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217920" y="422452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583680" y="4224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 E2E Demo (QW-2)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144000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무투스랩 + HMC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10515600" y="4224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6/18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217920" y="4608576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6217920" y="46085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6583680" y="4608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현업 부서 설명·설득 자료 배포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144000" y="46085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HAE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10515600" y="4608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6월 중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6217920" y="4992624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6217920" y="49926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583680" y="49926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QW 추가 2건 시나리오 확정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144000" y="49926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전원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0515600" y="49926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7월 초</a:t>
            </a:r>
            <a:endParaRPr lang="en-US" sz="1200" dirty="0"/>
          </a:p>
        </p:txBody>
      </p:sp>
      <p:sp>
        <p:nvSpPr>
          <p:cNvPr id="7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Quick Win 시나리오; OpenFeature Spec; Unleash Kill-switch/Rollout 개념.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 Matrix &amp; Rule Builder 예시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382512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272784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153912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FEAT-BDC-001의 차량 적용 조건을 Matrix로 관리하고, Rule Builder로 조건식을 정의한다.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 Applicability Matrix :  FEAT-BDC-001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7635240" cy="38404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37360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60320" y="1920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Region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6616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Trim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6344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BDC HW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760720" y="1920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BDC SW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040880" y="19202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Status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2304288"/>
            <a:ext cx="763524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23042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737360" y="2304288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2027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560320" y="23042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566160" y="2304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Premium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663440" y="2304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760720" y="23042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≥ 3.2.0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40880" y="2304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Allowed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2688336"/>
            <a:ext cx="76352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02920" y="2688336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737360" y="2688336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2027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560320" y="26883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EU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56616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Premium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66344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Gen3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760720" y="2688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≥ 3.2.0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40880" y="26883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Allowed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3072384"/>
            <a:ext cx="763524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02920" y="3072384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73736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560320" y="30723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US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566160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Premium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663440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760720" y="30723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≥ 3.2.0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040880" y="3072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Blocked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02920" y="3456432"/>
            <a:ext cx="76352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02920" y="34564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737360" y="3456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2026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2560320" y="34564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56616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Premium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66344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Gen2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760720" y="3456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2.x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704088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Blocked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02920" y="3840480"/>
            <a:ext cx="763524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502920" y="38404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1737360" y="3840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2028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2560320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356616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Standard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466344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Gen3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576072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≥ 3.2.0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7040880" y="3840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Allowed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50292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Rule Builder 조건식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502920" y="4846320"/>
            <a:ext cx="7589520" cy="1691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/>
          <p:nvPr/>
        </p:nvSpPr>
        <p:spPr>
          <a:xfrm>
            <a:off x="685800" y="4937760"/>
            <a:ext cx="7223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300" dirty="0">
                <a:solidFill>
                  <a:srgbClr val="77D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[KR, EU]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modelYear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</a:t>
            </a: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300" dirty="0">
                <a:solidFill>
                  <a:srgbClr val="77D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[Premium]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bdc.hw.generation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</a:t>
            </a: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bdc.sw.version </a:t>
            </a:r>
            <a:r>
              <a:rPr lang="en-US" sz="1300" dirty="0">
                <a:solidFill>
                  <a:srgbClr val="669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</a:t>
            </a: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applicability = </a:t>
            </a:r>
            <a:r>
              <a:rPr lang="en-US" sz="1300" dirty="0">
                <a:solidFill>
                  <a:srgbClr val="77DD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applicability = </a:t>
            </a:r>
            <a:r>
              <a:rPr lang="en-US" sz="1300" dirty="0">
                <a:solidFill>
                  <a:srgbClr val="FF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841248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필수 UI 기능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8412480" y="4846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Matrix View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10104120" y="4846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× Variant 조건 표시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8412480" y="5120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Rule Builder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10104120" y="5120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조건식 기반 적용 규칙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8412480" y="5394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Capability Check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10104120" y="5394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ECU/HW/SW 자동 확인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8412480" y="5669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Conflict Detection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1010412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충돌 Rule 탐지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8412480" y="5833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Cohort Preview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10104120" y="5833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대상 차량 수 미리보기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8412480" y="61081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Export to Policy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10104120" y="6108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Runtime Policy 변환</a:t>
            </a:r>
            <a:endParaRPr lang="en-US" sz="1200" dirty="0"/>
          </a:p>
        </p:txBody>
      </p:sp>
      <p:sp>
        <p:nvSpPr>
          <p:cNvPr id="75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Feature Modeling/FODA; OpenFeature Evaluation Context; Unleash Constraints/Segments; Mutuus Lab Variant 모델.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F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용어 정의 (Glossary)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설계안에서 사용하는 핵심 용어의 정의를 정리한다.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1155680" cy="33832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02920" y="1508760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용어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788920" y="1508760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정의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1847088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02920" y="1847088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88920" y="1847088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고객/차량 동작 관점에서 식별 가능한 기능 단위. 요구사항·검증·배포·책임을 독립 관리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185416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02920" y="2185416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Taxonomy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788920" y="2185416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Feature를 L0~L5로 분류·계층화하는 체계. 기준 Feature = L2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2523744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2523744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BOM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88920" y="2523744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Feature를 실현하기 위한 11개 영역의 구성 목록 (요구사항~운영)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2862072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2862072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88920" y="2862072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BOM 구성요소 간 관계를 표현하는 Feature 중심 관계 그래프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3200400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02920" y="3200400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Topology Registry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88920" y="3200400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Taxonomy·BOM·Modeling·Topology를 저장·조회·분석하는 Source of Truth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3538728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02920" y="3538728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 Rule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788920" y="3538728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Feature가 어떤 차량 조건(차종·지역·트림·HW/SW)에 적용되는지 정의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" y="3877056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02920" y="3877056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Control Point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788920" y="3877056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Feature를 제어하는 Policy·Flag·Parameter·Kill-switch·Safe Default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4215384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02920" y="4215384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Policy-only Deploy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788920" y="4215384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SWC/API 변경 없이 정책 조건만 배포하는 방식 (Binary OTA 불필요)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02920" y="4553712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502920" y="4553712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Kill Switch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788920" y="4553712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긴급 상황 시 Feature를 즉시 비활성화하는 제어 메커니즘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4892040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02920" y="48920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 Default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788920" y="4892040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 평가 실패 또는 오프라인 시 적용되는 기본 안전 상태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02920" y="5230368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02920" y="5230368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Rollback Plan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788920" y="5230368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문제 발생 시 이전 안정 상태로 복구하는 사전 정의된 절차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02920" y="5568696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502920" y="5568696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Release Readiness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788920" y="5568696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배포 전 9개 Gate 통과 여부를 점검하는 자동 검증 체계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02920" y="5907024"/>
            <a:ext cx="11155680" cy="338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502920" y="5907024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2788920" y="5907024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변경 시 Topology를 탐색하여 영향받는 전체 범위를 자동 산출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02920" y="6245352"/>
            <a:ext cx="11155680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502920" y="62453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Decision Engine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2788920" y="6245352"/>
            <a:ext cx="8869680" cy="3383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 기반으로 영향도·검증·배포·협력사 책임을 자동 판단하는 엔진</a:t>
            </a:r>
            <a:endParaRPr lang="en-US" sz="1200" dirty="0"/>
          </a:p>
        </p:txBody>
      </p:sp>
      <p:sp>
        <p:nvSpPr>
          <p:cNvPr id="55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OpenFeature Glossary; OMG ReqIF 1.2; Mutuus Lab 용어 정의.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G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 Analysis 시나리오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API-BDC-POLICY-CONTROL v1.4 → v1.5 변경 시 Feature Topology 기반 영향도 분석 과정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변경 요청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874520"/>
            <a:ext cx="4572000" cy="8229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" y="1874520"/>
            <a:ext cx="54864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3152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 Target :  </a:t>
            </a:r>
            <a:r>
              <a:rPr lang="en-US" sz="13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API-BDC-POLICY-CONTROL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 Type :  </a:t>
            </a:r>
            <a:r>
              <a:rPr lang="en-US" sz="13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v1.4 → v1.5 (Optional field added)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6032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Topology 탐색 경로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" y="3474720"/>
            <a:ext cx="53035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94360" y="3474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240280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uses_api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1188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822192"/>
            <a:ext cx="5303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94360" y="3822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40280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implemented_by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11880" y="38221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SWC-BDC-ADAPTER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4169664"/>
            <a:ext cx="53035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594360" y="4169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240280" y="4169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realized_by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11880" y="41696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SUP-BDC-A (BDC_FUNC_032)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4517136"/>
            <a:ext cx="5303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94360" y="45171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240280" y="4517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verified_by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611880" y="4517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HIL-BDC-001, OTA-RB-002, TEL-BDC-001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02920" y="4864608"/>
            <a:ext cx="530352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94360" y="4864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240280" y="48646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parent_of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611880" y="4864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FEAT-BODY-001 (상위 Feature)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217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 Summary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217920" y="1874520"/>
            <a:ext cx="539496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21792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Category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229600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#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68680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Detail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217920" y="2286000"/>
            <a:ext cx="53949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621792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Features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2960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68680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FEAT-BDC-001, FEAT-BODY-001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217920" y="2697480"/>
            <a:ext cx="5394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62179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SWCs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22960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868680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SWC-BDC-ADAPTER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217920" y="3108960"/>
            <a:ext cx="53949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621792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ECUs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822960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868680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ECU-BDC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6217920" y="3520440"/>
            <a:ext cx="5394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621792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Suppliers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22960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868680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SUP-BDC-A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217920" y="3931920"/>
            <a:ext cx="53949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21792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Tests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822960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868680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HIL-BDC-001, OTA-RB-002, TEL-BDC-001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217920" y="4343400"/>
            <a:ext cx="5394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6217920" y="4343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Impacted Variants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229600" y="4343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8686800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KR/EU · MY2027+ · Premium · Gen3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217920" y="4754880"/>
            <a:ext cx="539496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217920" y="4754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Deployment Impact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8229600" y="4754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—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868680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 가능 (API 구조 변경 아님)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6217920" y="5166360"/>
            <a:ext cx="539496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6217920" y="5166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Safety/Security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8229600" y="5166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8686800" y="5166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QM → 영향 없음 / Sec: Medium 재검토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결론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 Optional field 추가는 구조 변경이 아니므로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Policy-only 배포 가능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 — 단, 3개 Test 재실행 및 Supplier 호환성 확인 필요</a:t>
            </a:r>
            <a:endParaRPr lang="en-US" sz="1300" dirty="0"/>
          </a:p>
        </p:txBody>
      </p:sp>
      <p:sp>
        <p:nvSpPr>
          <p:cNvPr id="75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Traceability; OMG SysML Relationships; Graph-based Impact Analysis 실무.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H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 API Release Package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협력사는 API/사양을 문서가 아니라 Feature ID 기반의 검증 가능한 계약 패키지로 배포해야 한다.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 API Release Package 구성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486400" cy="3538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#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1920240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Package Item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154680" y="1920240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내용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274112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02920" y="2274112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2274112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API Contract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54680" y="2274112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Machine-readable API 명세 (OpenAPI/Protobuf)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2627985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2627985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2627985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Human Documentation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154680" y="2627985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개발자 가이드 · 변경 이력 · 사용 예시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2981858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02920" y="2981858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68680" y="2981858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Mapping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154680" y="2981858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Supplier Function ID ↔ OEM Feature ID 매핑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3335731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02920" y="3335731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68680" y="3335731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Capability Manifest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154680" y="3335731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지원 HW/SW 버전 · ECU Capability 명세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" y="3689604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02920" y="3689604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68680" y="3689604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 Compatibility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154680" y="3689604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적용 가능 차종·지역·트림·연식 조건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4043476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02920" y="4043476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68680" y="4043476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Diagnostics / Telemetry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154680" y="4043476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DTC 코드 · Telemetry Event · 진단 시나리오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02920" y="4397349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502920" y="4397349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68680" y="4397349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Safety / Security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154680" y="4397349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ASIL 등급 · Cybersecurity Claim · 인증 정보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02920" y="4751222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02920" y="4751222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68680" y="4751222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SDK / Stub / Mock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154680" y="4751222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통합 개발용 Stub · Mock Server · 샘플 코드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02920" y="5105095"/>
            <a:ext cx="5486400" cy="3538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502920" y="5105095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68680" y="5105095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Test Evidence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3154680" y="5105095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Unit Test · Integration Test 결과 · Coverage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02920" y="5458968"/>
            <a:ext cx="5486400" cy="353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502920" y="5458968"/>
            <a:ext cx="365760" cy="353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53" name="Text 50"/>
          <p:cNvSpPr/>
          <p:nvPr/>
        </p:nvSpPr>
        <p:spPr>
          <a:xfrm>
            <a:off x="868680" y="5458968"/>
            <a:ext cx="228600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Release Note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3154680" y="5458968"/>
            <a:ext cx="2834640" cy="3538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변경 사항 · Migration Guide · Breaking Changes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 연결 경로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217920" y="1920240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6291072" y="1993392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291072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720840" y="1920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OEM Feature ID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052560" y="19202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6355080" y="23591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217920" y="2487168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0"/>
          <p:cNvSpPr/>
          <p:nvPr/>
        </p:nvSpPr>
        <p:spPr>
          <a:xfrm>
            <a:off x="6291072" y="2560320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/>
          <p:nvPr/>
        </p:nvSpPr>
        <p:spPr>
          <a:xfrm>
            <a:off x="6291072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6720840" y="24871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 Function ID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9052560" y="24871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BDC_FUNC_032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6355080" y="292608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6217920" y="3054096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6291072" y="3127248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6291072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6720840" y="30540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 SW Component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9052560" y="30540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SWC-BDC-ADAPTER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6355080" y="349300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6217920" y="3621024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2"/>
          <p:cNvSpPr/>
          <p:nvPr/>
        </p:nvSpPr>
        <p:spPr>
          <a:xfrm>
            <a:off x="6291072" y="3694176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/>
          <p:nvPr/>
        </p:nvSpPr>
        <p:spPr>
          <a:xfrm>
            <a:off x="629107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6720840" y="3621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ECU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9052560" y="36210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ECU-BDC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6355080" y="40599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6217920" y="4187952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8"/>
          <p:cNvSpPr/>
          <p:nvPr/>
        </p:nvSpPr>
        <p:spPr>
          <a:xfrm>
            <a:off x="6291072" y="4261104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9"/>
          <p:cNvSpPr/>
          <p:nvPr/>
        </p:nvSpPr>
        <p:spPr>
          <a:xfrm>
            <a:off x="6291072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200" dirty="0"/>
          </a:p>
        </p:txBody>
      </p:sp>
      <p:sp>
        <p:nvSpPr>
          <p:cNvPr id="83" name="Text 80"/>
          <p:cNvSpPr/>
          <p:nvPr/>
        </p:nvSpPr>
        <p:spPr>
          <a:xfrm>
            <a:off x="6720840" y="4187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API / Signal / DTC</a:t>
            </a:r>
            <a:endParaRPr lang="en-US" sz="1200" dirty="0"/>
          </a:p>
        </p:txBody>
      </p:sp>
      <p:sp>
        <p:nvSpPr>
          <p:cNvPr id="84" name="Text 81"/>
          <p:cNvSpPr/>
          <p:nvPr/>
        </p:nvSpPr>
        <p:spPr>
          <a:xfrm>
            <a:off x="9052560" y="41879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API-BDC-POLICY-CONTROL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6355080" y="46268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6" name="Shape 83"/>
          <p:cNvSpPr/>
          <p:nvPr/>
        </p:nvSpPr>
        <p:spPr>
          <a:xfrm>
            <a:off x="6217920" y="4754880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4"/>
          <p:cNvSpPr/>
          <p:nvPr/>
        </p:nvSpPr>
        <p:spPr>
          <a:xfrm>
            <a:off x="6291072" y="4828032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/>
          <p:nvPr/>
        </p:nvSpPr>
        <p:spPr>
          <a:xfrm>
            <a:off x="6291072" y="4828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200" dirty="0"/>
          </a:p>
        </p:txBody>
      </p:sp>
      <p:sp>
        <p:nvSpPr>
          <p:cNvPr id="89" name="Text 86"/>
          <p:cNvSpPr/>
          <p:nvPr/>
        </p:nvSpPr>
        <p:spPr>
          <a:xfrm>
            <a:off x="6720840" y="47548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Test Evidence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9052560" y="47548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HIL-BDC-001 (Supplier)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6355080" y="51937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6217920" y="5321808"/>
            <a:ext cx="53949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90"/>
          <p:cNvSpPr/>
          <p:nvPr/>
        </p:nvSpPr>
        <p:spPr>
          <a:xfrm>
            <a:off x="6291072" y="5394960"/>
            <a:ext cx="29260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/>
          <p:nvPr/>
        </p:nvSpPr>
        <p:spPr>
          <a:xfrm>
            <a:off x="6291072" y="5394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6720840" y="53218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Acceptance Criteria</a:t>
            </a:r>
            <a:endParaRPr lang="en-US" sz="1200" dirty="0"/>
          </a:p>
        </p:txBody>
      </p:sp>
      <p:sp>
        <p:nvSpPr>
          <p:cNvPr id="96" name="Text 93"/>
          <p:cNvSpPr/>
          <p:nvPr/>
        </p:nvSpPr>
        <p:spPr>
          <a:xfrm>
            <a:off x="9052560" y="53218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 Contract v1.4 준수</a:t>
            </a:r>
            <a:endParaRPr lang="en-US" sz="1200" dirty="0"/>
          </a:p>
        </p:txBody>
      </p:sp>
      <p:sp>
        <p:nvSpPr>
          <p:cNvPr id="97" name="Shape 94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5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협력사 배포 단위를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문서 → Feature ID 기반 검증 가능한 패키지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로 전환하면 책임 범위·Gap·호환성을 자동 추적할 수 있다.</a:t>
            </a:r>
            <a:endParaRPr lang="en-US" sz="1300" dirty="0"/>
          </a:p>
        </p:txBody>
      </p:sp>
      <p:sp>
        <p:nvSpPr>
          <p:cNvPr id="9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OMG ReqIF 1.2; OpenAPI 3.2.0; ISO/IEC/IEEE 29148:2018; Supplier Integration 실무.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I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Detail UI Wireframe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FEAT-BDC-001을 기준으로 Feature Detail 화면의 Summary 탭 구성 예시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8580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FEAT-BDC-001    BDC Policy Control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15240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7DD77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Status: Approved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1965960"/>
            <a:ext cx="1115568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48640" y="1965960"/>
            <a:ext cx="96926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48640" y="1965960"/>
            <a:ext cx="969264" cy="3657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Summary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5448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155448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Taxonomy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56032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256032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56616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356616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57200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Variants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57784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57784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Control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8368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58368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Deploy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58952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758952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Verify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59536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859536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Supplier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60120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960120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Ops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607040" y="1965960"/>
            <a:ext cx="969264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10607040" y="19659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History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기본 정보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85800" y="27889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Level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057400" y="278892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 Vehicle / System Feature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85800" y="30906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Domain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057400" y="309067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Comfort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85800" y="339242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Owner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057400" y="339242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Platform Team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85800" y="369417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2057400" y="369417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 candidate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85800" y="399592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Safety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2057400" y="39959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QM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85800" y="429768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057400" y="429768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Medium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85800" y="459943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2057400" y="459943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SUP-BDC-A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85800" y="490118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2057400" y="49011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KR/EU · MY2027+ · Premium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59436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Traceability Health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5943600" y="27889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Requirement: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7223760" y="27889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2 linked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5943600" y="30906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Test: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223760" y="30906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3/4 evidenced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5943600" y="33924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Supplier: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7223760" y="339242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mapped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8686800" y="278892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Variant: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9966960" y="27889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valid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686800" y="3090672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Rollback: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966960" y="309067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defined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8686800" y="3392424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Telemetry: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9966960" y="339242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partial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59436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69" name="Shape 66"/>
          <p:cNvSpPr/>
          <p:nvPr/>
        </p:nvSpPr>
        <p:spPr>
          <a:xfrm>
            <a:off x="5943600" y="4160520"/>
            <a:ext cx="128016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59436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Run Impact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7315200" y="4160520"/>
            <a:ext cx="128016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73152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Derive Verification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8686800" y="4160520"/>
            <a:ext cx="128016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86868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Deployment Decision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10058400" y="4160520"/>
            <a:ext cx="128016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/>
          <p:nvPr/>
        </p:nvSpPr>
        <p:spPr>
          <a:xfrm>
            <a:off x="10058400" y="4160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Create CR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/>
          <p:nvPr/>
        </p:nvSpPr>
        <p:spPr>
          <a:xfrm>
            <a:off x="868680" y="5349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7410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Warnings :  Test Coverage 75% (1/4 미완) · Telemetry 연결 partial — Release Readiness Gate 미통과 항목 존재</a:t>
            </a:r>
            <a:endParaRPr lang="en-US" sz="1200" dirty="0"/>
          </a:p>
        </p:txBody>
      </p:sp>
      <p:sp>
        <p:nvSpPr>
          <p:cNvPr id="7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요구사항 속성; OMG ReqIF Metadata; Mutuus Lab UI 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J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기대 효과 정량화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도입 시 정량적으로 기대할 수 있는 효과를 항목별로 산출한다.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" y="150876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영향도 분석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소요 시간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2~3일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2258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08760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수 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88920" y="203911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788920" y="2039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95% 단축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4360" y="2606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담당자 경험 의존 → Topology 자동 탐색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15968" y="150876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315968" y="150876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407408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검증 범위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누락률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407408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21808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15~20%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07408" y="2258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321808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&lt; 2%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601968" y="203911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601968" y="2039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90% 감소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407408" y="2606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수동 판단 → Feature 조건별 자동 도출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129016" y="150876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8129016" y="150876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8220456" y="15087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배포 판단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소요 시간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220456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134856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1~2주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220456" y="2258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134856" y="2258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즉시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10415016" y="203911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10415016" y="2039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90% 단축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220456" y="2606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회의 기반 → Policy-only 자동 판별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33832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502920" y="338328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594360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협력사 책임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Gap 발견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9436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50876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양산 후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94360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508760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사전 탐지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2788920" y="391363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2788920" y="3913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사후→사전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94360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문서 기반 → Feature ID 자동 매핑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315968" y="33832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4315968" y="338328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/>
          <p:nvPr/>
        </p:nvSpPr>
        <p:spPr>
          <a:xfrm>
            <a:off x="4407408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중복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등록률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4407408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5321808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10~15%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4407408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5321808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&lt; 3%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6601968" y="391363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6601968" y="3913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80% 감소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4407408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조직별 개별 관리 → Catalog 단일화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8129016" y="33832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8129016" y="3383280"/>
            <a:ext cx="352044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8220456" y="33832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Binary OTA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불필요 배포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8220456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Before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9134856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30~40%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8220456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After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9134856" y="4133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&lt; 5%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10415016" y="3913632"/>
            <a:ext cx="10972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10415016" y="3913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85% 감소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8220456" y="44805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일괄 Binary → Policy-only 자동 분류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502920" y="507492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도입으로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영향도 분석 95% · 검증 누락 90% · 불필요 Binary OTA 85% 감소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가 기대된다.</a:t>
            </a:r>
            <a:endParaRPr lang="en-US" sz="1300" dirty="0"/>
          </a:p>
        </p:txBody>
      </p:sp>
      <p:sp>
        <p:nvSpPr>
          <p:cNvPr id="72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내부 추정 및 기대효과 가설; PoC/운영 데이터 기반 검증 필요.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K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Catalog UI — 목록 화면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사용자가 가장 먼저 접하는 화면 — Feature 검색 · 필터 · 상태 파악을 한 곳에서 수행한다.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85800" y="1600200"/>
            <a:ext cx="6400800" cy="4114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22960" y="1600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Search Features ...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8580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Domain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01168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01168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Level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3756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33756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66344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Owner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932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98932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Supplier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31520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64108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864108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Deploy Type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966960" y="2148840"/>
            <a:ext cx="1234440" cy="292608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9966960" y="21488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Safety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" y="2606040"/>
            <a:ext cx="10424160" cy="38404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85800" y="2606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Display ID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148840" y="2606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Name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343400" y="2606040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Level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25780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Domain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55080" y="2606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Owner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635240" y="2606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641080" y="26060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738360" y="2606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Health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85800" y="2990088"/>
            <a:ext cx="104241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685800" y="2990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2148840" y="2990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Policy Control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343400" y="2990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257800" y="29900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355080" y="2990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Team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635240" y="2990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641080" y="29900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9738360" y="29900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5/6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85800" y="3374136"/>
            <a:ext cx="10424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685800" y="33741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FEAT-BDC-002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2148840" y="33741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Legacy Logic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343400" y="3374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L3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257800" y="33741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355080" y="3374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Team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635240" y="33741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Retired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641080" y="33741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738360" y="33741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6/6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85800" y="3758184"/>
            <a:ext cx="104241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85800" y="3758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FEAT-ADAS-001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2148840" y="37581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AEB Emergency Brake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4343400" y="3758184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525780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ADAS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6355080" y="37581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ADAS Team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7635240" y="3758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Released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64108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9738360" y="37581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6/6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685800" y="4142232"/>
            <a:ext cx="10424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85800" y="4142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FEAT-CONN-001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2148840" y="41422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Remote Door Lock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4343400" y="4142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L1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5257800" y="4142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Conn.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6355080" y="41422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Conn. Team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7635240" y="4142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Developing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8641080" y="4142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9738360" y="41422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3/6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685800" y="4526280"/>
            <a:ext cx="104241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/>
          <p:nvPr/>
        </p:nvSpPr>
        <p:spPr>
          <a:xfrm>
            <a:off x="685800" y="4526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FEAT-SEAT-001</a:t>
            </a:r>
            <a:endParaRPr lang="en-US" sz="1200" dirty="0"/>
          </a:p>
        </p:txBody>
      </p:sp>
      <p:sp>
        <p:nvSpPr>
          <p:cNvPr id="76" name="Text 73"/>
          <p:cNvSpPr/>
          <p:nvPr/>
        </p:nvSpPr>
        <p:spPr>
          <a:xfrm>
            <a:off x="2148840" y="4526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Seat Heat Auth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4343400" y="4526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5257800" y="4526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6355080" y="4526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Team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7635240" y="4526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Proposed</a:t>
            </a:r>
            <a:endParaRPr lang="en-US" sz="1200" dirty="0"/>
          </a:p>
        </p:txBody>
      </p:sp>
      <p:sp>
        <p:nvSpPr>
          <p:cNvPr id="81" name="Text 78"/>
          <p:cNvSpPr/>
          <p:nvPr/>
        </p:nvSpPr>
        <p:spPr>
          <a:xfrm>
            <a:off x="8641080" y="4526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TBD</a:t>
            </a:r>
            <a:endParaRPr lang="en-US" sz="1200" dirty="0"/>
          </a:p>
        </p:txBody>
      </p:sp>
      <p:sp>
        <p:nvSpPr>
          <p:cNvPr id="82" name="Text 79"/>
          <p:cNvSpPr/>
          <p:nvPr/>
        </p:nvSpPr>
        <p:spPr>
          <a:xfrm>
            <a:off x="9738360" y="4526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1/6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685800" y="4910328"/>
            <a:ext cx="104241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/>
          <p:nvPr/>
        </p:nvSpPr>
        <p:spPr>
          <a:xfrm>
            <a:off x="685800" y="4910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FEAT-PARK-001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2148840" y="49103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Remote Parking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4343400" y="4910328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5257800" y="4910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ADAS</a:t>
            </a:r>
            <a:endParaRPr lang="en-US" sz="1200" dirty="0"/>
          </a:p>
        </p:txBody>
      </p:sp>
      <p:sp>
        <p:nvSpPr>
          <p:cNvPr id="88" name="Text 85"/>
          <p:cNvSpPr/>
          <p:nvPr/>
        </p:nvSpPr>
        <p:spPr>
          <a:xfrm>
            <a:off x="6355080" y="49103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ADAS Team</a:t>
            </a:r>
            <a:endParaRPr lang="en-US" sz="1200" dirty="0"/>
          </a:p>
        </p:txBody>
      </p:sp>
      <p:sp>
        <p:nvSpPr>
          <p:cNvPr id="89" name="Text 86"/>
          <p:cNvSpPr/>
          <p:nvPr/>
        </p:nvSpPr>
        <p:spPr>
          <a:xfrm>
            <a:off x="7635240" y="49103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Approved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8641080" y="4910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Binary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9738360" y="4910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4/6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685800" y="5294376"/>
            <a:ext cx="104241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0"/>
          <p:cNvSpPr/>
          <p:nvPr/>
        </p:nvSpPr>
        <p:spPr>
          <a:xfrm>
            <a:off x="685800" y="52943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FEAT-LIGHT-001</a:t>
            </a:r>
            <a:endParaRPr lang="en-US" sz="1200" dirty="0"/>
          </a:p>
        </p:txBody>
      </p:sp>
      <p:sp>
        <p:nvSpPr>
          <p:cNvPr id="94" name="Text 91"/>
          <p:cNvSpPr/>
          <p:nvPr/>
        </p:nvSpPr>
        <p:spPr>
          <a:xfrm>
            <a:off x="2148840" y="52943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Welcome Light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4343400" y="5294376"/>
            <a:ext cx="9144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L2</a:t>
            </a:r>
            <a:endParaRPr lang="en-US" sz="1200" dirty="0"/>
          </a:p>
        </p:txBody>
      </p:sp>
      <p:sp>
        <p:nvSpPr>
          <p:cNvPr id="96" name="Text 93"/>
          <p:cNvSpPr/>
          <p:nvPr/>
        </p:nvSpPr>
        <p:spPr>
          <a:xfrm>
            <a:off x="5257800" y="52943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</a:t>
            </a:r>
            <a:endParaRPr lang="en-US" sz="1200" dirty="0"/>
          </a:p>
        </p:txBody>
      </p:sp>
      <p:sp>
        <p:nvSpPr>
          <p:cNvPr id="97" name="Text 94"/>
          <p:cNvSpPr/>
          <p:nvPr/>
        </p:nvSpPr>
        <p:spPr>
          <a:xfrm>
            <a:off x="6355080" y="52943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Body Team</a:t>
            </a:r>
            <a:endParaRPr lang="en-US" sz="1200" dirty="0"/>
          </a:p>
        </p:txBody>
      </p:sp>
      <p:sp>
        <p:nvSpPr>
          <p:cNvPr id="98" name="Text 95"/>
          <p:cNvSpPr/>
          <p:nvPr/>
        </p:nvSpPr>
        <p:spPr>
          <a:xfrm>
            <a:off x="7635240" y="52943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Verified</a:t>
            </a:r>
            <a:endParaRPr lang="en-US" sz="1200" dirty="0"/>
          </a:p>
        </p:txBody>
      </p:sp>
      <p:sp>
        <p:nvSpPr>
          <p:cNvPr id="99" name="Text 96"/>
          <p:cNvSpPr/>
          <p:nvPr/>
        </p:nvSpPr>
        <p:spPr>
          <a:xfrm>
            <a:off x="8641080" y="52943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Policy-only</a:t>
            </a:r>
            <a:endParaRPr lang="en-US" sz="1200" dirty="0"/>
          </a:p>
        </p:txBody>
      </p:sp>
      <p:sp>
        <p:nvSpPr>
          <p:cNvPr id="100" name="Text 97"/>
          <p:cNvSpPr/>
          <p:nvPr/>
        </p:nvSpPr>
        <p:spPr>
          <a:xfrm>
            <a:off x="9738360" y="5294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410E"/>
                </a:solidFill>
                <a:latin typeface="Hyundai Sans Text Pro Bold" pitchFamily="34" charset="0"/>
                <a:ea typeface="Hyundai Sans Text Pro Bold" pitchFamily="34" charset="-122"/>
                <a:cs typeface="Hyundai Sans Text Pro Bold" pitchFamily="34" charset="-120"/>
              </a:rPr>
              <a:t>5/6</a:t>
            </a:r>
            <a:endParaRPr lang="en-US" sz="1200" dirty="0"/>
          </a:p>
        </p:txBody>
      </p:sp>
      <p:sp>
        <p:nvSpPr>
          <p:cNvPr id="101" name="Shape 98"/>
          <p:cNvSpPr/>
          <p:nvPr/>
        </p:nvSpPr>
        <p:spPr>
          <a:xfrm>
            <a:off x="685800" y="5687568"/>
            <a:ext cx="10424160" cy="320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9"/>
          <p:cNvSpPr/>
          <p:nvPr/>
        </p:nvSpPr>
        <p:spPr>
          <a:xfrm>
            <a:off x="822960" y="5687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Total: 247 Features    Approved: 89    Developing: 52    Released: 78    Missing Traceability: 28</a:t>
            </a:r>
            <a:endParaRPr lang="en-US" sz="1200" dirty="0"/>
          </a:p>
        </p:txBody>
      </p:sp>
      <p:sp>
        <p:nvSpPr>
          <p:cNvPr id="10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 요구사항 속성; OpenFeature Concepts; Mutuus Lab Catalog UI 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왜 Feature Topology가 필요한가 — 조직별 인식 차이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같은 기능을 조직마다 다른 이름·단위·ID로 관리하면 추적·검증·배포·책임 판단이 불가능하다.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41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현재 문제 :  조직마다 다른 언어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486400" cy="457200"/>
          </a:xfrm>
          <a:prstGeom prst="rect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조직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69164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관리 단위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2044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사용하는 이름 예시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377440"/>
            <a:ext cx="54864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0292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기획 조직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9164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상품 기능명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2044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"스마트 도어 잠금"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2834640"/>
            <a:ext cx="5486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0292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시스템 조직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69164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동작 기능명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204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"Remote Door Lock Command"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3291840"/>
            <a:ext cx="54864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0292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SW 조직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9164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모듈 / 서비스 기능명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52044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"BDC_PolicyControl_v3"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3749040"/>
            <a:ext cx="5486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02920" y="3749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협력사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6916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 Function ID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52044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"BDC_FUNC_032"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" y="4206240"/>
            <a:ext cx="54864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02920" y="4206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검증 조직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69164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Test Case ID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52044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"HIL-BDC-001"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4663440"/>
            <a:ext cx="5486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502920" y="4663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OTA 조직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691640" y="4663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Package ID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52044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"PKG-POLICY-BDC-2027"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02920" y="5120640"/>
            <a:ext cx="54864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502920" y="5120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운영 조직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691640" y="5120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Event ID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520440" y="5120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"EVT_BDC_POLICY_APPLY"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해결 :  Feature Topology로 통합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498080" y="2011680"/>
            <a:ext cx="2743200" cy="5486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749808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FEAT-BDC-001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BDC Policy Control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8869680" y="2560320"/>
            <a:ext cx="0" cy="36576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8869680" y="299008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6400800" y="2834640"/>
            <a:ext cx="237744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4465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기획 :  스마트 도어 잠금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9235440" y="2834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8869680" y="2560320"/>
            <a:ext cx="0" cy="77724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8869680" y="340156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6400800" y="3246120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64465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시스템 :  Remote Door Lock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2354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8869680" y="2560320"/>
            <a:ext cx="0" cy="118872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8869680" y="381304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400800" y="3657600"/>
            <a:ext cx="237744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64465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 :  BDC_PolicyControl_v3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235440" y="3657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8869680" y="2560320"/>
            <a:ext cx="0" cy="160020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8869680" y="422452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0"/>
          <p:cNvSpPr/>
          <p:nvPr/>
        </p:nvSpPr>
        <p:spPr>
          <a:xfrm>
            <a:off x="6400800" y="4069080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/>
          <p:nvPr/>
        </p:nvSpPr>
        <p:spPr>
          <a:xfrm>
            <a:off x="64465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협력사 :  BDC_FUNC_032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235440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8869680" y="2560320"/>
            <a:ext cx="0" cy="20116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4"/>
          <p:cNvSpPr/>
          <p:nvPr/>
        </p:nvSpPr>
        <p:spPr>
          <a:xfrm>
            <a:off x="8869680" y="463600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5"/>
          <p:cNvSpPr/>
          <p:nvPr/>
        </p:nvSpPr>
        <p:spPr>
          <a:xfrm>
            <a:off x="6400800" y="4480560"/>
            <a:ext cx="237744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/>
          <p:nvPr/>
        </p:nvSpPr>
        <p:spPr>
          <a:xfrm>
            <a:off x="644652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검증 :  HIL-BDC-001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9235440" y="4480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8869680" y="2560320"/>
            <a:ext cx="0" cy="242316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9"/>
          <p:cNvSpPr/>
          <p:nvPr/>
        </p:nvSpPr>
        <p:spPr>
          <a:xfrm>
            <a:off x="8869680" y="504748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0"/>
          <p:cNvSpPr/>
          <p:nvPr/>
        </p:nvSpPr>
        <p:spPr>
          <a:xfrm>
            <a:off x="6400800" y="4892040"/>
            <a:ext cx="23774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644652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OTA :  PKG-POLICY-BDC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9235440" y="48920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8869680" y="2560320"/>
            <a:ext cx="0" cy="283464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4"/>
          <p:cNvSpPr/>
          <p:nvPr/>
        </p:nvSpPr>
        <p:spPr>
          <a:xfrm>
            <a:off x="8869680" y="5458968"/>
            <a:ext cx="2743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6400800" y="5303520"/>
            <a:ext cx="237744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/>
          <p:nvPr/>
        </p:nvSpPr>
        <p:spPr>
          <a:xfrm>
            <a:off x="6446520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운영 :  EVT_BDC_POLICY</a:t>
            </a:r>
            <a:endParaRPr lang="en-US" sz="1200" dirty="0"/>
          </a:p>
        </p:txBody>
      </p:sp>
      <p:sp>
        <p:nvSpPr>
          <p:cNvPr id="80" name="Text 77"/>
          <p:cNvSpPr/>
          <p:nvPr/>
        </p:nvSpPr>
        <p:spPr>
          <a:xfrm>
            <a:off x="9235440" y="5303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960120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하나의 Feature ID로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모든 조직의 용어를 연결</a:t>
            </a:r>
            <a:endParaRPr lang="en-US" sz="1300" dirty="0"/>
          </a:p>
        </p:txBody>
      </p:sp>
      <p:sp>
        <p:nvSpPr>
          <p:cNvPr id="82" name="Shape 79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Topology는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7개 조직이 각자 다른 이름으로 부르는 동일 기능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을 하나의 Feature ID로 통합 추적하는 기준정보이다.</a:t>
            </a:r>
            <a:endParaRPr lang="en-US" sz="1300" dirty="0"/>
          </a:p>
        </p:txBody>
      </p:sp>
      <p:sp>
        <p:nvSpPr>
          <p:cNvPr id="8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Mutuus Lab Stakeholder 분석; ISO/IEC/IEEE 29148:2018; OMG ReqIF 1.2.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 Lifecycle &amp; Control Flow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Feature의 Policy가 생성부터 배포·모니터링까지 거치는 생애주기와 Runtime 평가 흐름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 Lifecycle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2011680" cy="502920"/>
          </a:xfrm>
          <a:prstGeom prst="rect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Draft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 초안 작성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Targeting Rule 정의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14600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15768" y="1920240"/>
            <a:ext cx="2011680" cy="5029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715768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Review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715768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Safety/Security 검토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승인권자 리뷰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27448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928616" y="1920240"/>
            <a:ext cx="2011680" cy="502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928616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Approved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928616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Gate 통과 확인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배포 대기 상태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0296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141464" y="1920240"/>
            <a:ext cx="2011680" cy="50292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141464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Deployed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141464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Fleet 적용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Rollout % 제어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53144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354312" y="1920240"/>
            <a:ext cx="2011680" cy="502920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9354312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Monitored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354312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수집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Alert 감시 중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Runtime 평가 흐름 (차량 내부)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2920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502920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02920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6072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 수신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서버에서 최신 Policy Package 다운로드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240280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350008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2350008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2350008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2423160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Capability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Check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441448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HW/SW/ECU가 기능을 지원하는지 확인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087368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197096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4197096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4197096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4270248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Vehicle State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Check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4288536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상태(주행/정차/충전)가 적합한지 확인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934456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044184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6044184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6044184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117336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Auth Check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135624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사용자 권한 · 구독 · 지역 법규 확인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781544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891272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7891272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7891272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964424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Flag 평가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7982712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Evaluator가 ON/OFF 판단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9628632" y="393192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9738360" y="374904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9738360" y="3749040"/>
            <a:ext cx="1737360" cy="6400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9738360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C4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9811512" y="4005072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실행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또는 차단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9829800" y="446227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활성화 성공 → 실행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실패 → Safe Default 적용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Policy는 5단계 Lifecycle을 거치며, 차량 내부에서는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Capability · Vehicle State · Auth 3중 Guard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를 통과해야 Feature가 활성화된다.</a:t>
            </a:r>
            <a:endParaRPr lang="en-US" sz="1300" dirty="0"/>
          </a:p>
        </p:txBody>
      </p:sp>
      <p:sp>
        <p:nvSpPr>
          <p:cNvPr id="68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Spec; Unleash Activation Strategies; ISO 24089:2023; Mutuus Lab Runtime Control Flow.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 vs 기존 도구 비교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Topology는 ALM · PLM · Feature Flag 도구를 대체하는 것이 아니라, 이들을 연결하는 기준정보 계층이다.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1155680" cy="43891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02920" y="15087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구분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965960" y="1508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ALM (Codebeamer)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0" y="1508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PLM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15087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Flag (Unleash)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15087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194767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02920" y="19476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질문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965960" y="19476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요구사항이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올바르게 구현되었는가?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0" y="19476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제품 구성이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올바르게 관리되는가?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19476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기능을 언제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활성화할 것인가?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0" y="19476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기능 변경 시 비용·영향도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·검증·배포·책임은?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254203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25420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관리 대상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965960" y="25420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Requirement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114800" y="25420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Part · BOM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63640" y="25420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Flag · Policy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Rollout Rule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25420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기준정보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(BOM + Topology)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313639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02920" y="313639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가시성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965960" y="31363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Req ID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(Feature 단위 아님)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114800" y="31363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Part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(SW Feature 미포함)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63640" y="313639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Flag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(Flag ≠ Feature)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412480" y="31363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ID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(전체 Artifact 연결)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" y="373075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02920" y="373075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영향도 분석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965960" y="37307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Req Traceability만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(SW·ECU·Supplier 미포함)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114800" y="37307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Part BOM 기준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(Runtime 미포함)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263640" y="373075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412480" y="37307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Topology Graph 기반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전체 범위 자동 산출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02920" y="4325112"/>
            <a:ext cx="1115568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02920" y="432511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배포 판단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965960" y="43251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4114800" y="43251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미제공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263640" y="43251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Rollout % 제어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(Binary/Policy 미구분)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8412480" y="432511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Binary OTA vs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Policy-only 자동 판별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02920" y="4919472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502920" y="4919472"/>
            <a:ext cx="14630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포지셔닝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965960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요구사항 관리 도구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114800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제품 구성 관리 도구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263640" y="4919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Runtime 제어 도구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8412480" y="49194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기준정보 통합 계층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(ALM·PLM·FF를 연결)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Topology는 ALM · PLM · FF를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대체하지 않고 연결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하는 기준정보 계층이다. Feature ID가 이 모든 도구의 공통 Key가 된다.</a:t>
            </a:r>
            <a:endParaRPr lang="en-US" sz="1300" dirty="0"/>
          </a:p>
        </p:txBody>
      </p:sp>
      <p:sp>
        <p:nvSpPr>
          <p:cNvPr id="54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IBM DOORS Next / Codebeamer / PLM / Unleash 제품 문서; Mutuus Lab 비교 분석.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O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PoC 기술 스택 &amp; 데모 환경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PoC 데모를 위한 하드웨어 · 소프트웨어 · 통신 구성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Hardware 구성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" y="1920240"/>
            <a:ext cx="1508760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76072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HPVC (중앙 제어)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6072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Jetson AGX Orin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48840" y="19933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Flag 정책 수신 · Flag 평가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GCS 제어 신호 전송 · 중앙 모니터링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83464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502920" y="2834640"/>
            <a:ext cx="1508760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76072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GCS (Zone 제어)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6072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Raspberry Pi 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148840" y="29077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HPVC 상위 명령 수신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하위 ECU 제어 · 데이터 수집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" y="374904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502920" y="3749040"/>
            <a:ext cx="1508760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76072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ECU (말단 제어)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6072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STM32 / Arduino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148840" y="38221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Window 제어 · DTC 생성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센서 데이터 송신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" y="4663440"/>
            <a:ext cx="5394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02920" y="4663440"/>
            <a:ext cx="1508760" cy="8229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76072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CCS (서버)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76072" y="507492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Mock-up Server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148840" y="4736592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등록 · 정책 설정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Kill-Switch · 복구 명령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179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Software &amp; 통신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7920" y="1920240"/>
            <a:ext cx="53949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327648" y="192024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Platform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589520" y="1920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Flag Platform (Unleash 기반)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Catalog · Policy Engine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17920" y="2706624"/>
            <a:ext cx="53949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327648" y="270662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589520" y="270662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React JSX 기반 PoC Dashboard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상태 · 정책 제어 · 모니터링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217920" y="3493008"/>
            <a:ext cx="53949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6327648" y="349300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통신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589520" y="34930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MQTT (차량 내부 EventBus)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REST API (서버 ↔ 차량 통신)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217920" y="4279392"/>
            <a:ext cx="53949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6327648" y="4279392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Runtime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7589520" y="42793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Evaluator (Flag 평가)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Signal Sender/Receiver (통신 I/F)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217920" y="5065776"/>
            <a:ext cx="5394960" cy="71323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6327648" y="5065776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589520" y="506577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Event 수집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Audit Log · Alert Rule 관리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PoC 환경은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Jetson Orin + RPi5 + STM32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 3계층 HW + React Dashboard + MQTT 통신으로 실차 환경을 시뮬레이션한다.</a:t>
            </a:r>
            <a:endParaRPr lang="en-US" sz="1300" dirty="0"/>
          </a:p>
        </p:txBody>
      </p:sp>
      <p:sp>
        <p:nvSpPr>
          <p:cNvPr id="49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MQTT/OASIS 메시징 실무; OpenAPI 3.2.0; Device Vendor Docs; Mutuus Lab PoC 계획.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BOM Baseline 관리 &amp; ChangeSet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BOM 변경은 반드시 ChangeSet으로 기록하고, Baseline 간 비교를 통해 영향도를 추적한다.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BOM Baseline v1.0  (2026.05)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5394960" cy="384048"/>
          </a:xfrm>
          <a:prstGeom prst="rect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BOM 영역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057400" y="1920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v1.0 항목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2304288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" y="2304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057400" y="2304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SYS-BODY-001, SWE-BDC-010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2688336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02920" y="26883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057400" y="26883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ECU-BDC, SWC-BDC-ADAPTER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072384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02920" y="30723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057400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API-BDC-POLICY v1.4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3456432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02920" y="3456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057400" y="3456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KR, MY2027+, Premium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02920" y="3840480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02920" y="3840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Control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057400" y="3840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POLICY-BDC-ENABLE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4224528"/>
            <a:ext cx="539496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02920" y="4224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057400" y="4224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HIL-BDC-001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02920" y="4608576"/>
            <a:ext cx="5394960" cy="38404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02920" y="46085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057400" y="4608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SUP-BDC-A, BDC_FUNC_032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1792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ChangeSet :  v1.0 → v1.1  (2026.06)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217920" y="1920240"/>
            <a:ext cx="5394960" cy="43891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217920" y="1920240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Type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132320" y="19202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영역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321040" y="19202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변경 내용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217920" y="2359152"/>
            <a:ext cx="5394960" cy="4389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621792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132320" y="23591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321040" y="23591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SEC-POLICY-004 추가 (보안 요구사항)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217920" y="2798064"/>
            <a:ext cx="5394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6217920" y="2798064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132320" y="27980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321040" y="27980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SWC-POLICY-EVALUATOR 추가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217920" y="3236976"/>
            <a:ext cx="5394960" cy="4389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217920" y="3236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7132320" y="32369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8321040" y="32369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ECU-CCU 추가 (통신 연계)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217920" y="3675888"/>
            <a:ext cx="5394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6217920" y="3675888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6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MODIFY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132320" y="36758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Variant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321040" y="36758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EU 지역 추가 (KR → KR/EU)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217920" y="4114800"/>
            <a:ext cx="5394960" cy="4389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217920" y="4114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7132320" y="41148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Control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832104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POLICY-BDC-KILL-SWITCH 추가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6217920" y="4553712"/>
            <a:ext cx="53949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/>
          <p:nvPr/>
        </p:nvSpPr>
        <p:spPr>
          <a:xfrm>
            <a:off x="6217920" y="4553712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ADD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7132320" y="45537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8321040" y="45537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OTA-ROLLBACK-002, TEL-BDC-001 추가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217920" y="4992624"/>
            <a:ext cx="5394960" cy="4389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/>
          <p:nvPr/>
        </p:nvSpPr>
        <p:spPr>
          <a:xfrm>
            <a:off x="6217920" y="4992624"/>
            <a:ext cx="914400" cy="43891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60E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MODIFY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7132320" y="4992624"/>
            <a:ext cx="118872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Supplier</a:t>
            </a:r>
            <a:endParaRPr lang="en-US" sz="1200" dirty="0"/>
          </a:p>
        </p:txBody>
      </p:sp>
      <p:sp>
        <p:nvSpPr>
          <p:cNvPr id="67" name="Text 64"/>
          <p:cNvSpPr/>
          <p:nvPr/>
        </p:nvSpPr>
        <p:spPr>
          <a:xfrm>
            <a:off x="8321040" y="49926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API Contract v1.4 → v1.5 업데이트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6217920" y="5257800"/>
            <a:ext cx="5394960" cy="5029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6217920" y="5257800"/>
            <a:ext cx="54864" cy="5029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6446520" y="5257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ChangeSet 영향 :  </a:t>
            </a: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ADD 5건 · MODIFY 2건 → Impact Analysis 자동 트리거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BOM Baseline 변경은 반드시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ChangeSet으로 기록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하고, ADD/MODIFY 발생 시 Impact Analysis가 자동 트리거된다.</a:t>
            </a:r>
            <a:endParaRPr lang="en-US" sz="1300" dirty="0"/>
          </a:p>
        </p:txBody>
      </p:sp>
      <p:sp>
        <p:nvSpPr>
          <p:cNvPr id="7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ReqIF 1.2; Configuration/Change Management 실무; Mutuus Lab ChangeSet 모델.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Q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QW-2 Kill Switch 시나리오 Demo 흐름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Feature에 긴급 문제 발생 시 Kill Switch로 즉시 비활성화하고, 복구까지 완료하는 전 과정 Demo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" y="1508760"/>
            <a:ext cx="1737360" cy="73152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0292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정상 운영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FEAT-BDC-001 활성화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Policy 정상 적용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98.7% 성공률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40280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350008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2350008" y="1508760"/>
            <a:ext cx="1737360" cy="731520"/>
          </a:xfrm>
          <a:prstGeom prst="rect">
            <a:avLst/>
          </a:prstGeom>
          <a:solidFill>
            <a:srgbClr val="B776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350008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395728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이상 감지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441448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Alert 발생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실패율 급증 (3% → 15%)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DTC-BDC-POLICY-FAIL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087368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97096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197096" y="1508760"/>
            <a:ext cx="1737360" cy="731520"/>
          </a:xfrm>
          <a:prstGeom prst="rect">
            <a:avLst/>
          </a:prstGeom>
          <a:solidFill>
            <a:srgbClr val="B741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197096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242816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Kill Switch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발동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288536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운영자 Kill Switch 실행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또는 자동 트리거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전체 차량 즉시 비활성화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34456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44184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044184" y="1508760"/>
            <a:ext cx="1737360" cy="731520"/>
          </a:xfrm>
          <a:prstGeom prst="rect">
            <a:avLst/>
          </a:prstGeom>
          <a:solidFill>
            <a:srgbClr val="7B241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044184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089904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 Default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적용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35624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Safe Default: disabled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Policy → 기본값 복귀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차량 안전 상태 확인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781544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891272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7891272" y="1508760"/>
            <a:ext cx="1737360" cy="7315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7891272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7936992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원인 분석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&amp; 수정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982712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Audit Log 기반 추적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원인: ECU FW mismatch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 조건 수정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628632" y="178308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738360" y="1508760"/>
            <a:ext cx="1737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9738360" y="1508760"/>
            <a:ext cx="1737360" cy="73152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973836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9784080" y="17830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점진 복구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82980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수정된 Policy 재배포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5% → 20% → 100%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 정상 확인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02920" y="4114800"/>
            <a:ext cx="11155680" cy="54864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029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Demo 환경에서 실제 구현하는 항목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502920" y="4709160"/>
            <a:ext cx="548640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594360" y="4709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CCS → HPVC 정책 전달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2880360" y="4709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REST API → MQTT 변환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02920" y="5056632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594360" y="5056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Flag 평가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2880360" y="5056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Jetson Orin Feature Evaluator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02920" y="5404104"/>
            <a:ext cx="548640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594360" y="5404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Kill Switch 명령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2880360" y="5404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MQTT Topic: /cmd/kill-switch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217920" y="4709160"/>
            <a:ext cx="548640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/>
          <p:nvPr/>
        </p:nvSpPr>
        <p:spPr>
          <a:xfrm>
            <a:off x="6309360" y="4709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 Default 적용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595360" y="4709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ECU 기본값 복귀 (CAN Signal)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217920" y="5056632"/>
            <a:ext cx="5486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/>
          <p:nvPr/>
        </p:nvSpPr>
        <p:spPr>
          <a:xfrm>
            <a:off x="6309360" y="5056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Telemetry 수집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8595360" y="5056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MQTT → Dashboard 실시간 표시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217920" y="5404104"/>
            <a:ext cx="5486400" cy="32918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6309360" y="54041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점진 복구 Rollout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595360" y="5404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CCS → 5%/20%/100% 단계 제어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핵심 :  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 시나리오는 Feature Topology의 </a:t>
            </a: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Control · Deployment · Operations · Rollback</a:t>
            </a:r>
            <a:r>
              <a:rPr lang="en-US" sz="1200" dirty="0">
                <a:solidFill>
                  <a:srgbClr val="FFFF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이 실제로 동작하는 것을 실증한다.</a:t>
            </a:r>
            <a:endParaRPr lang="en-US" sz="1300" dirty="0"/>
          </a:p>
        </p:txBody>
      </p:sp>
      <p:sp>
        <p:nvSpPr>
          <p:cNvPr id="67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Spec; Unleash Kill-switch/Rollout 개념; ISO 24089:2023; Mutuus Lab Demo 시나리오.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R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예상 질의 &amp; 응답 (FAQ)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설계안에 대해 예상되는 주요 질문과 답변을 정리한다.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508760"/>
            <a:ext cx="1115568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94360" y="1581912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15819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154533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기존 ALM/PLM 도구를 대체하는 것인가?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18562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아니다. Feature Topology는 ALM · PLM · FF 도구를 연결하는 기준정보 계층이다. Feature ID가 공통 Key로 동작한다.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313432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94360" y="2386584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94360" y="23865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23500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Flag와 Feature Topology의 차이는?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" y="26609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Flag는 Runtime 제어 도구이고, Feature Topology는 Feature를 구성하는 전체 Artifact의 관계 지도이다. Flag는 Topology의 Control Point 중 하나이다.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118104"/>
            <a:ext cx="1115568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94360" y="3191256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94360" y="31912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31546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구축하는 데 얼마나 걸리는가?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51560" y="346557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Phase 1~2 (기준정보 수립): 4~6주, Phase 3 (Registry MVP): 8~12주. Quick Win BDC 시나리오는 Phase 2에서 즉시 데모 가능하다.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3922776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594360" y="3995928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94360" y="39959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51560" y="39593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어떤 조직이 Feature Topology를 사용하는가?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51560" y="42702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기획 · 시스템 · SW · 검증 · OTA · 협력사관리 · 운영 전 조직이 사용한다. Feature ID가 조직 간 공통 언어 역할을 한다.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" y="4727448"/>
            <a:ext cx="11155680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594360" y="4800600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94360" y="48006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051560" y="47640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현대차 내부 시스템과 어떻게 연동하는가?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51560" y="50749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Codebeamer(ALM) · PLM · Unleash(FF) · OTA 플랫폼과 REST API / Webhook으로 연계한다. Feature ID 기반 양방향 동기화.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594360" y="5605272"/>
            <a:ext cx="32004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594360" y="560527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051560" y="55686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Safety-critical Feature도 다룰 수 있는가?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051560" y="587959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가능하다. Safety/Security Gate를 9개 Release Readiness Gate에 포함했으며, ASIL 등급별 추가 승인 프로세스를 지원한다.</a:t>
            </a:r>
            <a:endParaRPr lang="en-US" sz="1200" dirty="0"/>
          </a:p>
        </p:txBody>
      </p:sp>
      <p:sp>
        <p:nvSpPr>
          <p:cNvPr id="40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ISO/IEC/IEEE 29148:2018; OMG ReqIF 1.2; OpenFeature Spec; Mutuus Lab 분석.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72C4"/>
                </a:solidFill>
                <a:latin typeface="Hyundai Sans Head Pro Medium" pitchFamily="34" charset="0"/>
                <a:ea typeface="Hyundai Sans Head Pro Medium" pitchFamily="34" charset="-122"/>
                <a:cs typeface="Hyundai Sans Head Pro Medium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60120" y="91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PoC Demo Dashboard 화면 구성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1475720" y="6492240"/>
            <a:ext cx="109728" cy="182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640312" y="6382512"/>
            <a:ext cx="109728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11804904" y="6263640"/>
            <a:ext cx="109728" cy="4114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822960"/>
            <a:ext cx="50292" cy="3200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94360" y="79552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 Topology PoC에서 실제 구현하는 React JSX 기반 Dashboard의 핵심 화면 구성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463040"/>
            <a:ext cx="11155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8580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Topology PoC Dashboard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9808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Policies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Topology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9264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78992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FF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" y="2103120"/>
            <a:ext cx="2514600" cy="1051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85800" y="2103120"/>
            <a:ext cx="2514600" cy="457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95528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Active Features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9552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6455"/>
                </a:solidFill>
                <a:latin typeface="Aptos"/>
              </a:rPr>
              <a:t>06</a:t>
            </a:r>
          </a:p>
        </p:txBody>
      </p:sp>
      <p:sp>
        <p:nvSpPr>
          <p:cNvPr id="22" name="Text 19"/>
          <p:cNvSpPr/>
          <p:nvPr/>
        </p:nvSpPr>
        <p:spPr>
          <a:xfrm>
            <a:off x="79552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3 Developing · 2 Pending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383280" y="2103120"/>
            <a:ext cx="2514600" cy="1051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3383280" y="2103120"/>
            <a:ext cx="2514600" cy="45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493008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Policy Status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49300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276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8 / 12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349300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8 Deployed · 4 Draft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80760" y="2103120"/>
            <a:ext cx="2514600" cy="1051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080760" y="2103120"/>
            <a:ext cx="2514600" cy="45720"/>
          </a:xfrm>
          <a:prstGeom prst="rect">
            <a:avLst/>
          </a:prstGeom>
          <a:solidFill>
            <a:srgbClr val="1B7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190488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Kill Switch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9048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0 Active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19048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Last triggered: 3일 전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778240" y="2103120"/>
            <a:ext cx="2514600" cy="10515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8778240" y="2103120"/>
            <a:ext cx="2514600" cy="45720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8887968" y="2176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Telemetry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887968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235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98.7%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8887968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EDEDE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Activation Success Rate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Feature List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85800" y="3657600"/>
            <a:ext cx="502920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777240" y="3657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FEAT-BDC-001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228600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BDC Policy Control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572000" y="3657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Active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85800" y="402336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77724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FEAT-ADAS-001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286000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AEB Emergency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572000" y="4023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3D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Active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85800" y="4389120"/>
            <a:ext cx="5029200" cy="34747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77724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FEAT-CONN-001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2286000" y="4389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64646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Remote Lock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4572000" y="4389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08080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Draft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59436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Live Telemetry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943600" y="3657600"/>
            <a:ext cx="548640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6126480" y="3794760"/>
            <a:ext cx="365760" cy="128016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6629400" y="3977640"/>
            <a:ext cx="365760" cy="10972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7132320" y="3703320"/>
            <a:ext cx="365760" cy="1371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7635240" y="4343400"/>
            <a:ext cx="365760" cy="731520"/>
          </a:xfrm>
          <a:prstGeom prst="rect">
            <a:avLst/>
          </a:prstGeom>
          <a:solidFill>
            <a:srgbClr val="B741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8138160" y="3886200"/>
            <a:ext cx="365760" cy="118872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8641080" y="3749040"/>
            <a:ext cx="365760" cy="132588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9144000" y="4069080"/>
            <a:ext cx="365760" cy="10058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7"/>
          <p:cNvSpPr/>
          <p:nvPr/>
        </p:nvSpPr>
        <p:spPr>
          <a:xfrm>
            <a:off x="9646920" y="4526280"/>
            <a:ext cx="365760" cy="548640"/>
          </a:xfrm>
          <a:prstGeom prst="rect">
            <a:avLst/>
          </a:prstGeom>
          <a:solidFill>
            <a:srgbClr val="B741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10149840" y="3840480"/>
            <a:ext cx="365760" cy="12344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10652760" y="3703320"/>
            <a:ext cx="365760" cy="137160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/>
          <p:nvPr/>
        </p:nvSpPr>
        <p:spPr>
          <a:xfrm>
            <a:off x="5943600" y="5166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Hyundai Sans Text Pro Regular" pitchFamily="34" charset="0"/>
                <a:ea typeface="Hyundai Sans Text Pro Regular" pitchFamily="34" charset="-122"/>
                <a:cs typeface="Hyundai Sans Text Pro Regular" pitchFamily="34" charset="-120"/>
              </a:rPr>
              <a:t>Activation Success Rate (last 10 batches)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6858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85800" y="5120640"/>
            <a:ext cx="1188720" cy="3474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85800" y="5120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Toggle Policy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1965960" y="5120640"/>
            <a:ext cx="1188720" cy="347472"/>
          </a:xfrm>
          <a:prstGeom prst="rect">
            <a:avLst/>
          </a:prstGeom>
          <a:solidFill>
            <a:srgbClr val="B741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/>
          <p:nvPr/>
        </p:nvSpPr>
        <p:spPr>
          <a:xfrm>
            <a:off x="1965960" y="5120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Kill Switch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3246120" y="5120640"/>
            <a:ext cx="1188720" cy="3474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3246120" y="5120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Rollback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4526280" y="5120640"/>
            <a:ext cx="1188720" cy="347472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4526280" y="5120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yundai Sans Head Pro Bold" pitchFamily="34" charset="0"/>
                <a:ea typeface="Hyundai Sans Head Pro Bold" pitchFamily="34" charset="-122"/>
                <a:cs typeface="Hyundai Sans Head Pro Bold" pitchFamily="34" charset="-120"/>
              </a:rPr>
              <a:t>Export Log</a:t>
            </a:r>
            <a:endParaRPr lang="en-US" sz="1200" dirty="0"/>
          </a:p>
        </p:txBody>
      </p:sp>
      <p:sp>
        <p:nvSpPr>
          <p:cNvPr id="73" name="KR_REF_FOOTER"/>
          <p:cNvSpPr txBox="1"/>
          <p:nvPr/>
        </p:nvSpPr>
        <p:spPr>
          <a:xfrm>
            <a:off x="219456" y="6675120"/>
            <a:ext cx="1175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80">
                <a:solidFill>
                  <a:srgbClr val="707070"/>
                </a:solidFill>
                <a:latin typeface="Malgun Gothic"/>
              </a:defRPr>
            </a:pPr>
            <a:r>
              <a:t>출처/근거/참조: OpenFeature Tracking/Observability; Unleash Monitoring Concepts; Mutuus Lab PoC Dashboard 설계.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6912</Words>
  <Application>Microsoft Macintosh PowerPoint</Application>
  <PresentationFormat>와이드스크린</PresentationFormat>
  <Paragraphs>1849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Hyundai Sans Head Pro Bold</vt:lpstr>
      <vt:lpstr>Hyundai Sans Head Pro Medium</vt:lpstr>
      <vt:lpstr>Hyundai Sans Text Pro Bold</vt:lpstr>
      <vt:lpstr>Hyundai Sans Text Pro Regular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Topology 설계안 v3</dc:title>
  <dc:subject>PptxGenJS Presentation</dc:subject>
  <dc:creator>Mutuus Lab</dc:creator>
  <cp:lastModifiedBy>Hyuna Kim</cp:lastModifiedBy>
  <cp:revision>2</cp:revision>
  <dcterms:created xsi:type="dcterms:W3CDTF">2026-05-27T23:14:07Z</dcterms:created>
  <dcterms:modified xsi:type="dcterms:W3CDTF">2026-05-31T13:57:08Z</dcterms:modified>
</cp:coreProperties>
</file>