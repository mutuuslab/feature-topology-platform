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95" r:id="rId46"/>
    <p:sldId id="296" r:id="rId47"/>
    <p:sldId id="297" r:id="rId48"/>
    <p:sldId id="258" r:id="rId4"/>
    <p:sldId id="259" r:id="rId5"/>
    <p:sldId id="298" r:id="rId49"/>
    <p:sldId id="260" r:id="rId6"/>
    <p:sldId id="261" r:id="rId7"/>
    <p:sldId id="262" r:id="rId8"/>
    <p:sldId id="263" r:id="rId9"/>
    <p:sldId id="264" r:id="rId10"/>
    <p:sldId id="268" r:id="rId14"/>
    <p:sldId id="265" r:id="rId11"/>
    <p:sldId id="266" r:id="rId12"/>
    <p:sldId id="267" r:id="rId13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6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6.xml"/><Relationship Id="rId5" Type="http://schemas.openxmlformats.org/officeDocument/2006/relationships/slide" Target="slides/slide7.xml"/><Relationship Id="rId6" Type="http://schemas.openxmlformats.org/officeDocument/2006/relationships/slide" Target="slides/slide9.xml"/><Relationship Id="rId7" Type="http://schemas.openxmlformats.org/officeDocument/2006/relationships/slide" Target="slides/slide10.xml"/><Relationship Id="rId8" Type="http://schemas.openxmlformats.org/officeDocument/2006/relationships/slide" Target="slides/slide11.xml"/><Relationship Id="rId9" Type="http://schemas.openxmlformats.org/officeDocument/2006/relationships/slide" Target="slides/slide12.xml"/><Relationship Id="rId10" Type="http://schemas.openxmlformats.org/officeDocument/2006/relationships/slide" Target="slides/slide13.xml"/><Relationship Id="rId11" Type="http://schemas.openxmlformats.org/officeDocument/2006/relationships/slide" Target="slides/slide15.xml"/><Relationship Id="rId12" Type="http://schemas.openxmlformats.org/officeDocument/2006/relationships/slide" Target="slides/slide16.xml"/><Relationship Id="rId13" Type="http://schemas.openxmlformats.org/officeDocument/2006/relationships/slide" Target="slides/slide17.xml"/><Relationship Id="rId14" Type="http://schemas.openxmlformats.org/officeDocument/2006/relationships/slide" Target="slides/slide14.xml"/><Relationship Id="rId15" Type="http://schemas.openxmlformats.org/officeDocument/2006/relationships/slide" Target="slides/slide18.xml"/><Relationship Id="rId16" Type="http://schemas.openxmlformats.org/officeDocument/2006/relationships/slide" Target="slides/slide19.xml"/><Relationship Id="rId17" Type="http://schemas.openxmlformats.org/officeDocument/2006/relationships/slide" Target="slides/slide20.xml"/><Relationship Id="rId18" Type="http://schemas.openxmlformats.org/officeDocument/2006/relationships/slide" Target="slides/slide21.xml"/><Relationship Id="rId19" Type="http://schemas.openxmlformats.org/officeDocument/2006/relationships/slide" Target="slides/slide22.xml"/><Relationship Id="rId20" Type="http://schemas.openxmlformats.org/officeDocument/2006/relationships/slide" Target="slides/slide23.xml"/><Relationship Id="rId21" Type="http://schemas.openxmlformats.org/officeDocument/2006/relationships/slide" Target="slides/slide24.xml"/><Relationship Id="rId22" Type="http://schemas.openxmlformats.org/officeDocument/2006/relationships/slide" Target="slides/slide25.xml"/><Relationship Id="rId23" Type="http://schemas.openxmlformats.org/officeDocument/2006/relationships/slide" Target="slides/slide26.xml"/><Relationship Id="rId24" Type="http://schemas.openxmlformats.org/officeDocument/2006/relationships/slide" Target="slides/slide27.xml"/><Relationship Id="rId25" Type="http://schemas.openxmlformats.org/officeDocument/2006/relationships/slide" Target="slides/slide28.xml"/><Relationship Id="rId26" Type="http://schemas.openxmlformats.org/officeDocument/2006/relationships/slide" Target="slides/slide29.xml"/><Relationship Id="rId27" Type="http://schemas.openxmlformats.org/officeDocument/2006/relationships/slide" Target="slides/slide30.xml"/><Relationship Id="rId28" Type="http://schemas.openxmlformats.org/officeDocument/2006/relationships/slide" Target="slides/slide31.xml"/><Relationship Id="rId29" Type="http://schemas.openxmlformats.org/officeDocument/2006/relationships/slide" Target="slides/slide32.xml"/><Relationship Id="rId30" Type="http://schemas.openxmlformats.org/officeDocument/2006/relationships/slide" Target="slides/slide33.xml"/><Relationship Id="rId31" Type="http://schemas.openxmlformats.org/officeDocument/2006/relationships/slide" Target="slides/slide34.xml"/><Relationship Id="rId32" Type="http://schemas.openxmlformats.org/officeDocument/2006/relationships/slide" Target="slides/slide35.xml"/><Relationship Id="rId33" Type="http://schemas.openxmlformats.org/officeDocument/2006/relationships/slide" Target="slides/slide36.xml"/><Relationship Id="rId34" Type="http://schemas.openxmlformats.org/officeDocument/2006/relationships/slide" Target="slides/slide37.xml"/><Relationship Id="rId35" Type="http://schemas.openxmlformats.org/officeDocument/2006/relationships/slide" Target="slides/slide38.xml"/><Relationship Id="rId36" Type="http://schemas.openxmlformats.org/officeDocument/2006/relationships/slide" Target="slides/slide39.xml"/><Relationship Id="rId37" Type="http://schemas.openxmlformats.org/officeDocument/2006/relationships/slide" Target="slides/slide40.xml"/><Relationship Id="rId38" Type="http://schemas.openxmlformats.org/officeDocument/2006/relationships/slide" Target="slides/slide41.xml"/><Relationship Id="rId39" Type="http://schemas.openxmlformats.org/officeDocument/2006/relationships/slide" Target="slides/slide42.xml"/><Relationship Id="rId40" Type="http://schemas.openxmlformats.org/officeDocument/2006/relationships/slide" Target="slides/slide43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Relationship Id="rId46" Type="http://schemas.openxmlformats.org/officeDocument/2006/relationships/slide" Target="slides/slide3.xml"/><Relationship Id="rId47" Type="http://schemas.openxmlformats.org/officeDocument/2006/relationships/slide" Target="slides/slide4.xml"/><Relationship Id="rId48" Type="http://schemas.openxmlformats.org/officeDocument/2006/relationships/slide" Target="slides/slide5.xml"/><Relationship Id="rId49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8970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>
              <a:alpha val="8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389120" y="0"/>
            <a:ext cx="780257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sz="3400" b="1">
                <a:solidFill>
                  <a:srgbClr val="000000"/>
                </a:solidFill>
                <a:latin typeface="Malgun Gothic"/>
              </a:rPr>
              <a:t>Feature</a:t>
            </a:r>
            <a:endParaRPr lang="en-US" sz="3600" dirty="0"/>
          </a:p>
          <a:p>
            <a:r>
              <a:rPr sz="3400" b="1">
                <a:solidFill>
                  <a:srgbClr val="000000"/>
                </a:solidFill>
                <a:latin typeface="Malgun Gothic"/>
              </a:rPr>
              <a:t>Topology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2500" b="1">
                <a:solidFill>
                  <a:srgbClr val="000000"/>
                </a:solidFill>
                <a:latin typeface="Malgun Gothic"/>
              </a:rPr>
              <a:t>상세 설계서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4114800"/>
            <a:ext cx="3200400" cy="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sz="1200" b="0">
                <a:solidFill>
                  <a:srgbClr val="000000"/>
                </a:solidFill>
                <a:latin typeface="Malgun Gothic"/>
              </a:rPr>
              <a:t>SDV Feature 기준정보 · 관계 모델 · 운영 의사결정 체계 설계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5925312"/>
            <a:ext cx="137160" cy="201168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58952" y="5806440"/>
            <a:ext cx="137160" cy="32004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69264" y="5669280"/>
            <a:ext cx="137160" cy="45720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34440" y="5806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000000"/>
                </a:solidFill>
                <a:latin typeface="Malgun Gothic"/>
              </a:rPr>
              <a:t>Mutuus Lab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645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200" b="1">
                <a:solidFill>
                  <a:srgbClr val="000000"/>
                </a:solidFill>
                <a:latin typeface="Malgun Gothic"/>
              </a:rPr>
              <a:t>Feature Topology 상세 설계서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029200" y="2286000"/>
            <a:ext cx="54864" cy="164592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303520" y="2286000"/>
            <a:ext cx="6217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sz="1400" b="0">
                <a:solidFill>
                  <a:srgbClr val="000000"/>
                </a:solidFill>
                <a:latin typeface="Malgun Gothic"/>
              </a:rPr>
              <a:t>Feature Topology는 Feature ID를 중심으로 요구사항, SW, ECU, API, Variant, Policy, Test, Supplier, Telemetry를 연결하여 기능 변경의 영향도·검증범위·배포방식·책임범위를 사전에 판단하는 SDV Feature 운영 기준정보 체계이다.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0" y="4389120"/>
            <a:ext cx="1508760" cy="10972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029200" y="44805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17" name="Text 15"/>
          <p:cNvSpPr/>
          <p:nvPr/>
        </p:nvSpPr>
        <p:spPr>
          <a:xfrm>
            <a:off x="5029200" y="5029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00" b="1">
                <a:solidFill>
                  <a:srgbClr val="000000"/>
                </a:solidFill>
                <a:latin typeface="Malgun Gothic"/>
              </a:rPr>
              <a:t>Entity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20840" y="4389120"/>
            <a:ext cx="1508760" cy="10972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720840" y="44805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20" name="Text 18"/>
          <p:cNvSpPr/>
          <p:nvPr/>
        </p:nvSpPr>
        <p:spPr>
          <a:xfrm>
            <a:off x="6720840" y="5029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00" b="1">
                <a:solidFill>
                  <a:srgbClr val="000000"/>
                </a:solidFill>
                <a:latin typeface="Malgun Gothic"/>
              </a:rPr>
              <a:t>Relationship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412480" y="4389120"/>
            <a:ext cx="1508760" cy="10972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412480" y="44805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23" name="Text 21"/>
          <p:cNvSpPr/>
          <p:nvPr/>
        </p:nvSpPr>
        <p:spPr>
          <a:xfrm>
            <a:off x="8412480" y="5029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850" b="1">
                <a:solidFill>
                  <a:srgbClr val="000000"/>
                </a:solidFill>
                <a:latin typeface="Malgun Gothic"/>
              </a:rPr>
              <a:t>Consistency Rules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104120" y="4389120"/>
            <a:ext cx="1508760" cy="10972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0104120" y="44805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Malgun Gothic"/>
              </a:rPr>
              <a:t>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0104120" y="5029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850" b="1">
                <a:solidFill>
                  <a:srgbClr val="000000"/>
                </a:solidFill>
                <a:latin typeface="Malgun Gothic"/>
              </a:rPr>
              <a:t>Decision Engines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5943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b="0">
                <a:solidFill>
                  <a:srgbClr val="000000"/>
                </a:solidFill>
                <a:latin typeface="Malgun Gothic"/>
              </a:rPr>
              <a:t>2026</a:t>
            </a:r>
            <a:endParaRPr lang="en-US" sz="1300" dirty="0"/>
          </a:p>
        </p:txBody>
      </p:sp>
      <p:sp>
        <p:nvSpPr>
          <p:cNvPr id="28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Mutuus Lab 내부 분석 및 Feature Topology 설계안; ISO/IEC/IEEE 29148:2018; OMG SysML 2.0.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4048" y="256032"/>
            <a:ext cx="530352" cy="274320"/>
          </a:xfrm>
          <a:prstGeom prst="roundRect">
            <a:avLst/>
          </a:prstGeom>
          <a:solidFill>
            <a:srgbClr val="E7F8F4"/>
          </a:solidFill>
          <a:ln w="12700">
            <a:solidFill>
              <a:srgbClr val="99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83464"/>
            <a:ext cx="530352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01168"/>
            <a:ext cx="10789920" cy="40233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600" b="1">
                <a:solidFill>
                  <a:srgbClr val="12263F"/>
                </a:solidFill>
                <a:latin typeface="Aptos"/>
              </a:defRPr>
            </a:pPr>
            <a:r>
              <a:t>상세 설계 목차 — 실제 슬라이드 순서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658368"/>
            <a:ext cx="1051560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250" b="0">
                <a:solidFill>
                  <a:srgbClr val="55657A"/>
                </a:solidFill>
                <a:latin typeface="Aptos"/>
              </a:defRPr>
            </a:pPr>
            <a:r>
              <a:t>목차·상세목차·본문 순서를 일치시켜 Feature Topology 설계 흐름을 고정한다.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987552"/>
            <a:ext cx="10817352" cy="0"/>
          </a:xfrm>
          <a:prstGeom prst="line">
            <a:avLst/>
          </a:prstGeom>
          <a:ln w="12700">
            <a:solidFill>
              <a:srgbClr val="DB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325880"/>
            <a:ext cx="3154680" cy="1444752"/>
          </a:xfrm>
          <a:prstGeom prst="roundRect">
            <a:avLst/>
          </a:prstGeom>
          <a:solidFill>
            <a:srgbClr val="ECF4FC"/>
          </a:solidFill>
          <a:ln w="12700">
            <a:solidFill>
              <a:srgbClr val="C4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472184"/>
            <a:ext cx="457200" cy="274320"/>
          </a:xfrm>
          <a:prstGeom prst="roundRect">
            <a:avLst/>
          </a:prstGeom>
          <a:solidFill>
            <a:srgbClr val="E7F8F4"/>
          </a:solidFill>
          <a:ln w="12700">
            <a:solidFill>
              <a:srgbClr val="99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99616"/>
            <a:ext cx="45720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900" b="1">
                <a:solidFill>
                  <a:srgbClr val="006455"/>
                </a:solidFill>
                <a:latin typeface="Aptos"/>
              </a:defRPr>
            </a:pPr>
            <a:r>
              <a:t>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435607"/>
            <a:ext cx="2240280" cy="2560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600" b="1">
                <a:solidFill>
                  <a:srgbClr val="12263F"/>
                </a:solidFill>
                <a:latin typeface="Aptos"/>
              </a:defRPr>
            </a:pPr>
            <a:r>
              <a:t>Problem &amp;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856231"/>
            <a:ext cx="278892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19" b="0">
                <a:solidFill>
                  <a:srgbClr val="2F3F54"/>
                </a:solidFill>
                <a:latin typeface="Aptos"/>
              </a:defRPr>
            </a:pPr>
            <a:r>
              <a:t>Feature 기준정보 분산 문제와 기존 도구의 한계를 정의한다.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423160"/>
            <a:ext cx="278892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880" b="1">
                <a:solidFill>
                  <a:srgbClr val="006455"/>
                </a:solidFill>
                <a:latin typeface="Aptos"/>
              </a:defRPr>
            </a:pPr>
            <a:r>
              <a:t>Slides 6–7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325880"/>
            <a:ext cx="3154680" cy="1444752"/>
          </a:xfrm>
          <a:prstGeom prst="roundRect">
            <a:avLst/>
          </a:prstGeom>
          <a:solidFill>
            <a:srgbClr val="EFFAF7"/>
          </a:solidFill>
          <a:ln w="12700">
            <a:solidFill>
              <a:srgbClr val="C4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97680" y="1472184"/>
            <a:ext cx="457200" cy="274320"/>
          </a:xfrm>
          <a:prstGeom prst="roundRect">
            <a:avLst/>
          </a:prstGeom>
          <a:solidFill>
            <a:srgbClr val="E7F8F4"/>
          </a:solidFill>
          <a:ln w="12700">
            <a:solidFill>
              <a:srgbClr val="99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499616"/>
            <a:ext cx="45720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900" b="1">
                <a:solidFill>
                  <a:srgbClr val="006455"/>
                </a:solidFill>
                <a:latin typeface="Aptos"/>
              </a:defRPr>
            </a:pPr>
            <a:r>
              <a:t>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1435607"/>
            <a:ext cx="2240280" cy="2560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600" b="1">
                <a:solidFill>
                  <a:srgbClr val="12263F"/>
                </a:solidFill>
                <a:latin typeface="Aptos"/>
              </a:defRPr>
            </a:pPr>
            <a:r>
              <a:t>Core Concept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1856231"/>
            <a:ext cx="278892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19" b="0">
                <a:solidFill>
                  <a:srgbClr val="2F3F54"/>
                </a:solidFill>
                <a:latin typeface="Aptos"/>
              </a:defRPr>
            </a:pPr>
            <a:r>
              <a:t>Feature Definition · Taxonomy · BOM · Modeling · Topology를 순서대로 설계한다.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423160"/>
            <a:ext cx="278892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880" b="1">
                <a:solidFill>
                  <a:srgbClr val="006455"/>
                </a:solidFill>
                <a:latin typeface="Aptos"/>
              </a:defRPr>
            </a:pPr>
            <a:r>
              <a:t>Slides 8–12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1325880"/>
            <a:ext cx="3154680" cy="1444752"/>
          </a:xfrm>
          <a:prstGeom prst="roundRect">
            <a:avLst/>
          </a:prstGeom>
          <a:solidFill>
            <a:srgbClr val="F5F1FA"/>
          </a:solidFill>
          <a:ln w="12700">
            <a:solidFill>
              <a:srgbClr val="C4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818120" y="1472184"/>
            <a:ext cx="457200" cy="274320"/>
          </a:xfrm>
          <a:prstGeom prst="roundRect">
            <a:avLst/>
          </a:prstGeom>
          <a:solidFill>
            <a:srgbClr val="E7F8F4"/>
          </a:solidFill>
          <a:ln w="12700">
            <a:solidFill>
              <a:srgbClr val="99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1499616"/>
            <a:ext cx="45720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900" b="1">
                <a:solidFill>
                  <a:srgbClr val="006455"/>
                </a:solidFill>
                <a:latin typeface="Aptos"/>
              </a:defRPr>
            </a:pPr>
            <a:r>
              <a:t>III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1435607"/>
            <a:ext cx="2240280" cy="2560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600" b="1">
                <a:solidFill>
                  <a:srgbClr val="12263F"/>
                </a:solidFill>
                <a:latin typeface="Aptos"/>
              </a:defRPr>
            </a:pPr>
            <a:r>
              <a:t>Registry &amp; Data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1856231"/>
            <a:ext cx="278892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19" b="0">
                <a:solidFill>
                  <a:srgbClr val="2F3F54"/>
                </a:solidFill>
                <a:latin typeface="Aptos"/>
              </a:defRPr>
            </a:pPr>
            <a:r>
              <a:t>Registry Source of Truth와 Entity/Relationship/Consistency Rule을 설계한다.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423160"/>
            <a:ext cx="278892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880" b="1">
                <a:solidFill>
                  <a:srgbClr val="006455"/>
                </a:solidFill>
                <a:latin typeface="Aptos"/>
              </a:defRPr>
            </a:pPr>
            <a:r>
              <a:t>Slides 13–14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246120"/>
            <a:ext cx="3154680" cy="1444752"/>
          </a:xfrm>
          <a:prstGeom prst="roundRect">
            <a:avLst/>
          </a:prstGeom>
          <a:solidFill>
            <a:srgbClr val="FEF4EB"/>
          </a:solidFill>
          <a:ln w="12700">
            <a:solidFill>
              <a:srgbClr val="C4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" y="3392424"/>
            <a:ext cx="457200" cy="274320"/>
          </a:xfrm>
          <a:prstGeom prst="roundRect">
            <a:avLst/>
          </a:prstGeom>
          <a:solidFill>
            <a:srgbClr val="E7F8F4"/>
          </a:solidFill>
          <a:ln w="12700">
            <a:solidFill>
              <a:srgbClr val="99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419856"/>
            <a:ext cx="45720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900" b="1">
                <a:solidFill>
                  <a:srgbClr val="006455"/>
                </a:solidFill>
                <a:latin typeface="Aptos"/>
              </a:defRPr>
            </a:pPr>
            <a:r>
              <a:t>IV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355848"/>
            <a:ext cx="2240280" cy="2560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600" b="1">
                <a:solidFill>
                  <a:srgbClr val="12263F"/>
                </a:solidFill>
                <a:latin typeface="Aptos"/>
              </a:defRPr>
            </a:pPr>
            <a:r>
              <a:t>Runtime / Deployment / Ops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3776472"/>
            <a:ext cx="278892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19" b="0">
                <a:solidFill>
                  <a:srgbClr val="2F3F54"/>
                </a:solidFill>
                <a:latin typeface="Aptos"/>
              </a:defRPr>
            </a:pPr>
            <a:r>
              <a:t>Variant, Runtime Control, 배포 판단, 운영 관측 체계를 설계한다.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" y="4343400"/>
            <a:ext cx="278892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880" b="1">
                <a:solidFill>
                  <a:srgbClr val="006455"/>
                </a:solidFill>
                <a:latin typeface="Aptos"/>
              </a:defRPr>
            </a:pPr>
            <a:r>
              <a:t>Slides 15–17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60520" y="3246120"/>
            <a:ext cx="3154680" cy="1444752"/>
          </a:xfrm>
          <a:prstGeom prst="roundRect">
            <a:avLst/>
          </a:prstGeom>
          <a:solidFill>
            <a:srgbClr val="ECF4FC"/>
          </a:solidFill>
          <a:ln w="12700">
            <a:solidFill>
              <a:srgbClr val="C4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297680" y="3392424"/>
            <a:ext cx="457200" cy="274320"/>
          </a:xfrm>
          <a:prstGeom prst="roundRect">
            <a:avLst/>
          </a:prstGeom>
          <a:solidFill>
            <a:srgbClr val="E7F8F4"/>
          </a:solidFill>
          <a:ln w="12700">
            <a:solidFill>
              <a:srgbClr val="99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0" y="3419856"/>
            <a:ext cx="45720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900" b="1">
                <a:solidFill>
                  <a:srgbClr val="006455"/>
                </a:solidFill>
                <a:latin typeface="Aptos"/>
              </a:defRPr>
            </a:pPr>
            <a:r>
              <a:t>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3355848"/>
            <a:ext cx="2240280" cy="2560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600" b="1">
                <a:solidFill>
                  <a:srgbClr val="12263F"/>
                </a:solidFill>
                <a:latin typeface="Aptos"/>
              </a:defRPr>
            </a:pPr>
            <a:r>
              <a:t>Decision Engines &amp; UI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3776472"/>
            <a:ext cx="278892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19" b="0">
                <a:solidFill>
                  <a:srgbClr val="2F3F54"/>
                </a:solidFill>
                <a:latin typeface="Aptos"/>
              </a:defRPr>
            </a:pPr>
            <a:r>
              <a:t>Impact, Verification, Deploy, Supplier 판단 엔진과 UI 작업 흐름을 정의한다.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4343400"/>
            <a:ext cx="278892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880" b="1">
                <a:solidFill>
                  <a:srgbClr val="006455"/>
                </a:solidFill>
                <a:latin typeface="Aptos"/>
              </a:defRPr>
            </a:pPr>
            <a:r>
              <a:t>Slides 18–19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80960" y="3246120"/>
            <a:ext cx="3154680" cy="1444752"/>
          </a:xfrm>
          <a:prstGeom prst="roundRect">
            <a:avLst/>
          </a:prstGeom>
          <a:solidFill>
            <a:srgbClr val="EFFAF7"/>
          </a:solidFill>
          <a:ln w="12700">
            <a:solidFill>
              <a:srgbClr val="C4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818120" y="3392424"/>
            <a:ext cx="457200" cy="274320"/>
          </a:xfrm>
          <a:prstGeom prst="roundRect">
            <a:avLst/>
          </a:prstGeom>
          <a:solidFill>
            <a:srgbClr val="E7F8F4"/>
          </a:solidFill>
          <a:ln w="12700">
            <a:solidFill>
              <a:srgbClr val="99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18120" y="3419856"/>
            <a:ext cx="45720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900" b="1">
                <a:solidFill>
                  <a:srgbClr val="006455"/>
                </a:solidFill>
                <a:latin typeface="Aptos"/>
              </a:defRPr>
            </a:pPr>
            <a:r>
              <a:t>VI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3355848"/>
            <a:ext cx="2240280" cy="2560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600" b="1">
                <a:solidFill>
                  <a:srgbClr val="12263F"/>
                </a:solidFill>
                <a:latin typeface="Aptos"/>
              </a:defRPr>
            </a:pPr>
            <a:r>
              <a:t>End-to-End Scenario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3776472"/>
            <a:ext cx="278892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19" b="0">
                <a:solidFill>
                  <a:srgbClr val="2F3F54"/>
                </a:solidFill>
                <a:latin typeface="Aptos"/>
              </a:defRPr>
            </a:pPr>
            <a:r>
              <a:t>BDC Policy Control을 기준으로 Master→Decision→Release 흐름을 검증한다.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4343400"/>
            <a:ext cx="278892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880" b="1">
                <a:solidFill>
                  <a:srgbClr val="006455"/>
                </a:solidFill>
                <a:latin typeface="Aptos"/>
              </a:defRPr>
            </a:pPr>
            <a:r>
              <a:t>Slides 20–22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4754880"/>
            <a:ext cx="3154680" cy="1444752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4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77240" y="4901184"/>
            <a:ext cx="457200" cy="274320"/>
          </a:xfrm>
          <a:prstGeom prst="roundRect">
            <a:avLst/>
          </a:prstGeom>
          <a:solidFill>
            <a:srgbClr val="E7F8F4"/>
          </a:solidFill>
          <a:ln w="12700">
            <a:solidFill>
              <a:srgbClr val="99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4928616"/>
            <a:ext cx="45720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900" b="1">
                <a:solidFill>
                  <a:srgbClr val="006455"/>
                </a:solidFill>
                <a:latin typeface="Aptos"/>
              </a:defRPr>
            </a:pPr>
            <a:r>
              <a:t>VII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4864608"/>
            <a:ext cx="2240280" cy="2560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600" b="1">
                <a:solidFill>
                  <a:srgbClr val="12263F"/>
                </a:solidFill>
                <a:latin typeface="Aptos"/>
              </a:defRPr>
            </a:pPr>
            <a:r>
              <a:t>Appendix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59" y="5285232"/>
            <a:ext cx="278892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19" b="0">
                <a:solidFill>
                  <a:srgbClr val="2F3F54"/>
                </a:solidFill>
                <a:latin typeface="Aptos"/>
              </a:defRPr>
            </a:pPr>
            <a:r>
              <a:t>Gate, Governance, Variant, Impact, Supplier, PoC, FAQ 상세 근거를 제공한다.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59" y="5852160"/>
            <a:ext cx="278892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880" b="1">
                <a:solidFill>
                  <a:srgbClr val="006455"/>
                </a:solidFill>
                <a:latin typeface="Aptos"/>
              </a:defRPr>
            </a:pPr>
            <a:r>
              <a:t>Slides 23–43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6236208"/>
            <a:ext cx="11201400" cy="329184"/>
          </a:xfrm>
          <a:prstGeom prst="roundRect">
            <a:avLst/>
          </a:prstGeom>
          <a:solidFill>
            <a:srgbClr val="EFFAF7"/>
          </a:solidFill>
          <a:ln w="12700">
            <a:solidFill>
              <a:srgbClr val="93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6318504"/>
            <a:ext cx="10835640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850" b="1">
                <a:solidFill>
                  <a:srgbClr val="006455"/>
                </a:solidFill>
                <a:latin typeface="Aptos"/>
              </a:defRPr>
            </a:pPr>
            <a:r>
              <a:t>핵심: 본문은 Slides 6–22, Appendix는 Slides 23–43으로 구성하며, 실제 슬라이드 순서와 상세 목차를 동일하게 유지한다.</a:t>
            </a:r>
          </a:p>
        </p:txBody>
      </p:sp>
      <p:sp>
        <p:nvSpPr>
          <p:cNvPr id="51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Mutuus Lab 상세 목차 설계; ISO/IEC/IEEE 29148:2018; OMG SysML 2.0; OMG ReqIF 1.2.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256032"/>
            <a:ext cx="530352" cy="274320"/>
          </a:xfrm>
          <a:prstGeom prst="roundRect">
            <a:avLst/>
          </a:prstGeom>
          <a:solidFill>
            <a:srgbClr val="E7F8F4"/>
          </a:solidFill>
          <a:ln w="12700">
            <a:solidFill>
              <a:srgbClr val="99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83464"/>
            <a:ext cx="530352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01168"/>
            <a:ext cx="10789920" cy="40233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600" b="1">
                <a:solidFill>
                  <a:srgbClr val="12263F"/>
                </a:solidFill>
                <a:latin typeface="Aptos"/>
              </a:defRPr>
            </a:pPr>
            <a:r>
              <a:t>상세 목차 1/3 — Problem Definition &amp; Core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658368"/>
            <a:ext cx="1051560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250" b="0">
                <a:solidFill>
                  <a:srgbClr val="55657A"/>
                </a:solidFill>
                <a:latin typeface="Aptos"/>
              </a:defRPr>
            </a:pPr>
            <a:r>
              <a:t>문제 정의 후 Feature 기준정보를 Definition→Taxonomy→BOM→Modeling→Topology 순서로 상세화한다.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987552"/>
            <a:ext cx="10817352" cy="0"/>
          </a:xfrm>
          <a:prstGeom prst="line">
            <a:avLst/>
          </a:prstGeom>
          <a:ln w="12700">
            <a:solidFill>
              <a:srgbClr val="DB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298448"/>
            <a:ext cx="54406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5528" y="1453895"/>
            <a:ext cx="438912" cy="274320"/>
          </a:xfrm>
          <a:prstGeom prst="roundRect">
            <a:avLst/>
          </a:prstGeom>
          <a:solidFill>
            <a:srgbClr val="E7F8F4"/>
          </a:solidFill>
          <a:ln w="12700">
            <a:solidFill>
              <a:srgbClr val="99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481328"/>
            <a:ext cx="438912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900" b="1">
                <a:solidFill>
                  <a:srgbClr val="006455"/>
                </a:solidFill>
                <a:latin typeface="Aptos"/>
              </a:defRPr>
            </a:pPr>
            <a:r>
              <a:t>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435607"/>
            <a:ext cx="4572000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520" b="1">
                <a:solidFill>
                  <a:srgbClr val="12263F"/>
                </a:solidFill>
                <a:latin typeface="Aptos"/>
              </a:defRPr>
            </a:pPr>
            <a:r>
              <a:t>Problem &amp;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819655"/>
            <a:ext cx="4114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00" b="1">
                <a:solidFill>
                  <a:srgbClr val="006455"/>
                </a:solidFill>
                <a:latin typeface="Aptos"/>
              </a:defRPr>
            </a:pPr>
            <a:r>
              <a:t>1.1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1819655"/>
            <a:ext cx="45262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40" b="0">
                <a:solidFill>
                  <a:srgbClr val="2F3F54"/>
                </a:solidFill>
                <a:latin typeface="Aptos"/>
              </a:defRPr>
            </a:pPr>
            <a:r>
              <a:t>Why Feature Topology: SDV Feature 기준정보 분산과 의사결정 지연 문제 정의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819655"/>
            <a:ext cx="54864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1">
                <a:solidFill>
                  <a:srgbClr val="006455"/>
                </a:solidFill>
                <a:latin typeface="Aptos"/>
              </a:defRPr>
            </a:pPr>
            <a:r>
              <a:t>S6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2121408"/>
            <a:ext cx="4114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00" b="1">
                <a:solidFill>
                  <a:srgbClr val="006455"/>
                </a:solidFill>
                <a:latin typeface="Aptos"/>
              </a:defRPr>
            </a:pPr>
            <a:r>
              <a:t>1.2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2121408"/>
            <a:ext cx="45262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40" b="0">
                <a:solidFill>
                  <a:srgbClr val="2F3F54"/>
                </a:solidFill>
                <a:latin typeface="Aptos"/>
              </a:defRPr>
            </a:pPr>
            <a:r>
              <a:t>Tool Gap: ALM·PLM·Feature Flag·OTA/운영 도구의 Coverage Gap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121408"/>
            <a:ext cx="54864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1">
                <a:solidFill>
                  <a:srgbClr val="006455"/>
                </a:solidFill>
                <a:latin typeface="Aptos"/>
              </a:defRPr>
            </a:pPr>
            <a:r>
              <a:t>S7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394960"/>
            <a:ext cx="5166360" cy="274320"/>
          </a:xfrm>
          <a:prstGeom prst="roundRect">
            <a:avLst/>
          </a:prstGeom>
          <a:solidFill>
            <a:srgbClr val="EFFAF7"/>
          </a:solidFill>
          <a:ln w="12700">
            <a:solidFill>
              <a:srgbClr val="A4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468112"/>
            <a:ext cx="4910328" cy="10972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819" b="1">
                <a:solidFill>
                  <a:srgbClr val="006455"/>
                </a:solidFill>
                <a:latin typeface="Aptos"/>
              </a:defRPr>
            </a:pPr>
            <a:r>
              <a:t>산출물: Problem Statement + Tool Gap Matrix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298448"/>
            <a:ext cx="54406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64808" y="1453895"/>
            <a:ext cx="438912" cy="274320"/>
          </a:xfrm>
          <a:prstGeom prst="roundRect">
            <a:avLst/>
          </a:prstGeom>
          <a:solidFill>
            <a:srgbClr val="E7F8F4"/>
          </a:solidFill>
          <a:ln w="12700">
            <a:solidFill>
              <a:srgbClr val="99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1481328"/>
            <a:ext cx="438912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900" b="1">
                <a:solidFill>
                  <a:srgbClr val="006455"/>
                </a:solidFill>
                <a:latin typeface="Aptos"/>
              </a:defRPr>
            </a:pPr>
            <a:r>
              <a:t>II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1435607"/>
            <a:ext cx="4572000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520" b="1">
                <a:solidFill>
                  <a:srgbClr val="12263F"/>
                </a:solidFill>
                <a:latin typeface="Aptos"/>
              </a:defRPr>
            </a:pPr>
            <a:r>
              <a:t>Core Concept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1819655"/>
            <a:ext cx="4114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00" b="1">
                <a:solidFill>
                  <a:srgbClr val="006455"/>
                </a:solidFill>
                <a:latin typeface="Aptos"/>
              </a:defRPr>
            </a:pPr>
            <a:r>
              <a:t>2.1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5432" y="1819655"/>
            <a:ext cx="45262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40" b="0">
                <a:solidFill>
                  <a:srgbClr val="2F3F54"/>
                </a:solidFill>
                <a:latin typeface="Aptos"/>
              </a:defRPr>
            </a:pPr>
            <a:r>
              <a:t>Feature Definition: Feature 등록 기준과 Feature가 아닌 항목의 분류 원칙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1819655"/>
            <a:ext cx="54864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1">
                <a:solidFill>
                  <a:srgbClr val="006455"/>
                </a:solidFill>
                <a:latin typeface="Aptos"/>
              </a:defRPr>
            </a:pPr>
            <a:r>
              <a:t>S8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2121408"/>
            <a:ext cx="4114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00" b="1">
                <a:solidFill>
                  <a:srgbClr val="006455"/>
                </a:solidFill>
                <a:latin typeface="Aptos"/>
              </a:defRPr>
            </a:pPr>
            <a:r>
              <a:t>2.2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85432" y="2121408"/>
            <a:ext cx="45262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40" b="0">
                <a:solidFill>
                  <a:srgbClr val="2F3F54"/>
                </a:solidFill>
                <a:latin typeface="Aptos"/>
              </a:defRPr>
            </a:pPr>
            <a:r>
              <a:t>Feature Taxonomy: L0~L5 계층화와 기준 Feature = L2 정의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2121408"/>
            <a:ext cx="54864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1">
                <a:solidFill>
                  <a:srgbClr val="006455"/>
                </a:solidFill>
                <a:latin typeface="Aptos"/>
              </a:defRPr>
            </a:pPr>
            <a:r>
              <a:t>S9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2423160"/>
            <a:ext cx="4114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00" b="1">
                <a:solidFill>
                  <a:srgbClr val="006455"/>
                </a:solidFill>
                <a:latin typeface="Aptos"/>
              </a:defRPr>
            </a:pPr>
            <a:r>
              <a:t>2.3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85432" y="2423160"/>
            <a:ext cx="45262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40" b="0">
                <a:solidFill>
                  <a:srgbClr val="2F3F54"/>
                </a:solidFill>
                <a:latin typeface="Aptos"/>
              </a:defRPr>
            </a:pPr>
            <a:r>
              <a:t>Feature BOM: 11개 BOM 영역과 Feature 내부 구성요소 설계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2423160"/>
            <a:ext cx="54864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1">
                <a:solidFill>
                  <a:srgbClr val="006455"/>
                </a:solidFill>
                <a:latin typeface="Aptos"/>
              </a:defRPr>
            </a:pPr>
            <a:r>
              <a:t>S10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2724912"/>
            <a:ext cx="4114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00" b="1">
                <a:solidFill>
                  <a:srgbClr val="006455"/>
                </a:solidFill>
                <a:latin typeface="Aptos"/>
              </a:defRPr>
            </a:pPr>
            <a:r>
              <a:t>2.4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85432" y="2724912"/>
            <a:ext cx="45262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40" b="0">
                <a:solidFill>
                  <a:srgbClr val="2F3F54"/>
                </a:solidFill>
                <a:latin typeface="Aptos"/>
              </a:defRPr>
            </a:pPr>
            <a:r>
              <a:t>Feature Modeling: Feature 간 parent/requires/excludes/fallback 등 Edge 설계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2724912"/>
            <a:ext cx="54864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1">
                <a:solidFill>
                  <a:srgbClr val="006455"/>
                </a:solidFill>
                <a:latin typeface="Aptos"/>
              </a:defRPr>
            </a:pPr>
            <a:r>
              <a:t>S11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3026664"/>
            <a:ext cx="4114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00" b="1">
                <a:solidFill>
                  <a:srgbClr val="006455"/>
                </a:solidFill>
                <a:latin typeface="Aptos"/>
              </a:defRPr>
            </a:pPr>
            <a:r>
              <a:t>2.5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85432" y="3026664"/>
            <a:ext cx="45262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40" b="0">
                <a:solidFill>
                  <a:srgbClr val="2F3F54"/>
                </a:solidFill>
                <a:latin typeface="Aptos"/>
              </a:defRPr>
            </a:pPr>
            <a:r>
              <a:t>Feature Topology: Feature BOM + Modeling + Decision Context 관계 그래프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3026664"/>
            <a:ext cx="54864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1">
                <a:solidFill>
                  <a:srgbClr val="006455"/>
                </a:solidFill>
                <a:latin typeface="Aptos"/>
              </a:defRPr>
            </a:pPr>
            <a:r>
              <a:t>S12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46520" y="5394960"/>
            <a:ext cx="5166360" cy="274320"/>
          </a:xfrm>
          <a:prstGeom prst="roundRect">
            <a:avLst/>
          </a:prstGeom>
          <a:solidFill>
            <a:srgbClr val="EFFAF7"/>
          </a:solidFill>
          <a:ln w="12700">
            <a:solidFill>
              <a:srgbClr val="A4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65392" y="5468112"/>
            <a:ext cx="4910328" cy="10972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819" b="1">
                <a:solidFill>
                  <a:srgbClr val="006455"/>
                </a:solidFill>
                <a:latin typeface="Aptos"/>
              </a:defRPr>
            </a:pPr>
            <a:r>
              <a:t>산출물: Definition Guide + Taxonomy/BOM/Topology Model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6236208"/>
            <a:ext cx="11201400" cy="329184"/>
          </a:xfrm>
          <a:prstGeom prst="roundRect">
            <a:avLst/>
          </a:prstGeom>
          <a:solidFill>
            <a:srgbClr val="EFFAF7"/>
          </a:solidFill>
          <a:ln w="12700">
            <a:solidFill>
              <a:srgbClr val="93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6318504"/>
            <a:ext cx="10835640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850" b="1">
                <a:solidFill>
                  <a:srgbClr val="006455"/>
                </a:solidFill>
                <a:latin typeface="Aptos"/>
              </a:defRPr>
            </a:pPr>
            <a:r>
              <a:t>핵심: Feature Definition을 실제 본문 순서에 삽입하고, Taxonomy·BOM·Modeling·Topology가 그 뒤에 연결되도록 정합성을 맞춘다.</a:t>
            </a:r>
          </a:p>
        </p:txBody>
      </p:sp>
      <p:sp>
        <p:nvSpPr>
          <p:cNvPr id="42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ISO/IEC/IEEE 29148:2018; OMG SysML 2.0; OMG ReqIF 1.2; FODA/Feature Modeling 문헌.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256032"/>
            <a:ext cx="530352" cy="274320"/>
          </a:xfrm>
          <a:prstGeom prst="roundRect">
            <a:avLst/>
          </a:prstGeom>
          <a:solidFill>
            <a:srgbClr val="E7F8F4"/>
          </a:solidFill>
          <a:ln w="12700">
            <a:solidFill>
              <a:srgbClr val="99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83464"/>
            <a:ext cx="530352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01168"/>
            <a:ext cx="10789920" cy="40233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600" b="1">
                <a:solidFill>
                  <a:srgbClr val="12263F"/>
                </a:solidFill>
                <a:latin typeface="Aptos"/>
              </a:defRPr>
            </a:pPr>
            <a:r>
              <a:t>상세 목차 2/3 — Registry Data Model &amp;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658368"/>
            <a:ext cx="1051560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250" b="0">
                <a:solidFill>
                  <a:srgbClr val="55657A"/>
                </a:solidFill>
                <a:latin typeface="Aptos"/>
              </a:defRPr>
            </a:pPr>
            <a:r>
              <a:t>기준정보를 저장하는 Registry와 실차 운영·배포 판단에 필요한 Runtime/Deployment/Ops 모델을 연결한다.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987552"/>
            <a:ext cx="10817352" cy="0"/>
          </a:xfrm>
          <a:prstGeom prst="line">
            <a:avLst/>
          </a:prstGeom>
          <a:ln w="12700">
            <a:solidFill>
              <a:srgbClr val="DB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298448"/>
            <a:ext cx="54406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5528" y="1453895"/>
            <a:ext cx="438912" cy="274320"/>
          </a:xfrm>
          <a:prstGeom prst="roundRect">
            <a:avLst/>
          </a:prstGeom>
          <a:solidFill>
            <a:srgbClr val="E7F8F4"/>
          </a:solidFill>
          <a:ln w="12700">
            <a:solidFill>
              <a:srgbClr val="99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481328"/>
            <a:ext cx="438912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900" b="1">
                <a:solidFill>
                  <a:srgbClr val="006455"/>
                </a:solidFill>
                <a:latin typeface="Aptos"/>
              </a:defRPr>
            </a:pPr>
            <a:r>
              <a:t>III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435607"/>
            <a:ext cx="4572000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520" b="1">
                <a:solidFill>
                  <a:srgbClr val="12263F"/>
                </a:solidFill>
                <a:latin typeface="Aptos"/>
              </a:defRPr>
            </a:pPr>
            <a:r>
              <a:t>Registry &amp; Data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819655"/>
            <a:ext cx="4114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00" b="1">
                <a:solidFill>
                  <a:srgbClr val="006455"/>
                </a:solidFill>
                <a:latin typeface="Aptos"/>
              </a:defRPr>
            </a:pPr>
            <a:r>
              <a:t>3.1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1819655"/>
            <a:ext cx="45262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40" b="0">
                <a:solidFill>
                  <a:srgbClr val="2F3F54"/>
                </a:solidFill>
                <a:latin typeface="Aptos"/>
              </a:defRPr>
            </a:pPr>
            <a:r>
              <a:t>Topology Registry: Feature Catalog·Detail·Graph·Decision Center를 제공하는 Source of Truth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819655"/>
            <a:ext cx="54864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1">
                <a:solidFill>
                  <a:srgbClr val="006455"/>
                </a:solidFill>
                <a:latin typeface="Aptos"/>
              </a:defRPr>
            </a:pPr>
            <a:r>
              <a:t>S13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2121408"/>
            <a:ext cx="4114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00" b="1">
                <a:solidFill>
                  <a:srgbClr val="006455"/>
                </a:solidFill>
                <a:latin typeface="Aptos"/>
              </a:defRPr>
            </a:pPr>
            <a:r>
              <a:t>3.2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2121408"/>
            <a:ext cx="45262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40" b="0">
                <a:solidFill>
                  <a:srgbClr val="2F3F54"/>
                </a:solidFill>
                <a:latin typeface="Aptos"/>
              </a:defRPr>
            </a:pPr>
            <a:r>
              <a:t>Metamodel &amp; Rules: 18 Entity, Relationship, 12개 Consistency Rule로 데이터 정합성 보장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121408"/>
            <a:ext cx="54864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1">
                <a:solidFill>
                  <a:srgbClr val="006455"/>
                </a:solidFill>
                <a:latin typeface="Aptos"/>
              </a:defRPr>
            </a:pPr>
            <a:r>
              <a:t>S14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394960"/>
            <a:ext cx="5166360" cy="274320"/>
          </a:xfrm>
          <a:prstGeom prst="roundRect">
            <a:avLst/>
          </a:prstGeom>
          <a:solidFill>
            <a:srgbClr val="EFFAF7"/>
          </a:solidFill>
          <a:ln w="12700">
            <a:solidFill>
              <a:srgbClr val="A4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468112"/>
            <a:ext cx="4910328" cy="10972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819" b="1">
                <a:solidFill>
                  <a:srgbClr val="006455"/>
                </a:solidFill>
                <a:latin typeface="Aptos"/>
              </a:defRPr>
            </a:pPr>
            <a:r>
              <a:t>산출물: Registry Architecture + Entity/Rule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298448"/>
            <a:ext cx="54406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64808" y="1453895"/>
            <a:ext cx="438912" cy="274320"/>
          </a:xfrm>
          <a:prstGeom prst="roundRect">
            <a:avLst/>
          </a:prstGeom>
          <a:solidFill>
            <a:srgbClr val="E7F8F4"/>
          </a:solidFill>
          <a:ln w="12700">
            <a:solidFill>
              <a:srgbClr val="99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1481328"/>
            <a:ext cx="438912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900" b="1">
                <a:solidFill>
                  <a:srgbClr val="006455"/>
                </a:solidFill>
                <a:latin typeface="Aptos"/>
              </a:defRPr>
            </a:pPr>
            <a:r>
              <a:t>IV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1435607"/>
            <a:ext cx="4572000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520" b="1">
                <a:solidFill>
                  <a:srgbClr val="12263F"/>
                </a:solidFill>
                <a:latin typeface="Aptos"/>
              </a:defRPr>
            </a:pPr>
            <a:r>
              <a:t>Runtime / Deployment / 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1819655"/>
            <a:ext cx="4114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00" b="1">
                <a:solidFill>
                  <a:srgbClr val="006455"/>
                </a:solidFill>
                <a:latin typeface="Aptos"/>
              </a:defRPr>
            </a:pPr>
            <a:r>
              <a:t>4.1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5432" y="1819655"/>
            <a:ext cx="45262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40" b="0">
                <a:solidFill>
                  <a:srgbClr val="2F3F54"/>
                </a:solidFill>
                <a:latin typeface="Aptos"/>
              </a:defRPr>
            </a:pPr>
            <a:r>
              <a:t>Variant &amp; Runtime Control: Variant Filter와 Runtime Control Gate 분리 설계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1819655"/>
            <a:ext cx="54864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1">
                <a:solidFill>
                  <a:srgbClr val="006455"/>
                </a:solidFill>
                <a:latin typeface="Aptos"/>
              </a:defRPr>
            </a:pPr>
            <a:r>
              <a:t>S15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2121408"/>
            <a:ext cx="4114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00" b="1">
                <a:solidFill>
                  <a:srgbClr val="006455"/>
                </a:solidFill>
                <a:latin typeface="Aptos"/>
              </a:defRPr>
            </a:pPr>
            <a:r>
              <a:t>4.2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85432" y="2121408"/>
            <a:ext cx="45262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40" b="0">
                <a:solidFill>
                  <a:srgbClr val="2F3F54"/>
                </a:solidFill>
                <a:latin typeface="Aptos"/>
              </a:defRPr>
            </a:pPr>
            <a:r>
              <a:t>Deployment Decision: SWC/API/Policy/Calibration 변경 유형별 배포 방식 판단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2121408"/>
            <a:ext cx="54864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1">
                <a:solidFill>
                  <a:srgbClr val="006455"/>
                </a:solidFill>
                <a:latin typeface="Aptos"/>
              </a:defRPr>
            </a:pPr>
            <a:r>
              <a:t>S16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2423160"/>
            <a:ext cx="4114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00" b="1">
                <a:solidFill>
                  <a:srgbClr val="006455"/>
                </a:solidFill>
                <a:latin typeface="Aptos"/>
              </a:defRPr>
            </a:pPr>
            <a:r>
              <a:t>4.3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85432" y="2423160"/>
            <a:ext cx="45262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40" b="0">
                <a:solidFill>
                  <a:srgbClr val="2F3F54"/>
                </a:solidFill>
                <a:latin typeface="Aptos"/>
              </a:defRPr>
            </a:pPr>
            <a:r>
              <a:t>Operations / Telemetry / Audit: Runtime State, Telemetry, Audit, Incident 기반 운영 추적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2423160"/>
            <a:ext cx="54864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1">
                <a:solidFill>
                  <a:srgbClr val="006455"/>
                </a:solidFill>
                <a:latin typeface="Aptos"/>
              </a:defRPr>
            </a:pPr>
            <a:r>
              <a:t>S17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46520" y="5394960"/>
            <a:ext cx="5166360" cy="274320"/>
          </a:xfrm>
          <a:prstGeom prst="roundRect">
            <a:avLst/>
          </a:prstGeom>
          <a:solidFill>
            <a:srgbClr val="EFFAF7"/>
          </a:solidFill>
          <a:ln w="12700">
            <a:solidFill>
              <a:srgbClr val="A4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65392" y="5468112"/>
            <a:ext cx="4910328" cy="10972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819" b="1">
                <a:solidFill>
                  <a:srgbClr val="006455"/>
                </a:solidFill>
                <a:latin typeface="Aptos"/>
              </a:defRPr>
            </a:pPr>
            <a:r>
              <a:t>산출물: Operating Model + Deployment/Verification Criteria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6236208"/>
            <a:ext cx="11201400" cy="329184"/>
          </a:xfrm>
          <a:prstGeom prst="roundRect">
            <a:avLst/>
          </a:prstGeom>
          <a:solidFill>
            <a:srgbClr val="EFFAF7"/>
          </a:solidFill>
          <a:ln w="12700">
            <a:solidFill>
              <a:srgbClr val="93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6318504"/>
            <a:ext cx="10835640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850" b="1">
                <a:solidFill>
                  <a:srgbClr val="006455"/>
                </a:solidFill>
                <a:latin typeface="Aptos"/>
              </a:defRPr>
            </a:pPr>
            <a:r>
              <a:t>핵심: Registry와 Metamodel을 먼저 정의한 뒤, Variant·Deployment·Operations가 해당 기준정보를 사용하는 흐름으로 배치한다.</a:t>
            </a:r>
          </a:p>
        </p:txBody>
      </p:sp>
      <p:sp>
        <p:nvSpPr>
          <p:cNvPr id="36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OMG ReqIF 1.2; OpenFeature Specification; OpenAPI 3.2.0; ISO 24089:2023.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256032"/>
            <a:ext cx="530352" cy="274320"/>
          </a:xfrm>
          <a:prstGeom prst="roundRect">
            <a:avLst/>
          </a:prstGeom>
          <a:solidFill>
            <a:srgbClr val="E7F8F4"/>
          </a:solidFill>
          <a:ln w="12700">
            <a:solidFill>
              <a:srgbClr val="99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83464"/>
            <a:ext cx="530352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01168"/>
            <a:ext cx="10789920" cy="40233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600" b="1">
                <a:solidFill>
                  <a:srgbClr val="12263F"/>
                </a:solidFill>
                <a:latin typeface="Aptos"/>
              </a:defRPr>
            </a:pPr>
            <a:r>
              <a:t>상세 목차 3/3 — Decision Engine · UI · E2E Scenario · 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658368"/>
            <a:ext cx="1051560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250" b="0">
                <a:solidFill>
                  <a:srgbClr val="55657A"/>
                </a:solidFill>
                <a:latin typeface="Aptos"/>
              </a:defRPr>
            </a:pPr>
            <a:r>
              <a:t>자동 판단 엔진, 사용자 화면, BDC 실증 시나리오, 상세 근거 Appendix를 실제 슬라이드 순서와 맞춘다.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987552"/>
            <a:ext cx="10817352" cy="0"/>
          </a:xfrm>
          <a:prstGeom prst="line">
            <a:avLst/>
          </a:prstGeom>
          <a:ln w="12700">
            <a:solidFill>
              <a:srgbClr val="DB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280160"/>
            <a:ext cx="37033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435607"/>
            <a:ext cx="438912" cy="274320"/>
          </a:xfrm>
          <a:prstGeom prst="roundRect">
            <a:avLst/>
          </a:prstGeom>
          <a:solidFill>
            <a:srgbClr val="E7F8F4"/>
          </a:solidFill>
          <a:ln w="12700">
            <a:solidFill>
              <a:srgbClr val="99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63039"/>
            <a:ext cx="438912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900" b="1">
                <a:solidFill>
                  <a:srgbClr val="006455"/>
                </a:solidFill>
                <a:latin typeface="Aptos"/>
              </a:defRPr>
            </a:pPr>
            <a:r>
              <a:t>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417319"/>
            <a:ext cx="2834639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520" b="1">
                <a:solidFill>
                  <a:srgbClr val="12263F"/>
                </a:solidFill>
                <a:latin typeface="Aptos"/>
              </a:defRPr>
            </a:pPr>
            <a:r>
              <a:t>Decision Engines &amp;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801367"/>
            <a:ext cx="4114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00" b="1">
                <a:solidFill>
                  <a:srgbClr val="006455"/>
                </a:solidFill>
                <a:latin typeface="Aptos"/>
              </a:defRPr>
            </a:pPr>
            <a:r>
              <a:t>5.1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801367"/>
            <a:ext cx="278892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40" b="0">
                <a:solidFill>
                  <a:srgbClr val="2F3F54"/>
                </a:solidFill>
                <a:latin typeface="Aptos"/>
              </a:defRPr>
            </a:pPr>
            <a:r>
              <a:t>Decision Engines: Impact·Verification·Deployment·Supplier 판단 파이프라인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8999" y="1801367"/>
            <a:ext cx="54864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1">
                <a:solidFill>
                  <a:srgbClr val="006455"/>
                </a:solidFill>
                <a:latin typeface="Aptos"/>
              </a:defRPr>
            </a:pPr>
            <a:r>
              <a:t>S18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2103120"/>
            <a:ext cx="4114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00" b="1">
                <a:solidFill>
                  <a:srgbClr val="006455"/>
                </a:solidFill>
                <a:latin typeface="Aptos"/>
              </a:defRPr>
            </a:pPr>
            <a:r>
              <a:t>5.2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2103120"/>
            <a:ext cx="278892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40" b="0">
                <a:solidFill>
                  <a:srgbClr val="2F3F54"/>
                </a:solidFill>
                <a:latin typeface="Aptos"/>
              </a:defRPr>
            </a:pPr>
            <a:r>
              <a:t>Registry UI: Catalog·Detail·Impact·Readiness 중심 UI 작업 흐름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8999" y="2103120"/>
            <a:ext cx="54864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1">
                <a:solidFill>
                  <a:srgbClr val="006455"/>
                </a:solidFill>
                <a:latin typeface="Aptos"/>
              </a:defRPr>
            </a:pPr>
            <a:r>
              <a:t>S19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22392"/>
            <a:ext cx="3429000" cy="274320"/>
          </a:xfrm>
          <a:prstGeom prst="roundRect">
            <a:avLst/>
          </a:prstGeom>
          <a:solidFill>
            <a:srgbClr val="EFFAF7"/>
          </a:solidFill>
          <a:ln w="12700">
            <a:solidFill>
              <a:srgbClr val="A4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5495544"/>
            <a:ext cx="3172968" cy="10972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819" b="1">
                <a:solidFill>
                  <a:srgbClr val="006455"/>
                </a:solidFill>
                <a:latin typeface="Aptos"/>
              </a:defRPr>
            </a:pPr>
            <a:r>
              <a:t>산출물: Engine I/O + UI 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1280160"/>
            <a:ext cx="37033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44568" y="1435607"/>
            <a:ext cx="438912" cy="274320"/>
          </a:xfrm>
          <a:prstGeom prst="roundRect">
            <a:avLst/>
          </a:prstGeom>
          <a:solidFill>
            <a:srgbClr val="E7F8F4"/>
          </a:solidFill>
          <a:ln w="12700">
            <a:solidFill>
              <a:srgbClr val="99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1463039"/>
            <a:ext cx="438912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900" b="1">
                <a:solidFill>
                  <a:srgbClr val="006455"/>
                </a:solidFill>
                <a:latin typeface="Aptos"/>
              </a:defRPr>
            </a:pPr>
            <a:r>
              <a:t>VI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1417319"/>
            <a:ext cx="2834639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520" b="1">
                <a:solidFill>
                  <a:srgbClr val="12263F"/>
                </a:solidFill>
                <a:latin typeface="Aptos"/>
              </a:defRPr>
            </a:pPr>
            <a:r>
              <a:t>End-to-End Scenario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1801367"/>
            <a:ext cx="4114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00" b="1">
                <a:solidFill>
                  <a:srgbClr val="006455"/>
                </a:solidFill>
                <a:latin typeface="Aptos"/>
              </a:defRPr>
            </a:pPr>
            <a:r>
              <a:t>6.1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65192" y="1801367"/>
            <a:ext cx="278892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40" b="0">
                <a:solidFill>
                  <a:srgbClr val="2F3F54"/>
                </a:solidFill>
                <a:latin typeface="Aptos"/>
              </a:defRPr>
            </a:pPr>
            <a:r>
              <a:t>BDC Feature Master: FEAT-BDC-001 기준 Master·Topology·Deployment 판단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1801367"/>
            <a:ext cx="54864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1">
                <a:solidFill>
                  <a:srgbClr val="006455"/>
                </a:solidFill>
                <a:latin typeface="Aptos"/>
              </a:defRPr>
            </a:pPr>
            <a:r>
              <a:t>S20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2103120"/>
            <a:ext cx="4114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00" b="1">
                <a:solidFill>
                  <a:srgbClr val="006455"/>
                </a:solidFill>
                <a:latin typeface="Aptos"/>
              </a:defRPr>
            </a:pPr>
            <a:r>
              <a:t>6.2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65192" y="2103120"/>
            <a:ext cx="278892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40" b="0">
                <a:solidFill>
                  <a:srgbClr val="2F3F54"/>
                </a:solidFill>
                <a:latin typeface="Aptos"/>
              </a:defRPr>
            </a:pPr>
            <a:r>
              <a:t>BDC Decision Flow: 변경 요청→Topology 조회→Gate→Monitoring 흐름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2103120"/>
            <a:ext cx="54864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1">
                <a:solidFill>
                  <a:srgbClr val="006455"/>
                </a:solidFill>
                <a:latin typeface="Aptos"/>
              </a:defRPr>
            </a:pPr>
            <a:r>
              <a:t>S21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0288" y="2404872"/>
            <a:ext cx="4114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00" b="1">
                <a:solidFill>
                  <a:srgbClr val="006455"/>
                </a:solidFill>
                <a:latin typeface="Aptos"/>
              </a:defRPr>
            </a:pPr>
            <a:r>
              <a:t>6.3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65192" y="2404872"/>
            <a:ext cx="278892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40" b="0">
                <a:solidFill>
                  <a:srgbClr val="2F3F54"/>
                </a:solidFill>
                <a:latin typeface="Aptos"/>
              </a:defRPr>
            </a:pPr>
            <a:r>
              <a:t>Final Principles: Feature Taxonomy/BOM/Topology 설계 원칙 정리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2404872"/>
            <a:ext cx="54864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1">
                <a:solidFill>
                  <a:srgbClr val="006455"/>
                </a:solidFill>
                <a:latin typeface="Aptos"/>
              </a:defRPr>
            </a:pPr>
            <a:r>
              <a:t>S22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26280" y="5422392"/>
            <a:ext cx="3429000" cy="274320"/>
          </a:xfrm>
          <a:prstGeom prst="roundRect">
            <a:avLst/>
          </a:prstGeom>
          <a:solidFill>
            <a:srgbClr val="EFFAF7"/>
          </a:solidFill>
          <a:ln w="12700">
            <a:solidFill>
              <a:srgbClr val="A4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45152" y="5495544"/>
            <a:ext cx="3172968" cy="10972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819" b="1">
                <a:solidFill>
                  <a:srgbClr val="006455"/>
                </a:solidFill>
                <a:latin typeface="Aptos"/>
              </a:defRPr>
            </a:pPr>
            <a:r>
              <a:t>산출물: BDC Case Study + Decision Flow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75320" y="1280160"/>
            <a:ext cx="34290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430768" y="1435607"/>
            <a:ext cx="438912" cy="274320"/>
          </a:xfrm>
          <a:prstGeom prst="roundRect">
            <a:avLst/>
          </a:prstGeom>
          <a:solidFill>
            <a:srgbClr val="E7F8F4"/>
          </a:solidFill>
          <a:ln w="12700">
            <a:solidFill>
              <a:srgbClr val="99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30768" y="1463039"/>
            <a:ext cx="438912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900" b="1">
                <a:solidFill>
                  <a:srgbClr val="006455"/>
                </a:solidFill>
                <a:latin typeface="Aptos"/>
              </a:defRPr>
            </a:pPr>
            <a:r>
              <a:t>VII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1417319"/>
            <a:ext cx="2560320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520" b="1">
                <a:solidFill>
                  <a:srgbClr val="12263F"/>
                </a:solidFill>
                <a:latin typeface="Aptos"/>
              </a:defRPr>
            </a:pPr>
            <a:r>
              <a:t>Appendix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76488" y="1801367"/>
            <a:ext cx="4114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00" b="1">
                <a:solidFill>
                  <a:srgbClr val="006455"/>
                </a:solidFill>
                <a:latin typeface="Aptos"/>
              </a:defRPr>
            </a:pPr>
            <a:r>
              <a:t>A–C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51392" y="1801367"/>
            <a:ext cx="251460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40" b="0">
                <a:solidFill>
                  <a:srgbClr val="2F3F54"/>
                </a:solidFill>
                <a:latin typeface="Aptos"/>
              </a:defRPr>
            </a:pPr>
            <a:r>
              <a:t>Gate/Governance/Effect: Release Readiness, Lifecycle, Before/After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1801367"/>
            <a:ext cx="54864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1">
                <a:solidFill>
                  <a:srgbClr val="006455"/>
                </a:solidFill>
                <a:latin typeface="Aptos"/>
              </a:defRPr>
            </a:pPr>
            <a:r>
              <a:t>S23–26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76488" y="2103120"/>
            <a:ext cx="4114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00" b="1">
                <a:solidFill>
                  <a:srgbClr val="006455"/>
                </a:solidFill>
                <a:latin typeface="Aptos"/>
              </a:defRPr>
            </a:pPr>
            <a:r>
              <a:t>D–H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51392" y="2103120"/>
            <a:ext cx="251460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40" b="0">
                <a:solidFill>
                  <a:srgbClr val="2F3F54"/>
                </a:solidFill>
                <a:latin typeface="Aptos"/>
              </a:defRPr>
            </a:pPr>
            <a:r>
              <a:t>Variant/Impact/Supplier: Quick Win, Matrix, Glossary, Impact, Package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27080" y="2103120"/>
            <a:ext cx="54864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1">
                <a:solidFill>
                  <a:srgbClr val="006455"/>
                </a:solidFill>
                <a:latin typeface="Aptos"/>
              </a:defRPr>
            </a:pPr>
            <a:r>
              <a:t>S27–31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76488" y="2404872"/>
            <a:ext cx="4114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00" b="1">
                <a:solidFill>
                  <a:srgbClr val="006455"/>
                </a:solidFill>
                <a:latin typeface="Aptos"/>
              </a:defRPr>
            </a:pPr>
            <a:r>
              <a:t>I–N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51392" y="2404872"/>
            <a:ext cx="251460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40" b="0">
                <a:solidFill>
                  <a:srgbClr val="2F3F54"/>
                </a:solidFill>
                <a:latin typeface="Aptos"/>
              </a:defRPr>
            </a:pPr>
            <a:r>
              <a:t>UI/Baseline/Tool Gap: Detail UI, Catalog, Policy Lifecycle, Tool 비교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27080" y="2404872"/>
            <a:ext cx="54864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1">
                <a:solidFill>
                  <a:srgbClr val="006455"/>
                </a:solidFill>
                <a:latin typeface="Aptos"/>
              </a:defRPr>
            </a:pPr>
            <a:r>
              <a:t>S32–37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76488" y="2706624"/>
            <a:ext cx="4114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00" b="1">
                <a:solidFill>
                  <a:srgbClr val="006455"/>
                </a:solidFill>
                <a:latin typeface="Aptos"/>
              </a:defRPr>
            </a:pPr>
            <a:r>
              <a:t>O–S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51392" y="2706624"/>
            <a:ext cx="251460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40" b="0">
                <a:solidFill>
                  <a:srgbClr val="2F3F54"/>
                </a:solidFill>
                <a:latin typeface="Aptos"/>
              </a:defRPr>
            </a:pPr>
            <a:r>
              <a:t>PoC/Demo/FAQ: PoC Stack, ChangeSet, Kill Switch Demo, FAQ, Dashboard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27080" y="2706624"/>
            <a:ext cx="54864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1">
                <a:solidFill>
                  <a:srgbClr val="006455"/>
                </a:solidFill>
                <a:latin typeface="Aptos"/>
              </a:defRPr>
            </a:pPr>
            <a:r>
              <a:t>S38–43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12480" y="5422392"/>
            <a:ext cx="3154680" cy="274320"/>
          </a:xfrm>
          <a:prstGeom prst="roundRect">
            <a:avLst/>
          </a:prstGeom>
          <a:solidFill>
            <a:srgbClr val="EFFAF7"/>
          </a:solidFill>
          <a:ln w="12700">
            <a:solidFill>
              <a:srgbClr val="A4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31352" y="5495544"/>
            <a:ext cx="2898648" cy="10972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819" b="1">
                <a:solidFill>
                  <a:srgbClr val="006455"/>
                </a:solidFill>
                <a:latin typeface="Aptos"/>
              </a:defRPr>
            </a:pPr>
            <a:r>
              <a:t>산출물: Detailed Evidence Package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2920" y="6236208"/>
            <a:ext cx="11201400" cy="329184"/>
          </a:xfrm>
          <a:prstGeom prst="roundRect">
            <a:avLst/>
          </a:prstGeom>
          <a:solidFill>
            <a:srgbClr val="EFFAF7"/>
          </a:solidFill>
          <a:ln w="12700">
            <a:solidFill>
              <a:srgbClr val="93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5800" y="6318504"/>
            <a:ext cx="10835640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850" b="1">
                <a:solidFill>
                  <a:srgbClr val="006455"/>
                </a:solidFill>
                <a:latin typeface="Aptos"/>
              </a:defRPr>
            </a:pPr>
            <a:r>
              <a:t>핵심: 본문 17장과 Appendix 21장을 실제 순서 기준으로 연결하여, 발표 흐름과 상세 설계 근거를 동시에 유지한다.</a:t>
            </a:r>
          </a:p>
        </p:txBody>
      </p:sp>
      <p:sp>
        <p:nvSpPr>
          <p:cNvPr id="54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OMG DMN; OMG BPMN; OpenFeature Specification; ISO 26262:2018; ISO/SAE 21434:2021.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4048" y="219456"/>
            <a:ext cx="530352" cy="246888"/>
          </a:xfrm>
          <a:prstGeom prst="roundRect">
            <a:avLst/>
          </a:prstGeom>
          <a:solidFill>
            <a:srgbClr val="E5F6F1"/>
          </a:solidFill>
          <a:ln w="7620">
            <a:solidFill>
              <a:srgbClr val="B2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79" y="278892"/>
            <a:ext cx="475488" cy="10058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01-1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182880"/>
            <a:ext cx="8046720" cy="32004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l"/>
            <a:r>
              <a:rPr sz="2200" b="1">
                <a:solidFill>
                  <a:srgbClr val="182D49"/>
                </a:solidFill>
                <a:latin typeface="Malgun Gothic"/>
              </a:rPr>
              <a:t>왜 Feature Topology가 필요한가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612648"/>
            <a:ext cx="8686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l"/>
            <a:r>
              <a:rPr sz="1040" b="0">
                <a:solidFill>
                  <a:srgbClr val="465466"/>
                </a:solidFill>
                <a:latin typeface="Malgun Gothic"/>
              </a:rPr>
              <a:t>SDV에서는 Feature 기준정보가 ALM·PLM·Feature Flag·OTA·운영 도구에 분산되어 변경 의사결정이 느리고 불완전해진다.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896112"/>
            <a:ext cx="10652760" cy="9144"/>
          </a:xfrm>
          <a:prstGeom prst="rect">
            <a:avLst/>
          </a:prstGeom>
          <a:solidFill>
            <a:srgbClr val="DA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069848"/>
            <a:ext cx="10972800" cy="512064"/>
          </a:xfrm>
          <a:prstGeom prst="roundRect">
            <a:avLst/>
          </a:prstGeom>
          <a:solidFill>
            <a:srgbClr val="F7FAFC"/>
          </a:solidFill>
          <a:ln w="1016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07008"/>
            <a:ext cx="10515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050" b="1">
                <a:solidFill>
                  <a:srgbClr val="182D49"/>
                </a:solidFill>
                <a:latin typeface="Malgun Gothic"/>
              </a:rPr>
              <a:t>설계 관점: Feature Topology는 Feature Flag 도구가 아니라, 기능 변경 판단을 위한 Feature 기준정보·관계 모델·운영 증적의 Source of Truth이다.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810512"/>
            <a:ext cx="2633472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4088" y="1929384"/>
            <a:ext cx="2450591" cy="402336"/>
          </a:xfrm>
          <a:prstGeom prst="roundRect">
            <a:avLst/>
          </a:prstGeom>
          <a:solidFill>
            <a:srgbClr val="E8F1FA"/>
          </a:solidFill>
          <a:ln w="635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5528" y="1984248"/>
            <a:ext cx="274320" cy="274320"/>
          </a:xfrm>
          <a:prstGeom prst="ellipse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052828"/>
            <a:ext cx="274320" cy="7315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2007107"/>
            <a:ext cx="1975104" cy="13716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l"/>
            <a:r>
              <a:rPr sz="1060" b="1">
                <a:solidFill>
                  <a:srgbClr val="182D49"/>
                </a:solidFill>
                <a:latin typeface="Malgun Gothic"/>
              </a:rPr>
              <a:t>기준정보 분산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468880"/>
            <a:ext cx="2267712" cy="32004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l"/>
            <a:r>
              <a:rPr sz="1030" b="1">
                <a:solidFill>
                  <a:srgbClr val="182D49"/>
                </a:solidFill>
                <a:latin typeface="Malgun Gothic"/>
              </a:rPr>
              <a:t>같은 기능을 조직마다 다른 ID로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907791"/>
            <a:ext cx="2212848" cy="1737360"/>
          </a:xfrm>
          <a:prstGeom prst="rect">
            <a:avLst/>
          </a:prstGeom>
          <a:noFill/>
        </p:spPr>
        <p:txBody>
          <a:bodyPr wrap="square" lIns="36576" rIns="27432" tIns="9144" bIns="9144">
            <a:normAutofit/>
          </a:bodyPr>
          <a:lstStyle/>
          <a:p>
            <a:pPr>
              <a:spcAft>
                <a:spcPts val="200"/>
              </a:spcAft>
            </a:pPr>
            <a:r>
              <a:rPr sz="869">
                <a:solidFill>
                  <a:srgbClr val="465466"/>
                </a:solidFill>
                <a:latin typeface="Malgun Gothic"/>
              </a:rPr>
              <a:t>• 기획: 상품 기능명</a:t>
            </a:r>
          </a:p>
          <a:p>
            <a:pPr>
              <a:spcAft>
                <a:spcPts val="200"/>
              </a:spcAft>
            </a:pPr>
            <a:r>
              <a:rPr sz="869">
                <a:solidFill>
                  <a:srgbClr val="465466"/>
                </a:solidFill>
                <a:latin typeface="Malgun Gothic"/>
              </a:rPr>
              <a:t>• 시스템/SW: 기능·모듈명</a:t>
            </a:r>
          </a:p>
          <a:p>
            <a:pPr>
              <a:spcAft>
                <a:spcPts val="200"/>
              </a:spcAft>
            </a:pPr>
            <a:r>
              <a:rPr sz="869">
                <a:solidFill>
                  <a:srgbClr val="465466"/>
                </a:solidFill>
                <a:latin typeface="Malgun Gothic"/>
              </a:rPr>
              <a:t>• 협력사: Supplier Function ID</a:t>
            </a:r>
          </a:p>
          <a:p>
            <a:pPr>
              <a:spcAft>
                <a:spcPts val="200"/>
              </a:spcAft>
            </a:pPr>
            <a:r>
              <a:rPr sz="869">
                <a:solidFill>
                  <a:srgbClr val="465466"/>
                </a:solidFill>
                <a:latin typeface="Malgun Gothic"/>
              </a:rPr>
              <a:t>• 검증·OTA·운영: 별도 Artifact 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" y="4754880"/>
            <a:ext cx="2340864" cy="256032"/>
          </a:xfrm>
          <a:prstGeom prst="roundRect">
            <a:avLst/>
          </a:prstGeom>
          <a:solidFill>
            <a:srgbClr val="F8FBFD"/>
          </a:solidFill>
          <a:ln w="635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" y="4823460"/>
            <a:ext cx="2194560" cy="9144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770" b="1">
                <a:solidFill>
                  <a:srgbClr val="2B5B8C"/>
                </a:solidFill>
                <a:latin typeface="Malgun Gothic"/>
              </a:rPr>
              <a:t>공통 Key 부재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56432" y="1810512"/>
            <a:ext cx="2633472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47872" y="1929384"/>
            <a:ext cx="2450591" cy="402336"/>
          </a:xfrm>
          <a:prstGeom prst="roundRect">
            <a:avLst/>
          </a:prstGeom>
          <a:solidFill>
            <a:srgbClr val="F5F8FC"/>
          </a:solidFill>
          <a:ln w="635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39312" y="1984248"/>
            <a:ext cx="274320" cy="274320"/>
          </a:xfrm>
          <a:prstGeom prst="ellipse">
            <a:avLst/>
          </a:prstGeom>
          <a:solidFill>
            <a:srgbClr val="18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39312" y="2052828"/>
            <a:ext cx="274320" cy="7315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05072" y="2007107"/>
            <a:ext cx="1975104" cy="13716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l"/>
            <a:r>
              <a:rPr sz="1060" b="1">
                <a:solidFill>
                  <a:srgbClr val="182D49"/>
                </a:solidFill>
                <a:latin typeface="Malgun Gothic"/>
              </a:rPr>
              <a:t>Traceability 단절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2468880"/>
            <a:ext cx="2267712" cy="32004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l"/>
            <a:r>
              <a:rPr sz="1030" b="1">
                <a:solidFill>
                  <a:srgbClr val="182D49"/>
                </a:solidFill>
                <a:latin typeface="Malgun Gothic"/>
              </a:rPr>
              <a:t>요구사항→SW→검증→운영 연결이 약함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66744" y="2907791"/>
            <a:ext cx="2212848" cy="1737360"/>
          </a:xfrm>
          <a:prstGeom prst="rect">
            <a:avLst/>
          </a:prstGeom>
          <a:noFill/>
        </p:spPr>
        <p:txBody>
          <a:bodyPr wrap="square" lIns="36576" rIns="27432" tIns="9144" bIns="9144">
            <a:normAutofit/>
          </a:bodyPr>
          <a:lstStyle/>
          <a:p>
            <a:pPr>
              <a:spcAft>
                <a:spcPts val="200"/>
              </a:spcAft>
            </a:pPr>
            <a:r>
              <a:rPr sz="869">
                <a:solidFill>
                  <a:srgbClr val="465466"/>
                </a:solidFill>
                <a:latin typeface="Malgun Gothic"/>
              </a:rPr>
              <a:t>• 변경 영향도 수동 판단</a:t>
            </a:r>
          </a:p>
          <a:p>
            <a:pPr>
              <a:spcAft>
                <a:spcPts val="200"/>
              </a:spcAft>
            </a:pPr>
            <a:r>
              <a:rPr sz="869">
                <a:solidFill>
                  <a:srgbClr val="465466"/>
                </a:solidFill>
                <a:latin typeface="Malgun Gothic"/>
              </a:rPr>
              <a:t>• 관련 Test Evidence 탐색 지연</a:t>
            </a:r>
          </a:p>
          <a:p>
            <a:pPr>
              <a:spcAft>
                <a:spcPts val="200"/>
              </a:spcAft>
            </a:pPr>
            <a:r>
              <a:rPr sz="869">
                <a:solidFill>
                  <a:srgbClr val="465466"/>
                </a:solidFill>
                <a:latin typeface="Malgun Gothic"/>
              </a:rPr>
              <a:t>• API/SWC/Supplier 책임 경계 불명확</a:t>
            </a:r>
          </a:p>
          <a:p>
            <a:pPr>
              <a:spcAft>
                <a:spcPts val="200"/>
              </a:spcAft>
            </a:pPr>
            <a:r>
              <a:rPr sz="869">
                <a:solidFill>
                  <a:srgbClr val="465466"/>
                </a:solidFill>
                <a:latin typeface="Malgun Gothic"/>
              </a:rPr>
              <a:t>• Baseline 변경 이력 추적 어려움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02736" y="4754880"/>
            <a:ext cx="2340864" cy="256032"/>
          </a:xfrm>
          <a:prstGeom prst="roundRect">
            <a:avLst/>
          </a:prstGeom>
          <a:solidFill>
            <a:srgbClr val="F8FBFD"/>
          </a:solidFill>
          <a:ln w="635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5887" y="4823460"/>
            <a:ext cx="2194560" cy="9144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770" b="1">
                <a:solidFill>
                  <a:srgbClr val="182D49"/>
                </a:solidFill>
                <a:latin typeface="Malgun Gothic"/>
              </a:rPr>
              <a:t>링크 누락 위험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0216" y="1810512"/>
            <a:ext cx="2633472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91655" y="1929384"/>
            <a:ext cx="2450591" cy="402336"/>
          </a:xfrm>
          <a:prstGeom prst="roundRect">
            <a:avLst/>
          </a:prstGeom>
          <a:solidFill>
            <a:srgbClr val="F7E8DA"/>
          </a:solidFill>
          <a:ln w="635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83096" y="1984248"/>
            <a:ext cx="274320" cy="274320"/>
          </a:xfrm>
          <a:prstGeom prst="ellipse">
            <a:avLst/>
          </a:prstGeom>
          <a:solidFill>
            <a:srgbClr val="B85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83096" y="2052828"/>
            <a:ext cx="274320" cy="7315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48855" y="2007107"/>
            <a:ext cx="1975104" cy="13716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l"/>
            <a:r>
              <a:rPr sz="1060" b="1">
                <a:solidFill>
                  <a:srgbClr val="182D49"/>
                </a:solidFill>
                <a:latin typeface="Malgun Gothic"/>
              </a:rPr>
              <a:t>운영 의사결정 리스크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83096" y="2468880"/>
            <a:ext cx="2267712" cy="32004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l"/>
            <a:r>
              <a:rPr sz="1030" b="1">
                <a:solidFill>
                  <a:srgbClr val="182D49"/>
                </a:solidFill>
                <a:latin typeface="Malgun Gothic"/>
              </a:rPr>
              <a:t>배포·검증·복구 판단이 회의와 경험에 의존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2907791"/>
            <a:ext cx="2212848" cy="1737360"/>
          </a:xfrm>
          <a:prstGeom prst="rect">
            <a:avLst/>
          </a:prstGeom>
          <a:noFill/>
        </p:spPr>
        <p:txBody>
          <a:bodyPr wrap="square" lIns="36576" rIns="27432" tIns="9144" bIns="9144">
            <a:normAutofit/>
          </a:bodyPr>
          <a:lstStyle/>
          <a:p>
            <a:pPr>
              <a:spcAft>
                <a:spcPts val="200"/>
              </a:spcAft>
            </a:pPr>
            <a:r>
              <a:rPr sz="869">
                <a:solidFill>
                  <a:srgbClr val="465466"/>
                </a:solidFill>
                <a:latin typeface="Malgun Gothic"/>
              </a:rPr>
              <a:t>• Binary OTA vs Policy-only 판단 지연</a:t>
            </a:r>
          </a:p>
          <a:p>
            <a:pPr>
              <a:spcAft>
                <a:spcPts val="200"/>
              </a:spcAft>
            </a:pPr>
            <a:r>
              <a:rPr sz="869">
                <a:solidFill>
                  <a:srgbClr val="465466"/>
                </a:solidFill>
                <a:latin typeface="Malgun Gothic"/>
              </a:rPr>
              <a:t>• Safe Default / Rollback 누락</a:t>
            </a:r>
          </a:p>
          <a:p>
            <a:pPr>
              <a:spcAft>
                <a:spcPts val="200"/>
              </a:spcAft>
            </a:pPr>
            <a:r>
              <a:rPr sz="869">
                <a:solidFill>
                  <a:srgbClr val="465466"/>
                </a:solidFill>
                <a:latin typeface="Malgun Gothic"/>
              </a:rPr>
              <a:t>• Release Gate 증적 부족</a:t>
            </a:r>
          </a:p>
          <a:p>
            <a:pPr>
              <a:spcAft>
                <a:spcPts val="200"/>
              </a:spcAft>
            </a:pPr>
            <a:r>
              <a:rPr sz="869">
                <a:solidFill>
                  <a:srgbClr val="465466"/>
                </a:solidFill>
                <a:latin typeface="Malgun Gothic"/>
              </a:rPr>
              <a:t>• 운영 Telemetry와 원인 추적 분리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46520" y="4754880"/>
            <a:ext cx="2340864" cy="256032"/>
          </a:xfrm>
          <a:prstGeom prst="roundRect">
            <a:avLst/>
          </a:prstGeom>
          <a:solidFill>
            <a:srgbClr val="F8FBFD"/>
          </a:solidFill>
          <a:ln w="635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9672" y="4823460"/>
            <a:ext cx="2194560" cy="9144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770" b="1">
                <a:solidFill>
                  <a:srgbClr val="B85332"/>
                </a:solidFill>
                <a:latin typeface="Malgun Gothic"/>
              </a:rPr>
              <a:t>품질·안전 리스크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1810512"/>
            <a:ext cx="2633472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35440" y="1929384"/>
            <a:ext cx="2450591" cy="402336"/>
          </a:xfrm>
          <a:prstGeom prst="roundRect">
            <a:avLst/>
          </a:prstGeom>
          <a:solidFill>
            <a:srgbClr val="E5F6F1"/>
          </a:solidFill>
          <a:ln w="635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326880" y="1984248"/>
            <a:ext cx="274320" cy="274320"/>
          </a:xfrm>
          <a:prstGeom prst="ellipse">
            <a:avLst/>
          </a:prstGeom>
          <a:solidFill>
            <a:srgbClr val="00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0" y="2052828"/>
            <a:ext cx="274320" cy="7315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2007107"/>
            <a:ext cx="1975104" cy="13716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l"/>
            <a:r>
              <a:rPr sz="1060" b="1">
                <a:solidFill>
                  <a:srgbClr val="182D49"/>
                </a:solidFill>
                <a:latin typeface="Malgun Gothic"/>
              </a:rPr>
              <a:t>Topology 기반 대응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2468880"/>
            <a:ext cx="2267712" cy="32004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l"/>
            <a:r>
              <a:rPr sz="1030" b="1">
                <a:solidFill>
                  <a:srgbClr val="182D49"/>
                </a:solidFill>
                <a:latin typeface="Malgun Gothic"/>
              </a:rPr>
              <a:t>Feature ID 중심으로 전체 Artifact를 연결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54312" y="2907791"/>
            <a:ext cx="2212848" cy="1737360"/>
          </a:xfrm>
          <a:prstGeom prst="rect">
            <a:avLst/>
          </a:prstGeom>
          <a:noFill/>
        </p:spPr>
        <p:txBody>
          <a:bodyPr wrap="square" lIns="36576" rIns="27432" tIns="9144" bIns="9144">
            <a:normAutofit/>
          </a:bodyPr>
          <a:lstStyle/>
          <a:p>
            <a:pPr>
              <a:spcAft>
                <a:spcPts val="200"/>
              </a:spcAft>
            </a:pPr>
            <a:r>
              <a:rPr sz="869">
                <a:solidFill>
                  <a:srgbClr val="465466"/>
                </a:solidFill>
                <a:latin typeface="Malgun Gothic"/>
              </a:rPr>
              <a:t>• Requirement·SWC·ECU·API 연결</a:t>
            </a:r>
          </a:p>
          <a:p>
            <a:pPr>
              <a:spcAft>
                <a:spcPts val="200"/>
              </a:spcAft>
            </a:pPr>
            <a:r>
              <a:rPr sz="869">
                <a:solidFill>
                  <a:srgbClr val="465466"/>
                </a:solidFill>
                <a:latin typeface="Malgun Gothic"/>
              </a:rPr>
              <a:t>• Variant·Policy·Deployment 연결</a:t>
            </a:r>
          </a:p>
          <a:p>
            <a:pPr>
              <a:spcAft>
                <a:spcPts val="200"/>
              </a:spcAft>
            </a:pPr>
            <a:r>
              <a:rPr sz="869">
                <a:solidFill>
                  <a:srgbClr val="465466"/>
                </a:solidFill>
                <a:latin typeface="Malgun Gothic"/>
              </a:rPr>
              <a:t>• Test·Supplier·Telemetry 연결</a:t>
            </a:r>
          </a:p>
          <a:p>
            <a:pPr>
              <a:spcAft>
                <a:spcPts val="200"/>
              </a:spcAft>
            </a:pPr>
            <a:r>
              <a:rPr sz="869">
                <a:solidFill>
                  <a:srgbClr val="465466"/>
                </a:solidFill>
                <a:latin typeface="Malgun Gothic"/>
              </a:rPr>
              <a:t>• Decision Engine 판단 근거 제공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90304" y="4754880"/>
            <a:ext cx="2340864" cy="256032"/>
          </a:xfrm>
          <a:prstGeom prst="roundRect">
            <a:avLst/>
          </a:prstGeom>
          <a:solidFill>
            <a:srgbClr val="F8FBFD"/>
          </a:solidFill>
          <a:ln w="635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63456" y="4823460"/>
            <a:ext cx="2194560" cy="9144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770" b="1">
                <a:solidFill>
                  <a:srgbClr val="00765C"/>
                </a:solidFill>
                <a:latin typeface="Malgun Gothic"/>
              </a:rPr>
              <a:t>데이터 기반 판단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3273551" y="3154680"/>
            <a:ext cx="237744" cy="182880"/>
          </a:xfrm>
          <a:prstGeom prst="rightArrow">
            <a:avLst/>
          </a:prstGeom>
          <a:solidFill>
            <a:srgbClr val="B0B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ight Arrow 45"/>
          <p:cNvSpPr/>
          <p:nvPr/>
        </p:nvSpPr>
        <p:spPr>
          <a:xfrm>
            <a:off x="6117336" y="3154680"/>
            <a:ext cx="237744" cy="182880"/>
          </a:xfrm>
          <a:prstGeom prst="rightArrow">
            <a:avLst/>
          </a:prstGeom>
          <a:solidFill>
            <a:srgbClr val="B0B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ight Arrow 46"/>
          <p:cNvSpPr/>
          <p:nvPr/>
        </p:nvSpPr>
        <p:spPr>
          <a:xfrm>
            <a:off x="8961120" y="3154680"/>
            <a:ext cx="237744" cy="182880"/>
          </a:xfrm>
          <a:prstGeom prst="rightArrow">
            <a:avLst/>
          </a:prstGeom>
          <a:solidFill>
            <a:srgbClr val="B0B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40080" y="5367528"/>
            <a:ext cx="10972800" cy="658368"/>
          </a:xfrm>
          <a:prstGeom prst="roundRect">
            <a:avLst/>
          </a:prstGeom>
          <a:solidFill>
            <a:srgbClr val="EEF7F5"/>
          </a:solidFill>
          <a:ln w="11430">
            <a:solidFill>
              <a:srgbClr val="B2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6112" y="5486400"/>
            <a:ext cx="1508760" cy="14630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l"/>
            <a:r>
              <a:rPr sz="1050" b="1">
                <a:solidFill>
                  <a:srgbClr val="00765C"/>
                </a:solidFill>
                <a:latin typeface="Malgun Gothic"/>
              </a:rPr>
              <a:t>설계 원칙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11680" y="5477256"/>
            <a:ext cx="928116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l"/>
            <a:r>
              <a:rPr sz="980" b="1">
                <a:solidFill>
                  <a:srgbClr val="182D49"/>
                </a:solidFill>
                <a:latin typeface="Malgun Gothic"/>
              </a:rPr>
              <a:t>① 모든 Artifact는 Feature ID로 연결  ② 변경 요청은 Topology Graph Query로 시작  ③ Release 판단은 Gate Evidence와 Rollback 경로를 포함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5843016"/>
            <a:ext cx="10241280" cy="9144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890" b="1">
                <a:solidFill>
                  <a:srgbClr val="00765C"/>
                </a:solidFill>
                <a:latin typeface="Malgun Gothic"/>
              </a:rPr>
              <a:t>핵심 : Feature Topology는 기능 변경의 영향도·검증범위·배포방식·협력사 책임·복구경로를 사전에 계산하기 위한 기준정보 계층이다.</a:t>
            </a:r>
          </a:p>
        </p:txBody>
      </p:sp>
      <p:sp>
        <p:nvSpPr>
          <p:cNvPr id="52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ISO/IEC/IEEE 29148:2018; OMG ReqIF 1.2; OMG SysML 2.0; Mutuus Lab 내부 분석.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4048" y="219456"/>
            <a:ext cx="530352" cy="246888"/>
          </a:xfrm>
          <a:prstGeom prst="roundRect">
            <a:avLst/>
          </a:prstGeom>
          <a:solidFill>
            <a:srgbClr val="E5F6F1"/>
          </a:solidFill>
          <a:ln w="7620">
            <a:solidFill>
              <a:srgbClr val="B2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6051" y="278892"/>
            <a:ext cx="466344" cy="100584"/>
          </a:xfrm>
          <a:prstGeom prst="rect">
            <a:avLst/>
          </a:prstGeom>
          <a:noFill/>
        </p:spPr>
        <p:txBody>
          <a:bodyPr wrap="square" lIns="27432" rIns="27432" tIns="9144" bIns="9144">
            <a:normAutofit/>
          </a:bodyPr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01-2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182880"/>
            <a:ext cx="8138160" cy="320040"/>
          </a:xfrm>
          <a:prstGeom prst="rect">
            <a:avLst/>
          </a:prstGeom>
          <a:noFill/>
        </p:spPr>
        <p:txBody>
          <a:bodyPr wrap="square" lIns="27432" rIns="27432" tIns="9144" bIns="9144">
            <a:normAutofit/>
          </a:bodyPr>
          <a:lstStyle/>
          <a:p>
            <a:pPr algn="l"/>
            <a:r>
              <a:rPr sz="2200" b="1">
                <a:solidFill>
                  <a:srgbClr val="182D49"/>
                </a:solidFill>
                <a:latin typeface="Malgun Gothic"/>
              </a:rPr>
              <a:t>기존 도구로 해결되지 않는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612648"/>
            <a:ext cx="996696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rmAutofit/>
          </a:bodyPr>
          <a:lstStyle/>
          <a:p>
            <a:pPr algn="l"/>
            <a:r>
              <a:rPr sz="990" b="0">
                <a:solidFill>
                  <a:srgbClr val="445264"/>
                </a:solidFill>
                <a:latin typeface="Malgun Gothic"/>
              </a:rPr>
              <a:t>ALM · PLM · Feature Flag · OTA/운영 도구는 각각 일부 Artifact를 관리하지만, Feature 변경 의사결정에 필요한 관계 전체를 하나의 모델로 제공하지 못한다.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896112"/>
            <a:ext cx="10652760" cy="9144"/>
          </a:xfrm>
          <a:prstGeom prst="rect">
            <a:avLst/>
          </a:prstGeom>
          <a:solidFill>
            <a:srgbClr val="DA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051560"/>
            <a:ext cx="10972800" cy="475488"/>
          </a:xfrm>
          <a:prstGeom prst="roundRect">
            <a:avLst/>
          </a:prstGeom>
          <a:solidFill>
            <a:srgbClr val="F7FAFC"/>
          </a:solidFill>
          <a:ln w="1016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179576"/>
            <a:ext cx="10515600" cy="137160"/>
          </a:xfrm>
          <a:prstGeom prst="rect">
            <a:avLst/>
          </a:prstGeom>
          <a:noFill/>
        </p:spPr>
        <p:txBody>
          <a:bodyPr wrap="square" lIns="27432" rIns="27432" tIns="9144" bIns="9144">
            <a:normAutofit/>
          </a:bodyPr>
          <a:lstStyle/>
          <a:p>
            <a:pPr algn="ctr"/>
            <a:r>
              <a:rPr sz="969" b="1">
                <a:solidFill>
                  <a:srgbClr val="182D49"/>
                </a:solidFill>
                <a:latin typeface="Malgun Gothic"/>
              </a:rPr>
              <a:t>설계 전제: Feature Topology는 기존 도구를 대체하는 시스템이 아니라, Feature ID를 공통 Key로 삼아 분산된 산출물을 연결하는 기준정보 계층이다.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719072"/>
            <a:ext cx="3931920" cy="173736"/>
          </a:xfrm>
          <a:prstGeom prst="rect">
            <a:avLst/>
          </a:prstGeom>
          <a:noFill/>
        </p:spPr>
        <p:txBody>
          <a:bodyPr wrap="square" lIns="27432" rIns="27432" tIns="9144" bIns="9144">
            <a:normAutofit/>
          </a:bodyPr>
          <a:lstStyle/>
          <a:p>
            <a:pPr algn="l"/>
            <a:r>
              <a:rPr sz="1150" b="1">
                <a:solidFill>
                  <a:srgbClr val="182D49"/>
                </a:solidFill>
                <a:latin typeface="Malgun Gothic"/>
              </a:rPr>
              <a:t>Tool Coverage &amp; Gap Matrix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84248"/>
            <a:ext cx="1188720" cy="347472"/>
          </a:xfrm>
          <a:prstGeom prst="rect">
            <a:avLst/>
          </a:prstGeom>
          <a:solidFill>
            <a:srgbClr val="EEF3F8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025395"/>
            <a:ext cx="1152144" cy="28346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830" b="1">
                <a:solidFill>
                  <a:srgbClr val="182D49"/>
                </a:solidFill>
                <a:latin typeface="Malgun Gothic"/>
              </a:rPr>
              <a:t>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1984248"/>
            <a:ext cx="1874519" cy="347472"/>
          </a:xfrm>
          <a:prstGeom prst="rect">
            <a:avLst/>
          </a:prstGeom>
          <a:solidFill>
            <a:srgbClr val="E8F1FA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47088" y="2025395"/>
            <a:ext cx="1837943" cy="28346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830" b="1">
                <a:solidFill>
                  <a:srgbClr val="182D49"/>
                </a:solidFill>
                <a:latin typeface="Malgun Gothic"/>
              </a:rPr>
              <a:t>ALM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3320" y="1984248"/>
            <a:ext cx="1874519" cy="347472"/>
          </a:xfrm>
          <a:prstGeom prst="rect">
            <a:avLst/>
          </a:prstGeom>
          <a:solidFill>
            <a:srgbClr val="EEF3F8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21607" y="2025395"/>
            <a:ext cx="1837943" cy="28346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830" b="1">
                <a:solidFill>
                  <a:srgbClr val="182D49"/>
                </a:solidFill>
                <a:latin typeface="Malgun Gothic"/>
              </a:rPr>
              <a:t>PLM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1984248"/>
            <a:ext cx="1874519" cy="347472"/>
          </a:xfrm>
          <a:prstGeom prst="rect">
            <a:avLst/>
          </a:prstGeom>
          <a:solidFill>
            <a:srgbClr val="F1EDF8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96127" y="2025395"/>
            <a:ext cx="1837943" cy="28346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830" b="1">
                <a:solidFill>
                  <a:srgbClr val="182D49"/>
                </a:solidFill>
                <a:latin typeface="Malgun Gothic"/>
              </a:rPr>
              <a:t>Feature Flag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59" y="1984248"/>
            <a:ext cx="1920240" cy="347472"/>
          </a:xfrm>
          <a:prstGeom prst="rect">
            <a:avLst/>
          </a:prstGeom>
          <a:solidFill>
            <a:srgbClr val="F8ECE1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0647" y="2025395"/>
            <a:ext cx="1883664" cy="28346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830" b="1">
                <a:solidFill>
                  <a:srgbClr val="182D49"/>
                </a:solidFill>
                <a:latin typeface="Malgun Gothic"/>
              </a:rPr>
              <a:t>OTA / Operations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72599" y="1984248"/>
            <a:ext cx="1828800" cy="347472"/>
          </a:xfrm>
          <a:prstGeom prst="rect">
            <a:avLst/>
          </a:prstGeom>
          <a:solidFill>
            <a:srgbClr val="E5F6F1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90887" y="2025395"/>
            <a:ext cx="1792224" cy="28346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830" b="1">
                <a:solidFill>
                  <a:srgbClr val="00765C"/>
                </a:solidFill>
                <a:latin typeface="Malgun Gothic"/>
              </a:rPr>
              <a:t>Feature Topology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331720"/>
            <a:ext cx="1188720" cy="658368"/>
          </a:xfrm>
          <a:prstGeom prst="rect">
            <a:avLst/>
          </a:prstGeom>
          <a:solidFill>
            <a:srgbClr val="F8FAFC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2372868"/>
            <a:ext cx="1152144" cy="594359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800" b="1">
                <a:solidFill>
                  <a:srgbClr val="182D49"/>
                </a:solidFill>
                <a:latin typeface="Malgun Gothic"/>
              </a:rPr>
              <a:t>관리 기준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2331720"/>
            <a:ext cx="1874519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47088" y="2372868"/>
            <a:ext cx="1837943" cy="594359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720" b="0">
                <a:solidFill>
                  <a:srgbClr val="445264"/>
                </a:solidFill>
                <a:latin typeface="Malgun Gothic"/>
              </a:rPr>
              <a:t>Requirement
Test Case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03320" y="2331720"/>
            <a:ext cx="1874519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21607" y="2372868"/>
            <a:ext cx="1837943" cy="594359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720" b="0">
                <a:solidFill>
                  <a:srgbClr val="445264"/>
                </a:solidFill>
                <a:latin typeface="Malgun Gothic"/>
              </a:rPr>
              <a:t>Part / BOM
Product Config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77840" y="2331720"/>
            <a:ext cx="1874519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96127" y="2372868"/>
            <a:ext cx="1837943" cy="594359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720" b="0">
                <a:solidFill>
                  <a:srgbClr val="445264"/>
                </a:solidFill>
                <a:latin typeface="Malgun Gothic"/>
              </a:rPr>
              <a:t>Flag / Policy
Rollout Rule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52359" y="2331720"/>
            <a:ext cx="192024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70647" y="2372868"/>
            <a:ext cx="1883664" cy="594359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720" b="0">
                <a:solidFill>
                  <a:srgbClr val="445264"/>
                </a:solidFill>
                <a:latin typeface="Malgun Gothic"/>
              </a:rPr>
              <a:t>Package / Fleet
Telemetry / Incident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72599" y="2331720"/>
            <a:ext cx="1828800" cy="658368"/>
          </a:xfrm>
          <a:prstGeom prst="rect">
            <a:avLst/>
          </a:prstGeom>
          <a:solidFill>
            <a:srgbClr val="F6FCFA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90887" y="2372868"/>
            <a:ext cx="1792224" cy="594359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735" b="1">
                <a:solidFill>
                  <a:srgbClr val="00765C"/>
                </a:solidFill>
                <a:latin typeface="Malgun Gothic"/>
              </a:rPr>
              <a:t>Feature ID
Relationship Graph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2990087"/>
            <a:ext cx="1188720" cy="713232"/>
          </a:xfrm>
          <a:prstGeom prst="rect">
            <a:avLst/>
          </a:prstGeom>
          <a:solidFill>
            <a:srgbClr val="F8FAFC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3031235"/>
            <a:ext cx="1152144" cy="64922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800" b="1">
                <a:solidFill>
                  <a:srgbClr val="182D49"/>
                </a:solidFill>
                <a:latin typeface="Malgun Gothic"/>
              </a:rPr>
              <a:t>강점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0" y="2990087"/>
            <a:ext cx="1874519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47088" y="3031235"/>
            <a:ext cx="1837943" cy="64922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720" b="0">
                <a:solidFill>
                  <a:srgbClr val="445264"/>
                </a:solidFill>
                <a:latin typeface="Malgun Gothic"/>
              </a:rPr>
              <a:t>요구사항-검증
추적성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03320" y="2990087"/>
            <a:ext cx="1874519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21607" y="3031235"/>
            <a:ext cx="1837943" cy="64922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720" b="0">
                <a:solidFill>
                  <a:srgbClr val="445264"/>
                </a:solidFill>
                <a:latin typeface="Malgun Gothic"/>
              </a:rPr>
              <a:t>제품 구성·부품
Baseline 관리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77840" y="2990087"/>
            <a:ext cx="1874519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96127" y="3031235"/>
            <a:ext cx="1837943" cy="64922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720" b="0">
                <a:solidFill>
                  <a:srgbClr val="445264"/>
                </a:solidFill>
                <a:latin typeface="Malgun Gothic"/>
              </a:rPr>
              <a:t>런타임 ON/OFF
Rollout 제어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52359" y="2990087"/>
            <a:ext cx="1920240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70647" y="3031235"/>
            <a:ext cx="1883664" cy="64922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720" b="0">
                <a:solidFill>
                  <a:srgbClr val="445264"/>
                </a:solidFill>
                <a:latin typeface="Malgun Gothic"/>
              </a:rPr>
              <a:t>배포·운영 상태
관측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72599" y="2990087"/>
            <a:ext cx="1828800" cy="713232"/>
          </a:xfrm>
          <a:prstGeom prst="rect">
            <a:avLst/>
          </a:prstGeom>
          <a:solidFill>
            <a:srgbClr val="F6FCFA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90887" y="3031235"/>
            <a:ext cx="1792224" cy="64922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735" b="1">
                <a:solidFill>
                  <a:srgbClr val="00765C"/>
                </a:solidFill>
                <a:latin typeface="Malgun Gothic"/>
              </a:rPr>
              <a:t>Feature 중심으로
전체 Artifact 연결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3703320"/>
            <a:ext cx="1188720" cy="713232"/>
          </a:xfrm>
          <a:prstGeom prst="rect">
            <a:avLst/>
          </a:prstGeom>
          <a:solidFill>
            <a:srgbClr val="F8FAFC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3744468"/>
            <a:ext cx="1152144" cy="64922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800" b="1">
                <a:solidFill>
                  <a:srgbClr val="182D49"/>
                </a:solidFill>
                <a:latin typeface="Malgun Gothic"/>
              </a:rPr>
              <a:t>주요 Gap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0" y="3703320"/>
            <a:ext cx="1874519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47088" y="3744468"/>
            <a:ext cx="1837943" cy="64922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720" b="0">
                <a:solidFill>
                  <a:srgbClr val="445264"/>
                </a:solidFill>
                <a:latin typeface="Malgun Gothic"/>
              </a:rPr>
              <a:t>SWC·ECU·API·
Supplier·Runtime 연결 약함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03320" y="3703320"/>
            <a:ext cx="1874519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21607" y="3744468"/>
            <a:ext cx="1837943" cy="64922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720" b="0">
                <a:solidFill>
                  <a:srgbClr val="445264"/>
                </a:solidFill>
                <a:latin typeface="Malgun Gothic"/>
              </a:rPr>
              <a:t>SW Feature·Policy·
Runtime Context 부족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77840" y="3703320"/>
            <a:ext cx="1874519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96127" y="3744468"/>
            <a:ext cx="1837943" cy="64922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720" b="0">
                <a:solidFill>
                  <a:srgbClr val="445264"/>
                </a:solidFill>
                <a:latin typeface="Malgun Gothic"/>
              </a:rPr>
              <a:t>Flag ≠ Feature
요구사항·검증 연결 약함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52359" y="3703320"/>
            <a:ext cx="1920240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70647" y="3744468"/>
            <a:ext cx="1883664" cy="64922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720" b="0">
                <a:solidFill>
                  <a:srgbClr val="445264"/>
                </a:solidFill>
                <a:latin typeface="Malgun Gothic"/>
              </a:rPr>
              <a:t>Feature 의도·요구·
정책 근거 추적 약함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72599" y="3703320"/>
            <a:ext cx="1828800" cy="713232"/>
          </a:xfrm>
          <a:prstGeom prst="rect">
            <a:avLst/>
          </a:prstGeom>
          <a:solidFill>
            <a:srgbClr val="F6FCFA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90887" y="3744468"/>
            <a:ext cx="1792224" cy="64922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735" b="1">
                <a:solidFill>
                  <a:srgbClr val="00765C"/>
                </a:solidFill>
                <a:latin typeface="Malgun Gothic"/>
              </a:rPr>
              <a:t>Impact·Verification·
Deploy·Owner 판단 가능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" y="4416552"/>
            <a:ext cx="1188720" cy="713232"/>
          </a:xfrm>
          <a:prstGeom prst="rect">
            <a:avLst/>
          </a:prstGeom>
          <a:solidFill>
            <a:srgbClr val="F8FAFC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8368" y="4457700"/>
            <a:ext cx="1152144" cy="64922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800" b="1">
                <a:solidFill>
                  <a:srgbClr val="182D49"/>
                </a:solidFill>
                <a:latin typeface="Malgun Gothic"/>
              </a:rPr>
              <a:t>필요 보강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8800" y="4416552"/>
            <a:ext cx="1874519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847088" y="4457700"/>
            <a:ext cx="1837943" cy="64922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720" b="0">
                <a:solidFill>
                  <a:srgbClr val="445264"/>
                </a:solidFill>
                <a:latin typeface="Malgun Gothic"/>
              </a:rPr>
              <a:t>Feature 단위
Cross-link 필요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703320" y="4416552"/>
            <a:ext cx="1874519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7" y="4457700"/>
            <a:ext cx="1837943" cy="64922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720" b="0">
                <a:solidFill>
                  <a:srgbClr val="445264"/>
                </a:solidFill>
                <a:latin typeface="Malgun Gothic"/>
              </a:rPr>
              <a:t>SW/Runtime
Feature 연결 필요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577840" y="4416552"/>
            <a:ext cx="1874519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596127" y="4457700"/>
            <a:ext cx="1837943" cy="64922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720" b="0">
                <a:solidFill>
                  <a:srgbClr val="445264"/>
                </a:solidFill>
                <a:latin typeface="Malgun Gothic"/>
              </a:rPr>
              <a:t>Flag를 Control Point로
격상 관리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52359" y="4416552"/>
            <a:ext cx="1920240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70647" y="4457700"/>
            <a:ext cx="1883664" cy="64922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720" b="0">
                <a:solidFill>
                  <a:srgbClr val="445264"/>
                </a:solidFill>
                <a:latin typeface="Malgun Gothic"/>
              </a:rPr>
              <a:t>Telemetry를 Feature ID에
귀속해야 함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372599" y="4416552"/>
            <a:ext cx="1828800" cy="713232"/>
          </a:xfrm>
          <a:prstGeom prst="rect">
            <a:avLst/>
          </a:prstGeom>
          <a:solidFill>
            <a:srgbClr val="F6FCFA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90887" y="4457700"/>
            <a:ext cx="1792224" cy="64922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735" b="1">
                <a:solidFill>
                  <a:srgbClr val="00765C"/>
                </a:solidFill>
                <a:latin typeface="Malgun Gothic"/>
              </a:rPr>
              <a:t>도구 간 공통 Key와
Graph Query 제공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0080" y="5248656"/>
            <a:ext cx="3547872" cy="603504"/>
          </a:xfrm>
          <a:prstGeom prst="roundRect">
            <a:avLst/>
          </a:prstGeom>
          <a:solidFill>
            <a:srgbClr val="FAFCFD"/>
          </a:solidFill>
          <a:ln w="889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58952" y="5413248"/>
            <a:ext cx="283464" cy="283464"/>
          </a:xfrm>
          <a:prstGeom prst="ellipse">
            <a:avLst/>
          </a:prstGeom>
          <a:solidFill>
            <a:srgbClr val="00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58952" y="5481828"/>
            <a:ext cx="283464" cy="73152"/>
          </a:xfrm>
          <a:prstGeom prst="rect">
            <a:avLst/>
          </a:prstGeom>
          <a:noFill/>
        </p:spPr>
        <p:txBody>
          <a:bodyPr wrap="square" lIns="27432" rIns="27432" tIns="9144" bIns="9144">
            <a:normAutofit/>
          </a:bodyPr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01-2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15568" y="5367528"/>
            <a:ext cx="2953512" cy="137160"/>
          </a:xfrm>
          <a:prstGeom prst="rect">
            <a:avLst/>
          </a:prstGeom>
          <a:noFill/>
        </p:spPr>
        <p:txBody>
          <a:bodyPr wrap="square" lIns="27432" rIns="27432" tIns="9144" bIns="9144">
            <a:normAutofit/>
          </a:bodyPr>
          <a:lstStyle/>
          <a:p>
            <a:pPr algn="l"/>
            <a:r>
              <a:rPr sz="919" b="1">
                <a:solidFill>
                  <a:srgbClr val="182D49"/>
                </a:solidFill>
                <a:latin typeface="Malgun Gothic"/>
              </a:rPr>
              <a:t>공통 Key 설계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15568" y="5577840"/>
            <a:ext cx="2944368" cy="109728"/>
          </a:xfrm>
          <a:prstGeom prst="rect">
            <a:avLst/>
          </a:prstGeom>
          <a:noFill/>
        </p:spPr>
        <p:txBody>
          <a:bodyPr wrap="square" lIns="27432" rIns="27432" tIns="9144" bIns="9144">
            <a:normAutofit/>
          </a:bodyPr>
          <a:lstStyle/>
          <a:p>
            <a:pPr algn="l"/>
            <a:r>
              <a:rPr sz="740" b="0">
                <a:solidFill>
                  <a:srgbClr val="445264"/>
                </a:solidFill>
                <a:latin typeface="Malgun Gothic"/>
              </a:rPr>
              <a:t>Feature ID를 모든 Artifact의 외부 참조키로 사용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352544" y="5248656"/>
            <a:ext cx="3547872" cy="603504"/>
          </a:xfrm>
          <a:prstGeom prst="roundRect">
            <a:avLst/>
          </a:prstGeom>
          <a:solidFill>
            <a:srgbClr val="FAFCFD"/>
          </a:solidFill>
          <a:ln w="889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471416" y="5413248"/>
            <a:ext cx="283464" cy="283464"/>
          </a:xfrm>
          <a:prstGeom prst="ellipse">
            <a:avLst/>
          </a:prstGeom>
          <a:solidFill>
            <a:srgbClr val="00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471416" y="5481828"/>
            <a:ext cx="283464" cy="73152"/>
          </a:xfrm>
          <a:prstGeom prst="rect">
            <a:avLst/>
          </a:prstGeom>
          <a:noFill/>
        </p:spPr>
        <p:txBody>
          <a:bodyPr wrap="square" lIns="27432" rIns="27432" tIns="9144" bIns="9144">
            <a:normAutofit/>
          </a:bodyPr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01-2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828032" y="5367528"/>
            <a:ext cx="2953512" cy="137160"/>
          </a:xfrm>
          <a:prstGeom prst="rect">
            <a:avLst/>
          </a:prstGeom>
          <a:noFill/>
        </p:spPr>
        <p:txBody>
          <a:bodyPr wrap="square" lIns="27432" rIns="27432" tIns="9144" bIns="9144">
            <a:normAutofit/>
          </a:bodyPr>
          <a:lstStyle/>
          <a:p>
            <a:pPr algn="l"/>
            <a:r>
              <a:rPr sz="919" b="1">
                <a:solidFill>
                  <a:srgbClr val="182D49"/>
                </a:solidFill>
                <a:latin typeface="Malgun Gothic"/>
              </a:rPr>
              <a:t>관계 그래프 설계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828032" y="5577840"/>
            <a:ext cx="2944368" cy="109728"/>
          </a:xfrm>
          <a:prstGeom prst="rect">
            <a:avLst/>
          </a:prstGeom>
          <a:noFill/>
        </p:spPr>
        <p:txBody>
          <a:bodyPr wrap="square" lIns="27432" rIns="27432" tIns="9144" bIns="9144">
            <a:normAutofit/>
          </a:bodyPr>
          <a:lstStyle/>
          <a:p>
            <a:pPr algn="l"/>
            <a:r>
              <a:rPr sz="740" b="0">
                <a:solidFill>
                  <a:srgbClr val="445264"/>
                </a:solidFill>
                <a:latin typeface="Malgun Gothic"/>
              </a:rPr>
              <a:t>Requirement·SWC·API·Variant·Policy·Test·Supplier·Telemetry를 Edge로 연결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065008" y="5248656"/>
            <a:ext cx="3547872" cy="603504"/>
          </a:xfrm>
          <a:prstGeom prst="roundRect">
            <a:avLst/>
          </a:prstGeom>
          <a:solidFill>
            <a:srgbClr val="FAFCFD"/>
          </a:solidFill>
          <a:ln w="889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183880" y="5413248"/>
            <a:ext cx="283464" cy="283464"/>
          </a:xfrm>
          <a:prstGeom prst="ellipse">
            <a:avLst/>
          </a:prstGeom>
          <a:solidFill>
            <a:srgbClr val="00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183880" y="5481828"/>
            <a:ext cx="283464" cy="73152"/>
          </a:xfrm>
          <a:prstGeom prst="rect">
            <a:avLst/>
          </a:prstGeom>
          <a:noFill/>
        </p:spPr>
        <p:txBody>
          <a:bodyPr wrap="square" lIns="27432" rIns="27432" tIns="9144" bIns="9144">
            <a:normAutofit/>
          </a:bodyPr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01-2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540496" y="5367528"/>
            <a:ext cx="2953512" cy="137160"/>
          </a:xfrm>
          <a:prstGeom prst="rect">
            <a:avLst/>
          </a:prstGeom>
          <a:noFill/>
        </p:spPr>
        <p:txBody>
          <a:bodyPr wrap="square" lIns="27432" rIns="27432" tIns="9144" bIns="9144">
            <a:normAutofit/>
          </a:bodyPr>
          <a:lstStyle/>
          <a:p>
            <a:pPr algn="l"/>
            <a:r>
              <a:rPr sz="919" b="1">
                <a:solidFill>
                  <a:srgbClr val="182D49"/>
                </a:solidFill>
                <a:latin typeface="Malgun Gothic"/>
              </a:rPr>
              <a:t>Decision Layer 설계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540496" y="5577840"/>
            <a:ext cx="2944368" cy="109728"/>
          </a:xfrm>
          <a:prstGeom prst="rect">
            <a:avLst/>
          </a:prstGeom>
          <a:noFill/>
        </p:spPr>
        <p:txBody>
          <a:bodyPr wrap="square" lIns="27432" rIns="27432" tIns="9144" bIns="9144">
            <a:normAutofit/>
          </a:bodyPr>
          <a:lstStyle/>
          <a:p>
            <a:pPr algn="l"/>
            <a:r>
              <a:rPr sz="740" b="0">
                <a:solidFill>
                  <a:srgbClr val="445264"/>
                </a:solidFill>
                <a:latin typeface="Malgun Gothic"/>
              </a:rPr>
              <a:t>Impact·Verification·Deploy·Supplier 판단을 Graph Query + Rule로 자동화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40080" y="5989320"/>
            <a:ext cx="10972800" cy="347472"/>
          </a:xfrm>
          <a:prstGeom prst="roundRect">
            <a:avLst/>
          </a:prstGeom>
          <a:solidFill>
            <a:srgbClr val="EEF7F5"/>
          </a:solidFill>
          <a:ln w="10160">
            <a:solidFill>
              <a:srgbClr val="B2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68680" y="6089904"/>
            <a:ext cx="10515600" cy="82296"/>
          </a:xfrm>
          <a:prstGeom prst="rect">
            <a:avLst/>
          </a:prstGeom>
          <a:noFill/>
        </p:spPr>
        <p:txBody>
          <a:bodyPr wrap="square" lIns="27432" rIns="27432" tIns="9144" bIns="9144">
            <a:normAutofit/>
          </a:bodyPr>
          <a:lstStyle/>
          <a:p>
            <a:pPr algn="ctr"/>
            <a:r>
              <a:rPr sz="850" b="1">
                <a:solidFill>
                  <a:srgbClr val="00765C"/>
                </a:solidFill>
                <a:latin typeface="Malgun Gothic"/>
              </a:rPr>
              <a:t>핵심 : 기존 도구의 산출물은 그대로 활용하되, Feature Topology Registry가 Feature ID 기반 관계·정합성·의사결정 계층을 추가한다.</a:t>
            </a:r>
          </a:p>
        </p:txBody>
      </p:sp>
      <p:sp>
        <p:nvSpPr>
          <p:cNvPr id="87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OpenFeature Spec; Unleash Docs; OpenAPI 3.2.0; ALM/PLM 벤더 문서; Mutuus Lab Gap 분석.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228600"/>
            <a:ext cx="566928" cy="256032"/>
          </a:xfrm>
          <a:prstGeom prst="roundRect">
            <a:avLst/>
          </a:prstGeom>
          <a:solidFill>
            <a:srgbClr val="E6F8F4"/>
          </a:solidFill>
          <a:ln w="10160">
            <a:solidFill>
              <a:srgbClr val="94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78892"/>
            <a:ext cx="566928" cy="914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819" b="1">
                <a:solidFill>
                  <a:srgbClr val="005D52"/>
                </a:solidFill>
                <a:latin typeface="Malgun Gothic"/>
              </a:rPr>
              <a:t>02-1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82880"/>
            <a:ext cx="7955279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2250" b="1">
                <a:solidFill>
                  <a:srgbClr val="12263F"/>
                </a:solidFill>
                <a:latin typeface="Malgun Gothic"/>
              </a:rPr>
              <a:t>Feature Definition — 등록 단위와 제외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612648"/>
            <a:ext cx="1033272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980" b="0">
                <a:solidFill>
                  <a:srgbClr val="59687C"/>
                </a:solidFill>
                <a:latin typeface="Malgun Gothic"/>
              </a:rPr>
              <a:t>Feature는 독립 관리가 필요한 기능 단위이며, Flag · Parameter · Signal · DTC는 Feature를 구성·제어·관측하는 하위 Artifact로 분류한다.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932688"/>
            <a:ext cx="10607040" cy="9144"/>
          </a:xfrm>
          <a:prstGeom prst="rect">
            <a:avLst/>
          </a:prstGeom>
          <a:solidFill>
            <a:srgbClr val="DD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078992"/>
            <a:ext cx="10927080" cy="493776"/>
          </a:xfrm>
          <a:prstGeom prst="roundRect">
            <a:avLst/>
          </a:prstGeom>
          <a:solidFill>
            <a:srgbClr val="EFFAF7"/>
          </a:solidFill>
          <a:ln w="11430">
            <a:solidFill>
              <a:srgbClr val="96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216152"/>
            <a:ext cx="10497312" cy="1280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1070" b="1">
                <a:solidFill>
                  <a:srgbClr val="12263F"/>
                </a:solidFill>
                <a:latin typeface="Malgun Gothic"/>
              </a:rPr>
              <a:t>정의: Feature = 고객/차량 동작 관점에서 식별 가능하고, 요구사항 · 구현 · 검증 · 배포 · 활성화 · 운영 · 책임을 독립 관리해야 하는 기능 단위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55648"/>
            <a:ext cx="29718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12263F"/>
                </a:solidFill>
                <a:latin typeface="Malgun Gothic"/>
              </a:rPr>
              <a:t>Feature 등록 판단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75104"/>
            <a:ext cx="29718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720" b="0">
                <a:solidFill>
                  <a:srgbClr val="59687C"/>
                </a:solidFill>
                <a:latin typeface="Malgun Gothic"/>
              </a:rPr>
              <a:t>후보 항목을 Feature / BOM Item / 제외 대상으로 분류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148840"/>
            <a:ext cx="2971800" cy="4389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2258568"/>
            <a:ext cx="310896" cy="310896"/>
          </a:xfrm>
          <a:prstGeom prst="ellipse">
            <a:avLst/>
          </a:prstGeom>
          <a:solidFill>
            <a:srgbClr val="007969"/>
          </a:solidFill>
          <a:ln>
            <a:solidFill>
              <a:srgbClr val="007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331720"/>
            <a:ext cx="310896" cy="914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2240280"/>
            <a:ext cx="2350008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880" b="1">
                <a:solidFill>
                  <a:srgbClr val="12263F"/>
                </a:solidFill>
                <a:latin typeface="Malgun Gothic"/>
              </a:rPr>
              <a:t>Candidate 수집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2459736"/>
            <a:ext cx="2350008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700" b="0">
                <a:solidFill>
                  <a:srgbClr val="303F54"/>
                </a:solidFill>
                <a:latin typeface="Malgun Gothic"/>
              </a:rPr>
              <a:t>고객 기능명 · 시스템 요구 · SW 기능 · Flag · Signal 후보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144268" y="2606040"/>
            <a:ext cx="0" cy="146304"/>
          </a:xfrm>
          <a:prstGeom prst="line">
            <a:avLst/>
          </a:prstGeom>
          <a:ln w="15240">
            <a:solidFill>
              <a:srgbClr val="A8BA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own Arrow 16"/>
          <p:cNvSpPr/>
          <p:nvPr/>
        </p:nvSpPr>
        <p:spPr>
          <a:xfrm>
            <a:off x="2080260" y="2715768"/>
            <a:ext cx="128016" cy="146304"/>
          </a:xfrm>
          <a:prstGeom prst="downArrow">
            <a:avLst/>
          </a:prstGeom>
          <a:solidFill>
            <a:srgbClr val="A8B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2752344"/>
            <a:ext cx="2971800" cy="4389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86384" y="2862072"/>
            <a:ext cx="310896" cy="310896"/>
          </a:xfrm>
          <a:prstGeom prst="ellipse">
            <a:avLst/>
          </a:prstGeom>
          <a:solidFill>
            <a:srgbClr val="007969"/>
          </a:solidFill>
          <a:ln>
            <a:solidFill>
              <a:srgbClr val="007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2935224"/>
            <a:ext cx="310896" cy="914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2843784"/>
            <a:ext cx="2350008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880" b="1">
                <a:solidFill>
                  <a:srgbClr val="12263F"/>
                </a:solidFill>
                <a:latin typeface="Malgun Gothic"/>
              </a:rPr>
              <a:t>7 Criteria 평가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3063239"/>
            <a:ext cx="2350008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700" b="0">
                <a:solidFill>
                  <a:srgbClr val="303F54"/>
                </a:solidFill>
                <a:latin typeface="Malgun Gothic"/>
              </a:rPr>
              <a:t>가치 · 요구사항화 · 검증 · 적용조건 · 제어 · Owner · 운영성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144268" y="3209544"/>
            <a:ext cx="0" cy="146304"/>
          </a:xfrm>
          <a:prstGeom prst="line">
            <a:avLst/>
          </a:prstGeom>
          <a:ln w="15240">
            <a:solidFill>
              <a:srgbClr val="A8BA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own Arrow 23"/>
          <p:cNvSpPr/>
          <p:nvPr/>
        </p:nvSpPr>
        <p:spPr>
          <a:xfrm>
            <a:off x="2080260" y="3319272"/>
            <a:ext cx="128016" cy="146304"/>
          </a:xfrm>
          <a:prstGeom prst="downArrow">
            <a:avLst/>
          </a:prstGeom>
          <a:solidFill>
            <a:srgbClr val="A8B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3355848"/>
            <a:ext cx="2971800" cy="4389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86384" y="3465576"/>
            <a:ext cx="310896" cy="310896"/>
          </a:xfrm>
          <a:prstGeom prst="ellipse">
            <a:avLst/>
          </a:prstGeom>
          <a:solidFill>
            <a:srgbClr val="007969"/>
          </a:solidFill>
          <a:ln>
            <a:solidFill>
              <a:srgbClr val="007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3538728"/>
            <a:ext cx="310896" cy="914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432" y="3447288"/>
            <a:ext cx="2350008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880" b="1">
                <a:solidFill>
                  <a:srgbClr val="12263F"/>
                </a:solidFill>
                <a:latin typeface="Malgun Gothic"/>
              </a:rPr>
              <a:t>필수 속성 확인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" y="3666744"/>
            <a:ext cx="2350008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700" b="0">
                <a:solidFill>
                  <a:srgbClr val="303F54"/>
                </a:solidFill>
                <a:latin typeface="Malgun Gothic"/>
              </a:rPr>
              <a:t>Owner · Source · Verification · Applicability · Lifecycle 존재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144268" y="3813048"/>
            <a:ext cx="0" cy="146304"/>
          </a:xfrm>
          <a:prstGeom prst="line">
            <a:avLst/>
          </a:prstGeom>
          <a:ln w="15240">
            <a:solidFill>
              <a:srgbClr val="A8BA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own Arrow 30"/>
          <p:cNvSpPr/>
          <p:nvPr/>
        </p:nvSpPr>
        <p:spPr>
          <a:xfrm>
            <a:off x="2080260" y="3922776"/>
            <a:ext cx="128016" cy="146304"/>
          </a:xfrm>
          <a:prstGeom prst="downArrow">
            <a:avLst/>
          </a:prstGeom>
          <a:solidFill>
            <a:srgbClr val="A8B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8368" y="3959352"/>
            <a:ext cx="2971800" cy="438912"/>
          </a:xfrm>
          <a:prstGeom prst="roundRect">
            <a:avLst/>
          </a:prstGeom>
          <a:solidFill>
            <a:srgbClr val="EFFAF7"/>
          </a:solidFill>
          <a:ln w="889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6384" y="4069080"/>
            <a:ext cx="310896" cy="310896"/>
          </a:xfrm>
          <a:prstGeom prst="ellipse">
            <a:avLst/>
          </a:prstGeom>
          <a:solidFill>
            <a:srgbClr val="007969"/>
          </a:solidFill>
          <a:ln>
            <a:solidFill>
              <a:srgbClr val="007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" y="4142232"/>
            <a:ext cx="310896" cy="914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0432" y="4050791"/>
            <a:ext cx="2350008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880" b="1">
                <a:solidFill>
                  <a:srgbClr val="12263F"/>
                </a:solidFill>
                <a:latin typeface="Malgun Gothic"/>
              </a:rPr>
              <a:t>등록 결정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0432" y="4270248"/>
            <a:ext cx="2350008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700" b="0">
                <a:solidFill>
                  <a:srgbClr val="303F54"/>
                </a:solidFill>
                <a:latin typeface="Malgun Gothic"/>
              </a:rPr>
              <a:t>Feature 등록 / BOM 하위요소 분류 / 보류·제외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800600"/>
            <a:ext cx="2971800" cy="530352"/>
          </a:xfrm>
          <a:prstGeom prst="roundRect">
            <a:avLst/>
          </a:prstGeom>
          <a:solidFill>
            <a:srgbClr val="F6F2FA"/>
          </a:solidFill>
          <a:ln w="889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4928616"/>
            <a:ext cx="2651760" cy="1097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840" b="1">
                <a:solidFill>
                  <a:srgbClr val="12263F"/>
                </a:solidFill>
                <a:latin typeface="Malgun Gothic"/>
              </a:rPr>
              <a:t>Registration Rule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" y="5138928"/>
            <a:ext cx="2706624" cy="914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50" b="0">
                <a:solidFill>
                  <a:srgbClr val="303F54"/>
                </a:solidFill>
                <a:latin typeface="Malgun Gothic"/>
              </a:rPr>
              <a:t>7개 기준 중 4개 이상 + Owner/Verification/Applicability 정의 시 Feature 후보 등록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58768" y="1755648"/>
            <a:ext cx="3703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12263F"/>
                </a:solidFill>
                <a:latin typeface="Malgun Gothic"/>
              </a:rPr>
              <a:t>7가지 판단 기준 — Pass Signal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58768" y="1975104"/>
            <a:ext cx="3703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720" b="0">
                <a:solidFill>
                  <a:srgbClr val="59687C"/>
                </a:solidFill>
                <a:latin typeface="Malgun Gothic"/>
              </a:rPr>
              <a:t>등록 기준은 점수가 아니라 추적·검증 가능한 Evidence 유무로 판단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58768" y="2148840"/>
            <a:ext cx="329184" cy="301752"/>
          </a:xfrm>
          <a:prstGeom prst="rect">
            <a:avLst/>
          </a:prstGeom>
          <a:solidFill>
            <a:srgbClr val="EBF4FC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77055" y="2194560"/>
            <a:ext cx="292608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700" b="1">
                <a:solidFill>
                  <a:srgbClr val="12263F"/>
                </a:solidFill>
                <a:latin typeface="Malgun Gothic"/>
              </a:rPr>
              <a:t>#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87952" y="2148840"/>
            <a:ext cx="1188720" cy="301752"/>
          </a:xfrm>
          <a:prstGeom prst="rect">
            <a:avLst/>
          </a:prstGeom>
          <a:solidFill>
            <a:srgbClr val="EBF4FC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06240" y="2194560"/>
            <a:ext cx="1152144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700" b="1">
                <a:solidFill>
                  <a:srgbClr val="12263F"/>
                </a:solidFill>
                <a:latin typeface="Malgun Gothic"/>
              </a:rPr>
              <a:t>기준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76672" y="2148840"/>
            <a:ext cx="2039112" cy="301752"/>
          </a:xfrm>
          <a:prstGeom prst="rect">
            <a:avLst/>
          </a:prstGeom>
          <a:solidFill>
            <a:srgbClr val="EBF4FC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4959" y="2194560"/>
            <a:ext cx="2002536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700" b="1">
                <a:solidFill>
                  <a:srgbClr val="12263F"/>
                </a:solidFill>
                <a:latin typeface="Malgun Gothic"/>
              </a:rPr>
              <a:t>Pass Signal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58768" y="2450592"/>
            <a:ext cx="329184" cy="301752"/>
          </a:xfrm>
          <a:prstGeom prst="rect">
            <a:avLst/>
          </a:prstGeom>
          <a:solidFill>
            <a:srgbClr val="FCFDFE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77055" y="2496312"/>
            <a:ext cx="292608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80" b="1">
                <a:solidFill>
                  <a:srgbClr val="005D52"/>
                </a:solidFill>
                <a:latin typeface="Malgun Gothic"/>
              </a:rPr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87952" y="2450592"/>
            <a:ext cx="1188720" cy="301752"/>
          </a:xfrm>
          <a:prstGeom prst="rect">
            <a:avLst/>
          </a:prstGeom>
          <a:solidFill>
            <a:srgbClr val="FCFDFE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06240" y="2496312"/>
            <a:ext cx="1152144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l"/>
            <a:r>
              <a:rPr sz="680" b="1">
                <a:solidFill>
                  <a:srgbClr val="303F54"/>
                </a:solidFill>
                <a:latin typeface="Malgun Gothic"/>
              </a:rPr>
              <a:t>고객/차량 가치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76672" y="2450592"/>
            <a:ext cx="2039112" cy="301752"/>
          </a:xfrm>
          <a:prstGeom prst="rect">
            <a:avLst/>
          </a:prstGeom>
          <a:solidFill>
            <a:srgbClr val="FCFDFE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94959" y="2496312"/>
            <a:ext cx="2002536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l"/>
            <a:r>
              <a:rPr sz="640" b="0">
                <a:solidFill>
                  <a:srgbClr val="303F54"/>
                </a:solidFill>
                <a:latin typeface="Malgun Gothic"/>
              </a:rPr>
              <a:t>고객이 인지하거나 차량 동작을 바꾸는가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58768" y="2752344"/>
            <a:ext cx="329184" cy="301752"/>
          </a:xfrm>
          <a:prstGeom prst="rect">
            <a:avLst/>
          </a:prstGeom>
          <a:solidFill>
            <a:srgbClr val="F7FAFD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877055" y="2798064"/>
            <a:ext cx="292608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80" b="1">
                <a:solidFill>
                  <a:srgbClr val="005D52"/>
                </a:solidFill>
                <a:latin typeface="Malgun Gothic"/>
              </a:rPr>
              <a:t>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87952" y="2752344"/>
            <a:ext cx="1188720" cy="301752"/>
          </a:xfrm>
          <a:prstGeom prst="rect">
            <a:avLst/>
          </a:prstGeom>
          <a:solidFill>
            <a:srgbClr val="F7FAFD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06240" y="2798064"/>
            <a:ext cx="1152144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l"/>
            <a:r>
              <a:rPr sz="680" b="1">
                <a:solidFill>
                  <a:srgbClr val="303F54"/>
                </a:solidFill>
                <a:latin typeface="Malgun Gothic"/>
              </a:rPr>
              <a:t>요구사항화 가능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76672" y="2752344"/>
            <a:ext cx="2039112" cy="301752"/>
          </a:xfrm>
          <a:prstGeom prst="rect">
            <a:avLst/>
          </a:prstGeom>
          <a:solidFill>
            <a:srgbClr val="F7FAFD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94959" y="2798064"/>
            <a:ext cx="2002536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l"/>
            <a:r>
              <a:rPr sz="640" b="0">
                <a:solidFill>
                  <a:srgbClr val="303F54"/>
                </a:solidFill>
                <a:latin typeface="Malgun Gothic"/>
              </a:rPr>
              <a:t>입력·출력·조건·예외를 명세 가능한가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58768" y="3054096"/>
            <a:ext cx="329184" cy="301752"/>
          </a:xfrm>
          <a:prstGeom prst="rect">
            <a:avLst/>
          </a:prstGeom>
          <a:solidFill>
            <a:srgbClr val="FCFDFE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877055" y="3099815"/>
            <a:ext cx="292608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80" b="1">
                <a:solidFill>
                  <a:srgbClr val="005D52"/>
                </a:solidFill>
                <a:latin typeface="Malgun Gothic"/>
              </a:rPr>
              <a:t>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87952" y="3054096"/>
            <a:ext cx="1188720" cy="301752"/>
          </a:xfrm>
          <a:prstGeom prst="rect">
            <a:avLst/>
          </a:prstGeom>
          <a:solidFill>
            <a:srgbClr val="FCFDFE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06240" y="3099815"/>
            <a:ext cx="1152144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l"/>
            <a:r>
              <a:rPr sz="680" b="1">
                <a:solidFill>
                  <a:srgbClr val="303F54"/>
                </a:solidFill>
                <a:latin typeface="Malgun Gothic"/>
              </a:rPr>
              <a:t>독립 검증 가능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376672" y="3054096"/>
            <a:ext cx="2039112" cy="301752"/>
          </a:xfrm>
          <a:prstGeom prst="rect">
            <a:avLst/>
          </a:prstGeom>
          <a:solidFill>
            <a:srgbClr val="FCFDFE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94959" y="3099815"/>
            <a:ext cx="2002536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l"/>
            <a:r>
              <a:rPr sz="640" b="0">
                <a:solidFill>
                  <a:srgbClr val="303F54"/>
                </a:solidFill>
                <a:latin typeface="Malgun Gothic"/>
              </a:rPr>
              <a:t>독립 Test Case 또는 검증 조건이 있는가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58768" y="3355848"/>
            <a:ext cx="329184" cy="301752"/>
          </a:xfrm>
          <a:prstGeom prst="rect">
            <a:avLst/>
          </a:prstGeom>
          <a:solidFill>
            <a:srgbClr val="F7FAFD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877055" y="3401568"/>
            <a:ext cx="292608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80" b="1">
                <a:solidFill>
                  <a:srgbClr val="005D52"/>
                </a:solidFill>
                <a:latin typeface="Malgun Gothic"/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87952" y="3355848"/>
            <a:ext cx="1188720" cy="301752"/>
          </a:xfrm>
          <a:prstGeom prst="rect">
            <a:avLst/>
          </a:prstGeom>
          <a:solidFill>
            <a:srgbClr val="F7FAFD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206240" y="3401568"/>
            <a:ext cx="1152144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l"/>
            <a:r>
              <a:rPr sz="680" b="1">
                <a:solidFill>
                  <a:srgbClr val="303F54"/>
                </a:solidFill>
                <a:latin typeface="Malgun Gothic"/>
              </a:rPr>
              <a:t>적용 조건 존재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376672" y="3355848"/>
            <a:ext cx="2039112" cy="301752"/>
          </a:xfrm>
          <a:prstGeom prst="rect">
            <a:avLst/>
          </a:prstGeom>
          <a:solidFill>
            <a:srgbClr val="F7FAFD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94959" y="3401568"/>
            <a:ext cx="2002536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l"/>
            <a:r>
              <a:rPr sz="640" b="0">
                <a:solidFill>
                  <a:srgbClr val="303F54"/>
                </a:solidFill>
                <a:latin typeface="Malgun Gothic"/>
              </a:rPr>
              <a:t>차종·지역·트림·HW/SW별 차이가 있는가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58768" y="3657600"/>
            <a:ext cx="329184" cy="301752"/>
          </a:xfrm>
          <a:prstGeom prst="rect">
            <a:avLst/>
          </a:prstGeom>
          <a:solidFill>
            <a:srgbClr val="FCFDFE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877055" y="3703320"/>
            <a:ext cx="292608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80" b="1">
                <a:solidFill>
                  <a:srgbClr val="005D52"/>
                </a:solidFill>
                <a:latin typeface="Malgun Gothic"/>
              </a:rPr>
              <a:t>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87952" y="3657600"/>
            <a:ext cx="1188720" cy="301752"/>
          </a:xfrm>
          <a:prstGeom prst="rect">
            <a:avLst/>
          </a:prstGeom>
          <a:solidFill>
            <a:srgbClr val="FCFDFE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206240" y="3703320"/>
            <a:ext cx="1152144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l"/>
            <a:r>
              <a:rPr sz="680" b="1">
                <a:solidFill>
                  <a:srgbClr val="303F54"/>
                </a:solidFill>
                <a:latin typeface="Malgun Gothic"/>
              </a:rPr>
              <a:t>배포/활성화 제어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376672" y="3657600"/>
            <a:ext cx="2039112" cy="301752"/>
          </a:xfrm>
          <a:prstGeom prst="rect">
            <a:avLst/>
          </a:prstGeom>
          <a:solidFill>
            <a:srgbClr val="FCFDFE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94959" y="3703320"/>
            <a:ext cx="2002536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l"/>
            <a:r>
              <a:rPr sz="640" b="0">
                <a:solidFill>
                  <a:srgbClr val="303F54"/>
                </a:solidFill>
                <a:latin typeface="Malgun Gothic"/>
              </a:rPr>
              <a:t>OTA·Policy-only·Kill-switch 대상인가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858768" y="3959352"/>
            <a:ext cx="329184" cy="301752"/>
          </a:xfrm>
          <a:prstGeom prst="rect">
            <a:avLst/>
          </a:prstGeom>
          <a:solidFill>
            <a:srgbClr val="F7FAFD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877055" y="4005072"/>
            <a:ext cx="292608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80" b="1">
                <a:solidFill>
                  <a:srgbClr val="005D52"/>
                </a:solidFill>
                <a:latin typeface="Malgun Gothic"/>
              </a:rPr>
              <a:t>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187952" y="3959352"/>
            <a:ext cx="1188720" cy="301752"/>
          </a:xfrm>
          <a:prstGeom prst="rect">
            <a:avLst/>
          </a:prstGeom>
          <a:solidFill>
            <a:srgbClr val="F7FAFD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206240" y="4005072"/>
            <a:ext cx="1152144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l"/>
            <a:r>
              <a:rPr sz="680" b="1">
                <a:solidFill>
                  <a:srgbClr val="303F54"/>
                </a:solidFill>
                <a:latin typeface="Malgun Gothic"/>
              </a:rPr>
              <a:t>Owner 지정 가능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76672" y="3959352"/>
            <a:ext cx="2039112" cy="301752"/>
          </a:xfrm>
          <a:prstGeom prst="rect">
            <a:avLst/>
          </a:prstGeom>
          <a:solidFill>
            <a:srgbClr val="F7FAFD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394959" y="4005072"/>
            <a:ext cx="2002536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l"/>
            <a:r>
              <a:rPr sz="640" b="0">
                <a:solidFill>
                  <a:srgbClr val="303F54"/>
                </a:solidFill>
                <a:latin typeface="Malgun Gothic"/>
              </a:rPr>
              <a:t>개발·검증·운영·협력사 책임이 지정되는가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858768" y="4261104"/>
            <a:ext cx="329184" cy="301752"/>
          </a:xfrm>
          <a:prstGeom prst="rect">
            <a:avLst/>
          </a:prstGeom>
          <a:solidFill>
            <a:srgbClr val="FCFDFE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877055" y="4306824"/>
            <a:ext cx="292608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80" b="1">
                <a:solidFill>
                  <a:srgbClr val="005D52"/>
                </a:solidFill>
                <a:latin typeface="Malgun Gothic"/>
              </a:rPr>
              <a:t>7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187952" y="4261104"/>
            <a:ext cx="1188720" cy="301752"/>
          </a:xfrm>
          <a:prstGeom prst="rect">
            <a:avLst/>
          </a:prstGeom>
          <a:solidFill>
            <a:srgbClr val="FCFDFE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206240" y="4306824"/>
            <a:ext cx="1152144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l"/>
            <a:r>
              <a:rPr sz="680" b="1">
                <a:solidFill>
                  <a:srgbClr val="303F54"/>
                </a:solidFill>
                <a:latin typeface="Malgun Gothic"/>
              </a:rPr>
              <a:t>운영 모니터링 필요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376672" y="4261104"/>
            <a:ext cx="2039112" cy="301752"/>
          </a:xfrm>
          <a:prstGeom prst="rect">
            <a:avLst/>
          </a:prstGeom>
          <a:solidFill>
            <a:srgbClr val="FCFDFE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394959" y="4306824"/>
            <a:ext cx="2002536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l"/>
            <a:r>
              <a:rPr sz="640" b="0">
                <a:solidFill>
                  <a:srgbClr val="303F54"/>
                </a:solidFill>
                <a:latin typeface="Malgun Gothic"/>
              </a:rPr>
              <a:t>Telemetry·DTC·Audit로 관측해야 하는가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3858768" y="4681728"/>
            <a:ext cx="3703320" cy="649224"/>
          </a:xfrm>
          <a:prstGeom prst="roundRect">
            <a:avLst/>
          </a:prstGeom>
          <a:solidFill>
            <a:srgbClr val="EFFAF7"/>
          </a:solidFill>
          <a:ln w="8890">
            <a:solidFill>
              <a:srgbClr val="9B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041648" y="4818888"/>
            <a:ext cx="3328416" cy="1097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840" b="1">
                <a:solidFill>
                  <a:srgbClr val="12263F"/>
                </a:solidFill>
                <a:latin typeface="Malgun Gothic"/>
              </a:rPr>
              <a:t>Feature 등록 시 최소 속성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977639" y="5029200"/>
            <a:ext cx="3474720" cy="914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50" b="0">
                <a:solidFill>
                  <a:srgbClr val="303F54"/>
                </a:solidFill>
                <a:latin typeface="Malgun Gothic"/>
              </a:rPr>
              <a:t>Feature ID · Level · Owner · Source · Requirement Link · Verification Method · Applicability · Lifecycle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818120" y="1755648"/>
            <a:ext cx="3703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12263F"/>
                </a:solidFill>
                <a:latin typeface="Malgun Gothic"/>
              </a:rPr>
              <a:t>Feature가 아닌 항목의 분류 기준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818120" y="1975104"/>
            <a:ext cx="3703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720" b="0">
                <a:solidFill>
                  <a:srgbClr val="59687C"/>
                </a:solidFill>
                <a:latin typeface="Malgun Gothic"/>
              </a:rPr>
              <a:t>Feature를 구성·제어·관측하는 하위 Artifact로 연결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818120" y="2148840"/>
            <a:ext cx="960120" cy="320040"/>
          </a:xfrm>
          <a:prstGeom prst="rect">
            <a:avLst/>
          </a:prstGeom>
          <a:solidFill>
            <a:srgbClr val="EBF4FC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836408" y="2194560"/>
            <a:ext cx="923544" cy="2468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90" b="1">
                <a:solidFill>
                  <a:srgbClr val="12263F"/>
                </a:solidFill>
                <a:latin typeface="Malgun Gothic"/>
              </a:rPr>
              <a:t>후보 항목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778240" y="2148840"/>
            <a:ext cx="1325880" cy="320040"/>
          </a:xfrm>
          <a:prstGeom prst="rect">
            <a:avLst/>
          </a:prstGeom>
          <a:solidFill>
            <a:srgbClr val="EBF4FC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796528" y="2194560"/>
            <a:ext cx="1289304" cy="2468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90" b="1">
                <a:solidFill>
                  <a:srgbClr val="12263F"/>
                </a:solidFill>
                <a:latin typeface="Malgun Gothic"/>
              </a:rPr>
              <a:t>등록 위치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104120" y="2148840"/>
            <a:ext cx="1261872" cy="320040"/>
          </a:xfrm>
          <a:prstGeom prst="rect">
            <a:avLst/>
          </a:prstGeom>
          <a:solidFill>
            <a:srgbClr val="EBF4FC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122408" y="2194560"/>
            <a:ext cx="1225295" cy="2468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90" b="1">
                <a:solidFill>
                  <a:srgbClr val="12263F"/>
                </a:solidFill>
                <a:latin typeface="Malgun Gothic"/>
              </a:rPr>
              <a:t>예시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818120" y="2468880"/>
            <a:ext cx="960120" cy="320040"/>
          </a:xfrm>
          <a:prstGeom prst="rect">
            <a:avLst/>
          </a:prstGeom>
          <a:solidFill>
            <a:srgbClr val="FCFDFE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836408" y="2514600"/>
            <a:ext cx="923544" cy="2468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35" b="0">
                <a:solidFill>
                  <a:srgbClr val="303F54"/>
                </a:solidFill>
                <a:latin typeface="Malgun Gothic"/>
              </a:rPr>
              <a:t>Flag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778240" y="2468880"/>
            <a:ext cx="1325880" cy="320040"/>
          </a:xfrm>
          <a:prstGeom prst="rect">
            <a:avLst/>
          </a:prstGeom>
          <a:solidFill>
            <a:srgbClr val="FCFDFE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796528" y="2514600"/>
            <a:ext cx="1289304" cy="2468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35" b="0">
                <a:solidFill>
                  <a:srgbClr val="303F54"/>
                </a:solidFill>
                <a:latin typeface="Malgun Gothic"/>
              </a:rPr>
              <a:t>Control Point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104120" y="2468880"/>
            <a:ext cx="1261872" cy="320040"/>
          </a:xfrm>
          <a:prstGeom prst="rect">
            <a:avLst/>
          </a:prstGeom>
          <a:solidFill>
            <a:srgbClr val="FCFDFE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122408" y="2514600"/>
            <a:ext cx="1225295" cy="2468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35" b="0">
                <a:solidFill>
                  <a:srgbClr val="303F54"/>
                </a:solidFill>
                <a:latin typeface="Malgun Gothic"/>
              </a:rPr>
              <a:t>enable_xxx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818120" y="2788920"/>
            <a:ext cx="960120" cy="320040"/>
          </a:xfrm>
          <a:prstGeom prst="rect">
            <a:avLst/>
          </a:prstGeom>
          <a:solidFill>
            <a:srgbClr val="F7FAFD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836408" y="2834639"/>
            <a:ext cx="923544" cy="2468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35" b="0">
                <a:solidFill>
                  <a:srgbClr val="303F54"/>
                </a:solidFill>
                <a:latin typeface="Malgun Gothic"/>
              </a:rPr>
              <a:t>Parameter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778240" y="2788920"/>
            <a:ext cx="1325880" cy="320040"/>
          </a:xfrm>
          <a:prstGeom prst="rect">
            <a:avLst/>
          </a:prstGeom>
          <a:solidFill>
            <a:srgbClr val="F7FAFD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796528" y="2834639"/>
            <a:ext cx="1289304" cy="2468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35" b="0">
                <a:solidFill>
                  <a:srgbClr val="303F54"/>
                </a:solidFill>
                <a:latin typeface="Malgun Gothic"/>
              </a:rPr>
              <a:t>Parameter Catalog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0104120" y="2788920"/>
            <a:ext cx="1261872" cy="320040"/>
          </a:xfrm>
          <a:prstGeom prst="rect">
            <a:avLst/>
          </a:prstGeom>
          <a:solidFill>
            <a:srgbClr val="F7FAFD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0122408" y="2834639"/>
            <a:ext cx="1225295" cy="2468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35" b="0">
                <a:solidFill>
                  <a:srgbClr val="303F54"/>
                </a:solidFill>
                <a:latin typeface="Malgun Gothic"/>
              </a:rPr>
              <a:t>Threshold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818120" y="3108960"/>
            <a:ext cx="960120" cy="320040"/>
          </a:xfrm>
          <a:prstGeom prst="rect">
            <a:avLst/>
          </a:prstGeom>
          <a:solidFill>
            <a:srgbClr val="FCFDFE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836408" y="3154679"/>
            <a:ext cx="923544" cy="2468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35" b="0">
                <a:solidFill>
                  <a:srgbClr val="303F54"/>
                </a:solidFill>
                <a:latin typeface="Malgun Gothic"/>
              </a:rPr>
              <a:t>Signal/API Field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778240" y="3108960"/>
            <a:ext cx="1325880" cy="320040"/>
          </a:xfrm>
          <a:prstGeom prst="rect">
            <a:avLst/>
          </a:prstGeom>
          <a:solidFill>
            <a:srgbClr val="FCFDFE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796528" y="3154679"/>
            <a:ext cx="1289304" cy="2468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35" b="0">
                <a:solidFill>
                  <a:srgbClr val="303F54"/>
                </a:solidFill>
                <a:latin typeface="Malgun Gothic"/>
              </a:rPr>
              <a:t>Interface BOM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104120" y="3108960"/>
            <a:ext cx="1261872" cy="320040"/>
          </a:xfrm>
          <a:prstGeom prst="rect">
            <a:avLst/>
          </a:prstGeom>
          <a:solidFill>
            <a:srgbClr val="FCFDFE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0122408" y="3154679"/>
            <a:ext cx="1225295" cy="2468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35" b="0">
                <a:solidFill>
                  <a:srgbClr val="303F54"/>
                </a:solidFill>
                <a:latin typeface="Malgun Gothic"/>
              </a:rPr>
              <a:t>CAN / API Field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818120" y="3429000"/>
            <a:ext cx="960120" cy="320040"/>
          </a:xfrm>
          <a:prstGeom prst="rect">
            <a:avLst/>
          </a:prstGeom>
          <a:solidFill>
            <a:srgbClr val="F7FAFD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836408" y="3474720"/>
            <a:ext cx="923544" cy="2468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35" b="0">
                <a:solidFill>
                  <a:srgbClr val="303F54"/>
                </a:solidFill>
                <a:latin typeface="Malgun Gothic"/>
              </a:rPr>
              <a:t>DTC/Event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778240" y="3429000"/>
            <a:ext cx="1325880" cy="320040"/>
          </a:xfrm>
          <a:prstGeom prst="rect">
            <a:avLst/>
          </a:prstGeom>
          <a:solidFill>
            <a:srgbClr val="F7FAFD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796528" y="3474720"/>
            <a:ext cx="1289304" cy="2468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35" b="0">
                <a:solidFill>
                  <a:srgbClr val="303F54"/>
                </a:solidFill>
                <a:latin typeface="Malgun Gothic"/>
              </a:rPr>
              <a:t>Telemetry Mapping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104120" y="3429000"/>
            <a:ext cx="1261872" cy="320040"/>
          </a:xfrm>
          <a:prstGeom prst="rect">
            <a:avLst/>
          </a:prstGeom>
          <a:solidFill>
            <a:srgbClr val="F7FAFD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122408" y="3474720"/>
            <a:ext cx="1225295" cy="2468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35" b="0">
                <a:solidFill>
                  <a:srgbClr val="303F54"/>
                </a:solidFill>
                <a:latin typeface="Malgun Gothic"/>
              </a:rPr>
              <a:t>Diagnostic Event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818120" y="3749039"/>
            <a:ext cx="960120" cy="320040"/>
          </a:xfrm>
          <a:prstGeom prst="rect">
            <a:avLst/>
          </a:prstGeom>
          <a:solidFill>
            <a:srgbClr val="FCFDFE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836408" y="3794759"/>
            <a:ext cx="923544" cy="2468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35" b="0">
                <a:solidFill>
                  <a:srgbClr val="303F54"/>
                </a:solidFill>
                <a:latin typeface="Malgun Gothic"/>
              </a:rPr>
              <a:t>Internal Function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778240" y="3749039"/>
            <a:ext cx="1325880" cy="320040"/>
          </a:xfrm>
          <a:prstGeom prst="rect">
            <a:avLst/>
          </a:prstGeom>
          <a:solidFill>
            <a:srgbClr val="FCFDFE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796528" y="3794759"/>
            <a:ext cx="1289304" cy="2468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35" b="0">
                <a:solidFill>
                  <a:srgbClr val="303F54"/>
                </a:solidFill>
                <a:latin typeface="Malgun Gothic"/>
              </a:rPr>
              <a:t>SWC 내부 설계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0104120" y="3749039"/>
            <a:ext cx="1261872" cy="320040"/>
          </a:xfrm>
          <a:prstGeom prst="rect">
            <a:avLst/>
          </a:prstGeom>
          <a:solidFill>
            <a:srgbClr val="FCFDFE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122408" y="3794759"/>
            <a:ext cx="1225295" cy="2468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35" b="0">
                <a:solidFill>
                  <a:srgbClr val="303F54"/>
                </a:solidFill>
                <a:latin typeface="Malgun Gothic"/>
              </a:rPr>
              <a:t>private method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818120" y="4069079"/>
            <a:ext cx="960120" cy="320040"/>
          </a:xfrm>
          <a:prstGeom prst="rect">
            <a:avLst/>
          </a:prstGeom>
          <a:solidFill>
            <a:srgbClr val="F7FAFD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7836408" y="4114799"/>
            <a:ext cx="923544" cy="2468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35" b="0">
                <a:solidFill>
                  <a:srgbClr val="303F54"/>
                </a:solidFill>
                <a:latin typeface="Malgun Gothic"/>
              </a:rPr>
              <a:t>if 조건문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778240" y="4069079"/>
            <a:ext cx="1325880" cy="320040"/>
          </a:xfrm>
          <a:prstGeom prst="rect">
            <a:avLst/>
          </a:prstGeom>
          <a:solidFill>
            <a:srgbClr val="F7FAFD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796528" y="4114799"/>
            <a:ext cx="1289304" cy="2468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35" b="0">
                <a:solidFill>
                  <a:srgbClr val="303F54"/>
                </a:solidFill>
                <a:latin typeface="Malgun Gothic"/>
              </a:rPr>
              <a:t>Code Logic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0104120" y="4069079"/>
            <a:ext cx="1261872" cy="320040"/>
          </a:xfrm>
          <a:prstGeom prst="rect">
            <a:avLst/>
          </a:prstGeom>
          <a:solidFill>
            <a:srgbClr val="F7FAFD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0122408" y="4114799"/>
            <a:ext cx="1225295" cy="2468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35" b="0">
                <a:solidFill>
                  <a:srgbClr val="303F54"/>
                </a:solidFill>
                <a:latin typeface="Malgun Gothic"/>
              </a:rPr>
              <a:t>static analysis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7818120" y="4407408"/>
            <a:ext cx="3547872" cy="923544"/>
          </a:xfrm>
          <a:prstGeom prst="roundRect">
            <a:avLst/>
          </a:prstGeom>
          <a:solidFill>
            <a:srgbClr val="FEF4EB"/>
          </a:solidFill>
          <a:ln w="8890">
            <a:solidFill>
              <a:srgbClr val="E8C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7973568" y="4553712"/>
            <a:ext cx="3246120" cy="118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840" b="1">
                <a:solidFill>
                  <a:srgbClr val="12263F"/>
                </a:solidFill>
                <a:latin typeface="Malgun Gothic"/>
              </a:rPr>
              <a:t>Granularity Rule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028431" y="4754880"/>
            <a:ext cx="3154680" cy="40233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spcAft>
                <a:spcPts val="120"/>
              </a:spcAft>
            </a:pPr>
            <a:r>
              <a:rPr sz="635" b="0">
                <a:solidFill>
                  <a:srgbClr val="303F54"/>
                </a:solidFill>
                <a:latin typeface="Malgun Gothic"/>
              </a:rPr>
              <a:t>• 기준 Feature는 L2 Vehicle/System Feature</a:t>
            </a:r>
          </a:p>
          <a:p>
            <a:pPr>
              <a:spcAft>
                <a:spcPts val="120"/>
              </a:spcAft>
            </a:pPr>
            <a:r>
              <a:rPr sz="635" b="0">
                <a:solidFill>
                  <a:srgbClr val="303F54"/>
                </a:solidFill>
                <a:latin typeface="Malgun Gothic"/>
              </a:rPr>
              <a:t>• L3 Software Feature는 구현/협력사 단위로 연결</a:t>
            </a:r>
          </a:p>
          <a:p>
            <a:pPr>
              <a:spcAft>
                <a:spcPts val="120"/>
              </a:spcAft>
            </a:pPr>
            <a:r>
              <a:rPr sz="635" b="0">
                <a:solidFill>
                  <a:srgbClr val="303F54"/>
                </a:solidFill>
                <a:latin typeface="Malgun Gothic"/>
              </a:rPr>
              <a:t>• L4 Flag/Parameter는 Control Point로만 관리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640080" y="5577840"/>
            <a:ext cx="10927080" cy="402336"/>
          </a:xfrm>
          <a:prstGeom prst="roundRect">
            <a:avLst/>
          </a:prstGeom>
          <a:solidFill>
            <a:srgbClr val="F7FAFD"/>
          </a:solidFill>
          <a:ln w="889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841248" y="5687568"/>
            <a:ext cx="2103120" cy="1005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750" b="1">
                <a:solidFill>
                  <a:srgbClr val="12263F"/>
                </a:solidFill>
                <a:latin typeface="Malgun Gothic"/>
              </a:rPr>
              <a:t>등록 산출물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3154680" y="5632704"/>
            <a:ext cx="1490472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3191256" y="5687568"/>
            <a:ext cx="1417319" cy="731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590" b="1">
                <a:solidFill>
                  <a:srgbClr val="005D52"/>
                </a:solidFill>
                <a:latin typeface="Malgun Gothic"/>
              </a:rPr>
              <a:t>Feature Master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191256" y="5806440"/>
            <a:ext cx="1417319" cy="640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525" b="0">
                <a:solidFill>
                  <a:srgbClr val="59687C"/>
                </a:solidFill>
                <a:latin typeface="Malgun Gothic"/>
              </a:rPr>
              <a:t>ID·Name·Level·Owner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4773168" y="5632704"/>
            <a:ext cx="1490472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4809744" y="5687568"/>
            <a:ext cx="1417319" cy="731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590" b="1">
                <a:solidFill>
                  <a:srgbClr val="005D52"/>
                </a:solidFill>
                <a:latin typeface="Malgun Gothic"/>
              </a:rPr>
              <a:t>Trace Link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809744" y="5806440"/>
            <a:ext cx="1417319" cy="640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525" b="0">
                <a:solidFill>
                  <a:srgbClr val="59687C"/>
                </a:solidFill>
                <a:latin typeface="Malgun Gothic"/>
              </a:rPr>
              <a:t>Req·SWC·API·Test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6391656" y="5632704"/>
            <a:ext cx="1490472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6428232" y="5687568"/>
            <a:ext cx="1417319" cy="731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590" b="1">
                <a:solidFill>
                  <a:srgbClr val="005D52"/>
                </a:solidFill>
                <a:latin typeface="Malgun Gothic"/>
              </a:rPr>
              <a:t>BOM Anchor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428232" y="5806440"/>
            <a:ext cx="1417319" cy="640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525" b="0">
                <a:solidFill>
                  <a:srgbClr val="59687C"/>
                </a:solidFill>
                <a:latin typeface="Malgun Gothic"/>
              </a:rPr>
              <a:t>하위 Artifact 귀속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8010144" y="5632704"/>
            <a:ext cx="1490472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046720" y="5687568"/>
            <a:ext cx="1417319" cy="731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590" b="1">
                <a:solidFill>
                  <a:srgbClr val="005D52"/>
                </a:solidFill>
                <a:latin typeface="Malgun Gothic"/>
              </a:rPr>
              <a:t>Lifecycle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046720" y="5806440"/>
            <a:ext cx="1417319" cy="640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525" b="0">
                <a:solidFill>
                  <a:srgbClr val="59687C"/>
                </a:solidFill>
                <a:latin typeface="Malgun Gothic"/>
              </a:rPr>
              <a:t>Proposed→Approved→Released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9628632" y="5632704"/>
            <a:ext cx="1490472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9665208" y="5687568"/>
            <a:ext cx="1417319" cy="731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590" b="1">
                <a:solidFill>
                  <a:srgbClr val="005D52"/>
                </a:solidFill>
                <a:latin typeface="Malgun Gothic"/>
              </a:rPr>
              <a:t>Decision Context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665208" y="5806440"/>
            <a:ext cx="1417319" cy="640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525" b="0">
                <a:solidFill>
                  <a:srgbClr val="59687C"/>
                </a:solidFill>
                <a:latin typeface="Malgun Gothic"/>
              </a:rPr>
              <a:t>Variant·Control·Ops 조건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640080" y="6126480"/>
            <a:ext cx="10927080" cy="329184"/>
          </a:xfrm>
          <a:prstGeom prst="roundRect">
            <a:avLst/>
          </a:prstGeom>
          <a:solidFill>
            <a:srgbClr val="E6F8F4"/>
          </a:solidFill>
          <a:ln w="10160">
            <a:solidFill>
              <a:srgbClr val="94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41248" y="6227064"/>
            <a:ext cx="10515600" cy="822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740" b="1">
                <a:solidFill>
                  <a:srgbClr val="005D52"/>
                </a:solidFill>
                <a:latin typeface="Malgun Gothic"/>
              </a:rPr>
              <a:t>핵심: Feature는 운영·검증·배포·책임을 독립 관리하는 기준 단위이며, Flag/Parameter/Signal은 Feature가 아니라 Feature BOM의 하위 Artifact이다.</a:t>
            </a:r>
          </a:p>
        </p:txBody>
      </p:sp>
      <p:sp>
        <p:nvSpPr>
          <p:cNvPr id="159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ISO/IEC/IEEE 29148:2018; OMG SysML 2.0; OpenFeature Spec; Mutuus Lab Feature Topology 정의.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4048" y="237744"/>
            <a:ext cx="566928" cy="256032"/>
          </a:xfrm>
          <a:prstGeom prst="roundRect">
            <a:avLst/>
          </a:prstGeom>
          <a:solidFill>
            <a:srgbClr val="E7F8F5"/>
          </a:solidFill>
          <a:ln w="8890">
            <a:solidFill>
              <a:srgbClr val="66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3716" bIns="13716"/>
          <a:lstStyle/>
          <a:p>
            <a:pPr algn="ctr"/>
            <a:r>
              <a:rPr sz="580" b="1">
                <a:solidFill>
                  <a:srgbClr val="00806F"/>
                </a:solidFill>
                <a:latin typeface="Noto Sans CJK KR"/>
              </a:rPr>
              <a:t>02-2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0704" y="164592"/>
            <a:ext cx="70866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2050" b="1">
                <a:solidFill>
                  <a:srgbClr val="12243B"/>
                </a:solidFill>
                <a:latin typeface="Noto Sans CJK KR"/>
              </a:rPr>
              <a:t>Feature Taxonomy — L0~L5 계층·경계·ID 규칙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0704" y="585216"/>
            <a:ext cx="98755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850" b="0">
                <a:solidFill>
                  <a:srgbClr val="526279"/>
                </a:solidFill>
                <a:latin typeface="Noto Sans CJK KR"/>
              </a:rPr>
              <a:t>Taxonomy는 Feature ID의 의미·소유·검증·배포 경계를 고정하여 Topology Graph의 Parent/Child와 영향도 분석 단위를 일관되게 만든다.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932688"/>
            <a:ext cx="10607040" cy="9144"/>
          </a:xfrm>
          <a:prstGeom prst="rect">
            <a:avLst/>
          </a:prstGeom>
          <a:solidFill>
            <a:srgbClr val="DE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124712"/>
            <a:ext cx="443484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000" b="1">
                <a:solidFill>
                  <a:srgbClr val="12243B"/>
                </a:solidFill>
                <a:latin typeface="Noto Sans CJK KR"/>
              </a:rPr>
              <a:t>Taxonomy Level 설계 — 관리 목적과 연결 기준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53312"/>
            <a:ext cx="443484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620" b="0">
                <a:solidFill>
                  <a:srgbClr val="526279"/>
                </a:solidFill>
                <a:latin typeface="Noto Sans CJK KR"/>
              </a:rPr>
              <a:t>L2를 기준 Feature로 삼고, L0/L1은 분류, L3~L5는 실현·제어·구현 상세로 연결한다.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9344"/>
          <a:ext cx="4434838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180"/>
                <a:gridCol w="1596542"/>
                <a:gridCol w="1153058"/>
                <a:gridCol w="1153058"/>
              </a:tblGrid>
              <a:tr h="411480">
                <a:tc>
                  <a:txBody>
                    <a:bodyPr anchor="ctr"/>
                    <a:lstStyle/>
                    <a:p>
                      <a:pPr algn="ctr"/>
                      <a:r>
                        <a:rPr sz="605" b="1">
                          <a:solidFill>
                            <a:srgbClr val="12243B"/>
                          </a:solidFill>
                          <a:latin typeface="Noto Sans CJK KR"/>
                        </a:rPr>
                        <a:t>Level</a:t>
                      </a:r>
                    </a:p>
                  </a:txBody>
                  <a:tcPr marL="32004" marR="32004" marT="20116" marB="20116">
                    <a:solidFill>
                      <a:srgbClr val="EDF4FC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605" b="1">
                          <a:solidFill>
                            <a:srgbClr val="12243B"/>
                          </a:solidFill>
                          <a:latin typeface="Noto Sans CJK KR"/>
                        </a:rPr>
                        <a:t>관리 목적</a:t>
                      </a:r>
                    </a:p>
                  </a:txBody>
                  <a:tcPr marL="32004" marR="32004" marT="20116" marB="20116">
                    <a:solidFill>
                      <a:srgbClr val="EDF4FC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605" b="1">
                          <a:solidFill>
                            <a:srgbClr val="12243B"/>
                          </a:solidFill>
                          <a:latin typeface="Noto Sans CJK KR"/>
                        </a:rPr>
                        <a:t>Registry Object</a:t>
                      </a:r>
                    </a:p>
                  </a:txBody>
                  <a:tcPr marL="32004" marR="32004" marT="20116" marB="20116">
                    <a:solidFill>
                      <a:srgbClr val="EDF4FC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605" b="1">
                          <a:solidFill>
                            <a:srgbClr val="12243B"/>
                          </a:solidFill>
                          <a:latin typeface="Noto Sans CJK KR"/>
                        </a:rPr>
                        <a:t>필수 연결</a:t>
                      </a:r>
                    </a:p>
                  </a:txBody>
                  <a:tcPr marL="32004" marR="32004" marT="20116" marB="20116">
                    <a:solidFill>
                      <a:srgbClr val="EDF4FC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</a:tr>
              <a:tr h="411480">
                <a:tc>
                  <a:txBody>
                    <a:bodyPr anchor="ctr"/>
                    <a:lstStyle/>
                    <a:p>
                      <a:pPr algn="ctr"/>
                      <a:r>
                        <a:rPr sz="555" b="1">
                          <a:solidFill>
                            <a:srgbClr val="002A6F"/>
                          </a:solidFill>
                          <a:latin typeface="Noto Sans CJK KR"/>
                        </a:rPr>
                        <a:t>L0</a:t>
                      </a:r>
                    </a:p>
                  </a:txBody>
                  <a:tcPr marL="32004" marR="32004" marT="20116" marB="20116">
                    <a:solidFill>
                      <a:srgbClr val="FAFCFD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55" b="0">
                          <a:solidFill>
                            <a:srgbClr val="526279"/>
                          </a:solidFill>
                          <a:latin typeface="Noto Sans CJK KR"/>
                        </a:rPr>
                        <a:t>Domain / Capability
기능 그룹·전략 영역</a:t>
                      </a:r>
                    </a:p>
                  </a:txBody>
                  <a:tcPr marL="32004" marR="32004" marT="20116" marB="20116">
                    <a:solidFill>
                      <a:srgbClr val="FAFCFD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55" b="0">
                          <a:solidFill>
                            <a:srgbClr val="526279"/>
                          </a:solidFill>
                          <a:latin typeface="Noto Sans CJK KR"/>
                        </a:rPr>
                        <a:t>TaxonomyNode</a:t>
                      </a:r>
                    </a:p>
                  </a:txBody>
                  <a:tcPr marL="32004" marR="32004" marT="20116" marB="20116">
                    <a:solidFill>
                      <a:srgbClr val="FAFCFD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55" b="0">
                          <a:solidFill>
                            <a:srgbClr val="526279"/>
                          </a:solidFill>
                          <a:latin typeface="Noto Sans CJK KR"/>
                        </a:rPr>
                        <a:t>L1 child</a:t>
                      </a:r>
                    </a:p>
                  </a:txBody>
                  <a:tcPr marL="32004" marR="32004" marT="20116" marB="20116">
                    <a:solidFill>
                      <a:srgbClr val="FAFCFD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</a:tr>
              <a:tr h="411480">
                <a:tc>
                  <a:txBody>
                    <a:bodyPr anchor="ctr"/>
                    <a:lstStyle/>
                    <a:p>
                      <a:pPr algn="ctr"/>
                      <a:r>
                        <a:rPr sz="555" b="1">
                          <a:solidFill>
                            <a:srgbClr val="002A6F"/>
                          </a:solidFill>
                          <a:latin typeface="Noto Sans CJK KR"/>
                        </a:rPr>
                        <a:t>L1</a:t>
                      </a:r>
                    </a:p>
                  </a:txBody>
                  <a:tcPr marL="32004" marR="32004" marT="20116" marB="20116">
                    <a:solidFill>
                      <a:srgbClr val="F4F8FB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55" b="0">
                          <a:solidFill>
                            <a:srgbClr val="526279"/>
                          </a:solidFill>
                          <a:latin typeface="Noto Sans CJK KR"/>
                        </a:rPr>
                        <a:t>Customer / Business Feature
상품·고객 가치</a:t>
                      </a:r>
                    </a:p>
                  </a:txBody>
                  <a:tcPr marL="32004" marR="32004" marT="20116" marB="20116">
                    <a:solidFill>
                      <a:srgbClr val="F4F8FB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55" b="0">
                          <a:solidFill>
                            <a:srgbClr val="526279"/>
                          </a:solidFill>
                          <a:latin typeface="Noto Sans CJK KR"/>
                        </a:rPr>
                        <a:t>Feature Cluster</a:t>
                      </a:r>
                    </a:p>
                  </a:txBody>
                  <a:tcPr marL="32004" marR="32004" marT="20116" marB="20116">
                    <a:solidFill>
                      <a:srgbClr val="F4F8FB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55" b="0">
                          <a:solidFill>
                            <a:srgbClr val="526279"/>
                          </a:solidFill>
                          <a:latin typeface="Noto Sans CJK KR"/>
                        </a:rPr>
                        <a:t>L2 child</a:t>
                      </a:r>
                    </a:p>
                  </a:txBody>
                  <a:tcPr marL="32004" marR="32004" marT="20116" marB="20116">
                    <a:solidFill>
                      <a:srgbClr val="F4F8FB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</a:tr>
              <a:tr h="411480">
                <a:tc>
                  <a:txBody>
                    <a:bodyPr anchor="ctr"/>
                    <a:lstStyle/>
                    <a:p>
                      <a:pPr algn="ctr"/>
                      <a:r>
                        <a:rPr sz="555" b="1">
                          <a:solidFill>
                            <a:srgbClr val="FFFFFF"/>
                          </a:solidFill>
                          <a:latin typeface="Noto Sans CJK KR"/>
                        </a:rPr>
                        <a:t>L2</a:t>
                      </a:r>
                    </a:p>
                  </a:txBody>
                  <a:tcPr marL="32004" marR="32004" marT="20116" marB="20116">
                    <a:solidFill>
                      <a:srgbClr val="002A6F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55" b="0">
                          <a:solidFill>
                            <a:srgbClr val="FFFFFF"/>
                          </a:solidFill>
                          <a:latin typeface="Noto Sans CJK KR"/>
                        </a:rPr>
                        <a:t>Vehicle / System Feature
차량 동작·시스템 요구사항 기준</a:t>
                      </a:r>
                    </a:p>
                  </a:txBody>
                  <a:tcPr marL="32004" marR="32004" marT="20116" marB="20116">
                    <a:solidFill>
                      <a:srgbClr val="002A6F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55" b="0">
                          <a:solidFill>
                            <a:srgbClr val="FFFFFF"/>
                          </a:solidFill>
                          <a:latin typeface="Noto Sans CJK KR"/>
                        </a:rPr>
                        <a:t>Feature Master</a:t>
                      </a:r>
                    </a:p>
                  </a:txBody>
                  <a:tcPr marL="32004" marR="32004" marT="20116" marB="20116">
                    <a:solidFill>
                      <a:srgbClr val="002A6F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55" b="0">
                          <a:solidFill>
                            <a:srgbClr val="FFFFFF"/>
                          </a:solidFill>
                          <a:latin typeface="Noto Sans CJK KR"/>
                        </a:rPr>
                        <a:t>Requirement · Variant · Test</a:t>
                      </a:r>
                    </a:p>
                  </a:txBody>
                  <a:tcPr marL="32004" marR="32004" marT="20116" marB="20116">
                    <a:solidFill>
                      <a:srgbClr val="002A6F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</a:tr>
              <a:tr h="411480">
                <a:tc>
                  <a:txBody>
                    <a:bodyPr anchor="ctr"/>
                    <a:lstStyle/>
                    <a:p>
                      <a:pPr algn="ctr"/>
                      <a:r>
                        <a:rPr sz="555" b="1">
                          <a:solidFill>
                            <a:srgbClr val="002A6F"/>
                          </a:solidFill>
                          <a:latin typeface="Noto Sans CJK KR"/>
                        </a:rPr>
                        <a:t>L3</a:t>
                      </a:r>
                    </a:p>
                  </a:txBody>
                  <a:tcPr marL="32004" marR="32004" marT="20116" marB="20116">
                    <a:solidFill>
                      <a:srgbClr val="F4F8FB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55" b="0">
                          <a:solidFill>
                            <a:srgbClr val="526279"/>
                          </a:solidFill>
                          <a:latin typeface="Noto Sans CJK KR"/>
                        </a:rPr>
                        <a:t>Software Feature
SW 구현·협력사 개발 단위</a:t>
                      </a:r>
                    </a:p>
                  </a:txBody>
                  <a:tcPr marL="32004" marR="32004" marT="20116" marB="20116">
                    <a:solidFill>
                      <a:srgbClr val="F4F8FB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55" b="0">
                          <a:solidFill>
                            <a:srgbClr val="526279"/>
                          </a:solidFill>
                          <a:latin typeface="Noto Sans CJK KR"/>
                        </a:rPr>
                        <a:t>Feature / Supplier Function</a:t>
                      </a:r>
                    </a:p>
                  </a:txBody>
                  <a:tcPr marL="32004" marR="32004" marT="20116" marB="20116">
                    <a:solidFill>
                      <a:srgbClr val="F4F8FB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55" b="0">
                          <a:solidFill>
                            <a:srgbClr val="526279"/>
                          </a:solidFill>
                          <a:latin typeface="Noto Sans CJK KR"/>
                        </a:rPr>
                        <a:t>SWC · ECU · Supplier</a:t>
                      </a:r>
                    </a:p>
                  </a:txBody>
                  <a:tcPr marL="32004" marR="32004" marT="20116" marB="20116">
                    <a:solidFill>
                      <a:srgbClr val="F4F8FB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</a:tr>
              <a:tr h="411480">
                <a:tc>
                  <a:txBody>
                    <a:bodyPr anchor="ctr"/>
                    <a:lstStyle/>
                    <a:p>
                      <a:pPr algn="ctr"/>
                      <a:r>
                        <a:rPr sz="555" b="1">
                          <a:solidFill>
                            <a:srgbClr val="002A6F"/>
                          </a:solidFill>
                          <a:latin typeface="Noto Sans CJK KR"/>
                        </a:rPr>
                        <a:t>L4</a:t>
                      </a:r>
                    </a:p>
                  </a:txBody>
                  <a:tcPr marL="32004" marR="32004" marT="20116" marB="20116">
                    <a:solidFill>
                      <a:srgbClr val="FAFCFD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55" b="0">
                          <a:solidFill>
                            <a:srgbClr val="526279"/>
                          </a:solidFill>
                          <a:latin typeface="Noto Sans CJK KR"/>
                        </a:rPr>
                        <a:t>Policy / Flag / Parameter
Feature 제어 수단</a:t>
                      </a:r>
                    </a:p>
                  </a:txBody>
                  <a:tcPr marL="32004" marR="32004" marT="20116" marB="20116">
                    <a:solidFill>
                      <a:srgbClr val="FAFCFD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55" b="0">
                          <a:solidFill>
                            <a:srgbClr val="526279"/>
                          </a:solidFill>
                          <a:latin typeface="Noto Sans CJK KR"/>
                        </a:rPr>
                        <a:t>ControlPoint</a:t>
                      </a:r>
                    </a:p>
                  </a:txBody>
                  <a:tcPr marL="32004" marR="32004" marT="20116" marB="20116">
                    <a:solidFill>
                      <a:srgbClr val="FAFCFD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55" b="0">
                          <a:solidFill>
                            <a:srgbClr val="526279"/>
                          </a:solidFill>
                          <a:latin typeface="Noto Sans CJK KR"/>
                        </a:rPr>
                        <a:t>Policy · Safe Default</a:t>
                      </a:r>
                    </a:p>
                  </a:txBody>
                  <a:tcPr marL="32004" marR="32004" marT="20116" marB="20116">
                    <a:solidFill>
                      <a:srgbClr val="FAFCFD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</a:tr>
              <a:tr h="411480">
                <a:tc>
                  <a:txBody>
                    <a:bodyPr anchor="ctr"/>
                    <a:lstStyle/>
                    <a:p>
                      <a:pPr algn="ctr"/>
                      <a:r>
                        <a:rPr sz="555" b="1">
                          <a:solidFill>
                            <a:srgbClr val="002A6F"/>
                          </a:solidFill>
                          <a:latin typeface="Noto Sans CJK KR"/>
                        </a:rPr>
                        <a:t>L5</a:t>
                      </a:r>
                    </a:p>
                  </a:txBody>
                  <a:tcPr marL="32004" marR="32004" marT="20116" marB="20116">
                    <a:solidFill>
                      <a:srgbClr val="F4F8FB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55" b="0">
                          <a:solidFill>
                            <a:srgbClr val="526279"/>
                          </a:solidFill>
                          <a:latin typeface="Noto Sans CJK KR"/>
                        </a:rPr>
                        <a:t>Code / Signal / Internal Logic
구현 상세·I/F 원소</a:t>
                      </a:r>
                    </a:p>
                  </a:txBody>
                  <a:tcPr marL="32004" marR="32004" marT="20116" marB="20116">
                    <a:solidFill>
                      <a:srgbClr val="F4F8FB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55" b="0">
                          <a:solidFill>
                            <a:srgbClr val="526279"/>
                          </a:solidFill>
                          <a:latin typeface="Noto Sans CJK KR"/>
                        </a:rPr>
                        <a:t>Implementation Item</a:t>
                      </a:r>
                    </a:p>
                  </a:txBody>
                  <a:tcPr marL="32004" marR="32004" marT="20116" marB="20116">
                    <a:solidFill>
                      <a:srgbClr val="F4F8FB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55" b="0">
                          <a:solidFill>
                            <a:srgbClr val="526279"/>
                          </a:solidFill>
                          <a:latin typeface="Noto Sans CJK KR"/>
                        </a:rPr>
                        <a:t>API · Signal · DTC</a:t>
                      </a:r>
                    </a:p>
                  </a:txBody>
                  <a:tcPr marL="32004" marR="32004" marT="20116" marB="20116">
                    <a:solidFill>
                      <a:srgbClr val="F4F8FB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303520" y="1124712"/>
            <a:ext cx="288036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000" b="1">
                <a:solidFill>
                  <a:srgbClr val="12243B"/>
                </a:solidFill>
                <a:latin typeface="Noto Sans CJK KR"/>
              </a:rPr>
              <a:t>Body Comfort 예시 — Level 경계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353312"/>
            <a:ext cx="288036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620" b="0">
                <a:solidFill>
                  <a:srgbClr val="526279"/>
                </a:solidFill>
                <a:latin typeface="Noto Sans CJK KR"/>
              </a:rPr>
              <a:t>같은 기능을 고객 가치, 차량 동작, SW 구현, 제어 수단으로 분리한다.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21808" y="1627632"/>
            <a:ext cx="2834640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27432" bIns="2743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04104" y="1737360"/>
            <a:ext cx="292608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30" b="1">
                <a:solidFill>
                  <a:srgbClr val="002A6F"/>
                </a:solidFill>
                <a:latin typeface="Noto Sans CJK KR"/>
              </a:rPr>
              <a:t>L0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24728" y="1700784"/>
            <a:ext cx="22402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>
              <a:spcAft>
                <a:spcPts val="120"/>
              </a:spcAft>
            </a:pPr>
            <a:r>
              <a:rPr sz="760" b="1">
                <a:solidFill>
                  <a:srgbClr val="12243B"/>
                </a:solidFill>
                <a:latin typeface="Noto Sans CJK KR"/>
              </a:rPr>
              <a:t>Body Comfort</a:t>
            </a:r>
          </a:p>
          <a:p>
            <a:pPr>
              <a:spcAft>
                <a:spcPts val="120"/>
              </a:spcAft>
            </a:pPr>
            <a:r>
              <a:rPr sz="570" b="0">
                <a:solidFill>
                  <a:srgbClr val="526279"/>
                </a:solidFill>
                <a:latin typeface="Noto Sans CJK KR"/>
              </a:rPr>
              <a:t>Domain / Capability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32704" y="2029968"/>
            <a:ext cx="10972" cy="82296"/>
          </a:xfrm>
          <a:prstGeom prst="rect">
            <a:avLst/>
          </a:prstGeom>
          <a:solidFill>
            <a:srgbClr val="CD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21808" y="2121408"/>
            <a:ext cx="2834640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27432" bIns="2743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04104" y="2231136"/>
            <a:ext cx="292608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30" b="1">
                <a:solidFill>
                  <a:srgbClr val="002A6F"/>
                </a:solidFill>
                <a:latin typeface="Noto Sans CJK KR"/>
              </a:rPr>
              <a:t>L1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24728" y="2194560"/>
            <a:ext cx="22402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>
              <a:spcAft>
                <a:spcPts val="120"/>
              </a:spcAft>
            </a:pPr>
            <a:r>
              <a:rPr sz="760" b="1">
                <a:solidFill>
                  <a:srgbClr val="12243B"/>
                </a:solidFill>
                <a:latin typeface="Noto Sans CJK KR"/>
              </a:rPr>
              <a:t>Remote Door Lock</a:t>
            </a:r>
          </a:p>
          <a:p>
            <a:pPr>
              <a:spcAft>
                <a:spcPts val="120"/>
              </a:spcAft>
            </a:pPr>
            <a:r>
              <a:rPr sz="570" b="0">
                <a:solidFill>
                  <a:srgbClr val="526279"/>
                </a:solidFill>
                <a:latin typeface="Noto Sans CJK KR"/>
              </a:rPr>
              <a:t>Customer / Business Feature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32704" y="2523744"/>
            <a:ext cx="10972" cy="82296"/>
          </a:xfrm>
          <a:prstGeom prst="rect">
            <a:avLst/>
          </a:prstGeom>
          <a:solidFill>
            <a:srgbClr val="CD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21808" y="2615184"/>
            <a:ext cx="2834640" cy="521207"/>
          </a:xfrm>
          <a:prstGeom prst="rect">
            <a:avLst/>
          </a:prstGeom>
          <a:solidFill>
            <a:srgbClr val="002A6F"/>
          </a:solidFill>
          <a:ln w="8890">
            <a:solidFill>
              <a:srgbClr val="002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27432" bIns="2743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04104" y="2724912"/>
            <a:ext cx="292608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30" b="1">
                <a:solidFill>
                  <a:srgbClr val="FFFFFF"/>
                </a:solidFill>
                <a:latin typeface="Noto Sans CJK KR"/>
              </a:rPr>
              <a:t>L2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24728" y="2688336"/>
            <a:ext cx="2240280" cy="4297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>
              <a:spcAft>
                <a:spcPts val="120"/>
              </a:spcAft>
            </a:pPr>
            <a:r>
              <a:rPr sz="760" b="1">
                <a:solidFill>
                  <a:srgbClr val="FFFFFF"/>
                </a:solidFill>
                <a:latin typeface="Noto Sans CJK KR"/>
              </a:rPr>
              <a:t>Remote Door Lock
Command Execution</a:t>
            </a:r>
          </a:p>
          <a:p>
            <a:pPr>
              <a:spcAft>
                <a:spcPts val="120"/>
              </a:spcAft>
            </a:pPr>
            <a:r>
              <a:rPr sz="570" b="0">
                <a:solidFill>
                  <a:srgbClr val="DCE8FA"/>
                </a:solidFill>
                <a:latin typeface="Noto Sans CJK KR"/>
              </a:rPr>
              <a:t>Vehicle / System Feature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32704" y="3127248"/>
            <a:ext cx="10972" cy="82296"/>
          </a:xfrm>
          <a:prstGeom prst="rect">
            <a:avLst/>
          </a:prstGeom>
          <a:solidFill>
            <a:srgbClr val="CD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21808" y="3218688"/>
            <a:ext cx="2834640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27432" bIns="27432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04104" y="3328416"/>
            <a:ext cx="292608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30" b="1">
                <a:solidFill>
                  <a:srgbClr val="002A6F"/>
                </a:solidFill>
                <a:latin typeface="Noto Sans CJK KR"/>
              </a:rPr>
              <a:t>L3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24728" y="3291840"/>
            <a:ext cx="22402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>
              <a:spcAft>
                <a:spcPts val="120"/>
              </a:spcAft>
            </a:pPr>
            <a:r>
              <a:rPr sz="760" b="1">
                <a:solidFill>
                  <a:srgbClr val="12243B"/>
                </a:solidFill>
                <a:latin typeface="Noto Sans CJK KR"/>
              </a:rPr>
              <a:t>BDC Door Lock
Policy Control</a:t>
            </a:r>
          </a:p>
          <a:p>
            <a:pPr>
              <a:spcAft>
                <a:spcPts val="120"/>
              </a:spcAft>
            </a:pPr>
            <a:r>
              <a:rPr sz="570" b="0">
                <a:solidFill>
                  <a:srgbClr val="526279"/>
                </a:solidFill>
                <a:latin typeface="Noto Sans CJK KR"/>
              </a:rPr>
              <a:t>Software Feature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32704" y="3621024"/>
            <a:ext cx="10972" cy="82296"/>
          </a:xfrm>
          <a:prstGeom prst="rect">
            <a:avLst/>
          </a:prstGeom>
          <a:solidFill>
            <a:srgbClr val="CD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21808" y="3712464"/>
            <a:ext cx="2834640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27432" bIns="27432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04104" y="3822192"/>
            <a:ext cx="292608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30" b="1">
                <a:solidFill>
                  <a:srgbClr val="002A6F"/>
                </a:solidFill>
                <a:latin typeface="Noto Sans CJK KR"/>
              </a:rPr>
              <a:t>L4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24728" y="3785616"/>
            <a:ext cx="22402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>
              <a:spcAft>
                <a:spcPts val="120"/>
              </a:spcAft>
            </a:pPr>
            <a:r>
              <a:rPr sz="760" b="1">
                <a:solidFill>
                  <a:srgbClr val="12243B"/>
                </a:solidFill>
                <a:latin typeface="Noto Sans CJK KR"/>
              </a:rPr>
              <a:t>bdc.door_lock
.remote_enable</a:t>
            </a:r>
          </a:p>
          <a:p>
            <a:pPr>
              <a:spcAft>
                <a:spcPts val="120"/>
              </a:spcAft>
            </a:pPr>
            <a:r>
              <a:rPr sz="570" b="0">
                <a:solidFill>
                  <a:srgbClr val="526279"/>
                </a:solidFill>
                <a:latin typeface="Noto Sans CJK KR"/>
              </a:rPr>
              <a:t>Policy / Flag / Parameter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32704" y="4114800"/>
            <a:ext cx="10972" cy="82296"/>
          </a:xfrm>
          <a:prstGeom prst="rect">
            <a:avLst/>
          </a:prstGeom>
          <a:solidFill>
            <a:srgbClr val="CD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21808" y="4206240"/>
            <a:ext cx="2834640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27432" bIns="27432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04104" y="4315968"/>
            <a:ext cx="292608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30" b="1">
                <a:solidFill>
                  <a:srgbClr val="002A6F"/>
                </a:solidFill>
                <a:latin typeface="Noto Sans CJK KR"/>
              </a:rPr>
              <a:t>L5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24728" y="4279392"/>
            <a:ext cx="22402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>
              <a:spcAft>
                <a:spcPts val="120"/>
              </a:spcAft>
            </a:pPr>
            <a:r>
              <a:rPr sz="760" b="1">
                <a:solidFill>
                  <a:srgbClr val="12243B"/>
                </a:solidFill>
                <a:latin typeface="Noto Sans CJK KR"/>
              </a:rPr>
              <a:t>DoorLockState</a:t>
            </a:r>
          </a:p>
          <a:p>
            <a:pPr>
              <a:spcAft>
                <a:spcPts val="120"/>
              </a:spcAft>
            </a:pPr>
            <a:r>
              <a:rPr sz="570" b="0">
                <a:solidFill>
                  <a:srgbClr val="526279"/>
                </a:solidFill>
                <a:latin typeface="Noto Sans CJK KR"/>
              </a:rPr>
              <a:t>Code / Signal / Logic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21808" y="5193792"/>
            <a:ext cx="2834640" cy="292608"/>
          </a:xfrm>
          <a:prstGeom prst="roundRect">
            <a:avLst/>
          </a:prstGeom>
          <a:solidFill>
            <a:srgbClr val="EDF4FC"/>
          </a:solidFill>
          <a:ln w="8890">
            <a:solidFill>
              <a:srgbClr val="A8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0574" bIns="20574"/>
          <a:lstStyle/>
          <a:p>
            <a:pPr algn="ctr"/>
            <a:r>
              <a:rPr sz="640" b="1">
                <a:solidFill>
                  <a:srgbClr val="002A6F"/>
                </a:solidFill>
                <a:latin typeface="Noto Sans CJK KR"/>
              </a:rPr>
              <a:t>기준 Feature = L2 Vehicle/System Feature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80" y="1124712"/>
            <a:ext cx="306324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000" b="1">
                <a:solidFill>
                  <a:srgbClr val="12243B"/>
                </a:solidFill>
                <a:latin typeface="Noto Sans CJK KR"/>
              </a:rPr>
              <a:t>Boundary &amp; Governance Rules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1353312"/>
            <a:ext cx="306324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620" b="0">
                <a:solidFill>
                  <a:srgbClr val="526279"/>
                </a:solidFill>
                <a:latin typeface="Noto Sans CJK KR"/>
              </a:rPr>
              <a:t>Taxonomy는 “무엇을 배포·검증·운영 단위로 볼 것인가”를 통제한다.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12480" y="1618488"/>
            <a:ext cx="3063240" cy="1133856"/>
          </a:xfrm>
          <a:prstGeom prst="roundRect">
            <a:avLst/>
          </a:prstGeom>
          <a:solidFill>
            <a:srgbClr val="F7F3FC"/>
          </a:solidFill>
          <a:ln w="8890">
            <a:solidFill>
              <a:srgbClr val="C5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48006" bIns="48006"/>
          <a:lstStyle/>
          <a:p>
            <a:pPr algn="ctr">
              <a:spcAft>
                <a:spcPts val="120"/>
              </a:spcAft>
            </a:pPr>
            <a:r>
              <a:rPr sz="700" b="1">
                <a:solidFill>
                  <a:srgbClr val="12243B"/>
                </a:solidFill>
                <a:latin typeface="Noto Sans CJK KR"/>
              </a:rPr>
              <a:t>Level Boundary</a:t>
            </a:r>
          </a:p>
          <a:p>
            <a:pPr>
              <a:spcAft>
                <a:spcPts val="120"/>
              </a:spcAft>
            </a:pPr>
            <a:r>
              <a:rPr sz="580" b="0">
                <a:solidFill>
                  <a:srgbClr val="12243B"/>
                </a:solidFill>
                <a:latin typeface="Noto Sans CJK KR"/>
              </a:rPr>
              <a:t>• L0/L1: 분류·상품 가치, 직접 배포 대상 아님</a:t>
            </a:r>
          </a:p>
          <a:p>
            <a:pPr>
              <a:spcAft>
                <a:spcPts val="120"/>
              </a:spcAft>
            </a:pPr>
            <a:r>
              <a:rPr sz="580" b="0">
                <a:solidFill>
                  <a:srgbClr val="12243B"/>
                </a:solidFill>
                <a:latin typeface="Noto Sans CJK KR"/>
              </a:rPr>
              <a:t>• L2: 요구사항·검증·Variant·Gate의 기준 단위</a:t>
            </a:r>
          </a:p>
          <a:p>
            <a:pPr>
              <a:spcAft>
                <a:spcPts val="120"/>
              </a:spcAft>
            </a:pPr>
            <a:r>
              <a:rPr sz="580" b="0">
                <a:solidFill>
                  <a:srgbClr val="12243B"/>
                </a:solidFill>
                <a:latin typeface="Noto Sans CJK KR"/>
              </a:rPr>
              <a:t>• L3: 구현·협력사 책임 단위, L2와 trace 필요</a:t>
            </a:r>
          </a:p>
          <a:p>
            <a:pPr>
              <a:spcAft>
                <a:spcPts val="120"/>
              </a:spcAft>
            </a:pPr>
            <a:r>
              <a:rPr sz="580" b="0">
                <a:solidFill>
                  <a:srgbClr val="12243B"/>
                </a:solidFill>
                <a:latin typeface="Noto Sans CJK KR"/>
              </a:rPr>
              <a:t>• L4/L5: Control/Implementation Artifact, Feature 아님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12480" y="2852928"/>
            <a:ext cx="3063240" cy="896112"/>
          </a:xfrm>
          <a:prstGeom prst="roundRect">
            <a:avLst/>
          </a:prstGeom>
          <a:solidFill>
            <a:srgbClr val="FFF9E8"/>
          </a:solidFill>
          <a:ln w="8890">
            <a:solidFill>
              <a:srgbClr val="E5C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48006" bIns="48006"/>
          <a:lstStyle/>
          <a:p>
            <a:pPr algn="ctr">
              <a:spcAft>
                <a:spcPts val="120"/>
              </a:spcAft>
            </a:pPr>
            <a:r>
              <a:rPr sz="700" b="1">
                <a:solidFill>
                  <a:srgbClr val="12243B"/>
                </a:solidFill>
                <a:latin typeface="Noto Sans CJK KR"/>
              </a:rPr>
              <a:t>Naming / ID Rule</a:t>
            </a:r>
          </a:p>
          <a:p>
            <a:pPr>
              <a:spcAft>
                <a:spcPts val="120"/>
              </a:spcAft>
            </a:pPr>
            <a:r>
              <a:rPr sz="580" b="0">
                <a:solidFill>
                  <a:srgbClr val="12243B"/>
                </a:solidFill>
                <a:latin typeface="Noto Sans CJK KR"/>
              </a:rPr>
              <a:t>• L2 Feature ID: FEAT-{DOMAIN}-{NNN}</a:t>
            </a:r>
          </a:p>
          <a:p>
            <a:pPr>
              <a:spcAft>
                <a:spcPts val="120"/>
              </a:spcAft>
            </a:pPr>
            <a:r>
              <a:rPr sz="580" b="0">
                <a:solidFill>
                  <a:srgbClr val="12243B"/>
                </a:solidFill>
                <a:latin typeface="Noto Sans CJK KR"/>
              </a:rPr>
              <a:t>• L3 SW Feature: FEAT-{DOMAIN}-{SW}-{NNN}</a:t>
            </a:r>
          </a:p>
          <a:p>
            <a:pPr>
              <a:spcAft>
                <a:spcPts val="120"/>
              </a:spcAft>
            </a:pPr>
            <a:r>
              <a:rPr sz="580" b="0">
                <a:solidFill>
                  <a:srgbClr val="12243B"/>
                </a:solidFill>
                <a:latin typeface="Noto Sans CJK KR"/>
              </a:rPr>
              <a:t>• L4 Control Point: CP-{FEATURE}-{TYPE}</a:t>
            </a:r>
          </a:p>
          <a:p>
            <a:pPr>
              <a:spcAft>
                <a:spcPts val="120"/>
              </a:spcAft>
            </a:pPr>
            <a:r>
              <a:rPr sz="580" b="0">
                <a:solidFill>
                  <a:srgbClr val="12243B"/>
                </a:solidFill>
                <a:latin typeface="Noto Sans CJK KR"/>
              </a:rPr>
              <a:t>• Display Name은 고객/차량 관점, Internal Alias는 조직별 명칭 매핑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12480" y="3858768"/>
            <a:ext cx="3063240" cy="932688"/>
          </a:xfrm>
          <a:prstGeom prst="roundRect">
            <a:avLst/>
          </a:prstGeom>
          <a:solidFill>
            <a:srgbClr val="E7F8F5"/>
          </a:solidFill>
          <a:ln w="8890">
            <a:solidFill>
              <a:srgbClr val="6FC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48006" bIns="48006"/>
          <a:lstStyle/>
          <a:p>
            <a:pPr algn="ctr">
              <a:spcAft>
                <a:spcPts val="120"/>
              </a:spcAft>
            </a:pPr>
            <a:r>
              <a:rPr sz="700" b="1">
                <a:solidFill>
                  <a:srgbClr val="12243B"/>
                </a:solidFill>
                <a:latin typeface="Noto Sans CJK KR"/>
              </a:rPr>
              <a:t>Consistency Rules</a:t>
            </a:r>
          </a:p>
          <a:p>
            <a:pPr>
              <a:spcAft>
                <a:spcPts val="120"/>
              </a:spcAft>
            </a:pPr>
            <a:r>
              <a:rPr sz="560" b="0">
                <a:solidFill>
                  <a:srgbClr val="12243B"/>
                </a:solidFill>
                <a:latin typeface="Noto Sans CJK KR"/>
              </a:rPr>
              <a:t>T-001: L2 Feature는 Parent L1과 최소 1개 Requirement를 가져야 함</a:t>
            </a:r>
          </a:p>
          <a:p>
            <a:pPr>
              <a:spcAft>
                <a:spcPts val="120"/>
              </a:spcAft>
            </a:pPr>
            <a:r>
              <a:rPr sz="560" b="0">
                <a:solidFill>
                  <a:srgbClr val="12243B"/>
                </a:solidFill>
                <a:latin typeface="Noto Sans CJK KR"/>
              </a:rPr>
              <a:t>T-002: L4 Control Point는 반드시 L2/L3 Feature에 귀속되어야 함</a:t>
            </a:r>
          </a:p>
          <a:p>
            <a:pPr>
              <a:spcAft>
                <a:spcPts val="120"/>
              </a:spcAft>
            </a:pPr>
            <a:r>
              <a:rPr sz="560" b="0">
                <a:solidFill>
                  <a:srgbClr val="12243B"/>
                </a:solidFill>
                <a:latin typeface="Noto Sans CJK KR"/>
              </a:rPr>
              <a:t>T-003: L3 Feature는 SWC/ECU/Supplier 중 1개 이상과 연결</a:t>
            </a:r>
          </a:p>
          <a:p>
            <a:pPr>
              <a:spcAft>
                <a:spcPts val="120"/>
              </a:spcAft>
            </a:pPr>
            <a:r>
              <a:rPr sz="560" b="0">
                <a:solidFill>
                  <a:srgbClr val="12243B"/>
                </a:solidFill>
                <a:latin typeface="Noto Sans CJK KR"/>
              </a:rPr>
              <a:t>T-004: L0/L1은 DeploymentUnit으로 직접 연결 금지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791456"/>
            <a:ext cx="4434840" cy="75895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4290" bIns="34290"/>
          <a:lstStyle/>
          <a:p>
            <a:pPr algn="ctr"/>
            <a:r>
              <a:rPr sz="640" b="1">
                <a:solidFill>
                  <a:srgbClr val="12243B"/>
                </a:solidFill>
                <a:latin typeface="Noto Sans CJK KR"/>
              </a:rPr>
              <a:t>Taxonomy Registration Output
FeatureLevel, ParentFeatureID, FeatureType, DisplayName, InternalAlias, OwnerOrg, Lifecycle, LevelRuleStatus, TraceabilityRoot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03520" y="5550408"/>
            <a:ext cx="6172200" cy="329184"/>
          </a:xfrm>
          <a:prstGeom prst="roundRect">
            <a:avLst/>
          </a:prstGeom>
          <a:solidFill>
            <a:srgbClr val="E7F8F5"/>
          </a:solidFill>
          <a:ln w="8890">
            <a:solidFill>
              <a:srgbClr val="6FC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580" b="1">
                <a:solidFill>
                  <a:srgbClr val="00806F"/>
                </a:solidFill>
                <a:latin typeface="Noto Sans CJK KR"/>
              </a:rPr>
              <a:t>핵심: L2를 기준 Feature로 고정하면, 요구사항·Variant·Policy·검증·배포·운영 증적을 하나의 Feature ID로 일관되게 연결할 수 있다.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2336" y="6656832"/>
            <a:ext cx="11338560" cy="12801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420" b="0">
                <a:solidFill>
                  <a:srgbClr val="696F78"/>
                </a:solidFill>
                <a:latin typeface="Noto Sans CJK KR"/>
              </a:rPr>
              <a:t>출처/근거/참조: Kang et al., FODA Feature Modeling (1990); ISO/IEC/IEEE 29148:2018; OMG SysML 2.0; OMG ReqIF 1.2; Mutuus Lab Feature Topology Taxonomy.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11480" y="146304"/>
            <a:ext cx="384048" cy="21945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00806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09728"/>
            <a:ext cx="8961120" cy="43891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Feature BOM 상세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804672"/>
            <a:ext cx="45720" cy="402336"/>
          </a:xfrm>
          <a:prstGeom prst="rect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768096"/>
            <a:ext cx="10927080" cy="50292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320" b="0">
                <a:solidFill>
                  <a:srgbClr val="002060"/>
                </a:solidFill>
                <a:latin typeface="Arial"/>
              </a:rPr>
              <a:t>Feature BOM은 Feature ID를 기준으로 11개 Artifact 영역을 수집·정규화·Baseline화하여 Topology Graph와 Decision Engine의 입력으로 사용하는 기준정보 모델이다.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417320"/>
            <a:ext cx="3429000" cy="4087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1417320"/>
            <a:ext cx="3429000" cy="301752"/>
          </a:xfrm>
          <a:prstGeom prst="rect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" y="1467612"/>
            <a:ext cx="3209544" cy="21945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1. BOM 11개 영역 구조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" y="1755648"/>
            <a:ext cx="3209544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50" b="0">
                <a:solidFill>
                  <a:srgbClr val="616161"/>
                </a:solidFill>
                <a:latin typeface="Arial"/>
              </a:rPr>
              <a:t>Feature 하나를 실현하는 구성요소 목록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1417320"/>
            <a:ext cx="3429000" cy="4087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69080" y="1417320"/>
            <a:ext cx="3429000" cy="301752"/>
          </a:xfrm>
          <a:prstGeom prst="rect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78808" y="1467612"/>
            <a:ext cx="3209544" cy="21945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2. BOM Item 공통 Schema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8808" y="1755648"/>
            <a:ext cx="3209544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50" b="0">
                <a:solidFill>
                  <a:srgbClr val="616161"/>
                </a:solidFill>
                <a:latin typeface="Arial"/>
              </a:rPr>
              <a:t>모든 영역은 동일한 관리 속성을 가진다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1417320"/>
            <a:ext cx="3429000" cy="4087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26679" y="1417320"/>
            <a:ext cx="3429000" cy="301752"/>
          </a:xfrm>
          <a:prstGeom prst="rect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36407" y="1467612"/>
            <a:ext cx="3209544" cy="21945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3. FEAT-BDC-001 적용 예시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6407" y="1755648"/>
            <a:ext cx="3209544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50" b="0">
                <a:solidFill>
                  <a:srgbClr val="616161"/>
                </a:solidFill>
                <a:latin typeface="Arial"/>
              </a:rPr>
              <a:t>Feature ID 중심으로 artifact를 연결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075688"/>
            <a:ext cx="3154680" cy="640080"/>
          </a:xfrm>
          <a:prstGeom prst="roundRect">
            <a:avLst/>
          </a:prstGeom>
          <a:solidFill>
            <a:srgbClr val="F8F9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2112264"/>
            <a:ext cx="3008376" cy="16459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740" b="1">
                <a:solidFill>
                  <a:srgbClr val="008060"/>
                </a:solidFill>
                <a:latin typeface="Arial"/>
              </a:rPr>
              <a:t>Feature 기준정보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2286000"/>
            <a:ext cx="3008376" cy="411479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40" b="0">
                <a:solidFill>
                  <a:srgbClr val="262626"/>
                </a:solidFill>
                <a:latin typeface="Arial"/>
              </a:rPr>
              <a:t>Feature Master: ID · Name · Level · Owner · Lifecycle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2816352"/>
            <a:ext cx="3154680" cy="640080"/>
          </a:xfrm>
          <a:prstGeom prst="roundRect">
            <a:avLst/>
          </a:prstGeom>
          <a:solidFill>
            <a:srgbClr val="F8F9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2852928"/>
            <a:ext cx="3008376" cy="16459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740" b="1">
                <a:solidFill>
                  <a:srgbClr val="008060"/>
                </a:solidFill>
                <a:latin typeface="Arial"/>
              </a:rPr>
              <a:t>Engineering Artifact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3026664"/>
            <a:ext cx="3008376" cy="411479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40" b="0">
                <a:solidFill>
                  <a:srgbClr val="262626"/>
                </a:solidFill>
                <a:latin typeface="Arial"/>
              </a:rPr>
              <a:t>Requirement · Architecture · Interface
(System/SW/Safety/Security · SWC/ECU/API/Signal/DTC)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557016"/>
            <a:ext cx="3154680" cy="640080"/>
          </a:xfrm>
          <a:prstGeom prst="roundRect">
            <a:avLst/>
          </a:prstGeom>
          <a:solidFill>
            <a:srgbClr val="F8F9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3593592"/>
            <a:ext cx="3008376" cy="16459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740" b="1">
                <a:solidFill>
                  <a:srgbClr val="008060"/>
                </a:solidFill>
                <a:latin typeface="Arial"/>
              </a:rPr>
              <a:t>Applicability &amp; 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3767328"/>
            <a:ext cx="3008376" cy="411479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40" b="0">
                <a:solidFill>
                  <a:srgbClr val="262626"/>
                </a:solidFill>
                <a:latin typeface="Arial"/>
              </a:rPr>
              <a:t>Variant · Control · Deployment
(차종/지역/HW/SW · Policy/Flag · Binary/Policy Package)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297680"/>
            <a:ext cx="3154680" cy="804672"/>
          </a:xfrm>
          <a:prstGeom prst="roundRect">
            <a:avLst/>
          </a:prstGeom>
          <a:solidFill>
            <a:srgbClr val="F8F9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4334256"/>
            <a:ext cx="3008376" cy="16459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740" b="1">
                <a:solidFill>
                  <a:srgbClr val="008060"/>
                </a:solidFill>
                <a:latin typeface="Arial"/>
              </a:rPr>
              <a:t>Assurance &amp; Operations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4507992"/>
            <a:ext cx="3008376" cy="57607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40" b="0">
                <a:solidFill>
                  <a:srgbClr val="262626"/>
                </a:solidFill>
                <a:latin typeface="Arial"/>
              </a:rPr>
              <a:t>Verification · Supplier · Safety/Security · Operation
(Test Evidence · Supplier Function · ASIL/Cybersec · Telemetry/Audit)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0" y="1984248"/>
            <a:ext cx="3154680" cy="292608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910" b="1">
                <a:solidFill>
                  <a:srgbClr val="002060"/>
                </a:solidFill>
                <a:latin typeface="Arial"/>
              </a:rPr>
              <a:t>BOM Item = Source Artifact Pointer + Relationship Metadata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6240" y="2368296"/>
            <a:ext cx="3154680" cy="384048"/>
          </a:xfrm>
          <a:prstGeom prst="rect">
            <a:avLst/>
          </a:prstGeom>
          <a:solidFill>
            <a:srgbClr val="F8F9FB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79392" y="2414015"/>
            <a:ext cx="1005840" cy="31089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50" b="1">
                <a:solidFill>
                  <a:srgbClr val="002060"/>
                </a:solidFill>
                <a:latin typeface="Arial"/>
              </a:rPr>
              <a:t>Key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85232" y="2404872"/>
            <a:ext cx="2011680" cy="31089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30" b="0">
                <a:solidFill>
                  <a:srgbClr val="262626"/>
                </a:solidFill>
                <a:latin typeface="Arial"/>
              </a:rPr>
              <a:t>feature_id, bom_item_id, domain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2770632"/>
            <a:ext cx="3154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79392" y="2816351"/>
            <a:ext cx="1005840" cy="31089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50" b="1">
                <a:solidFill>
                  <a:srgbClr val="002060"/>
                </a:solidFill>
                <a:latin typeface="Arial"/>
              </a:rPr>
              <a:t>Artifact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85232" y="2807208"/>
            <a:ext cx="2011680" cy="31089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30" b="0">
                <a:solidFill>
                  <a:srgbClr val="262626"/>
                </a:solidFill>
                <a:latin typeface="Arial"/>
              </a:rPr>
              <a:t>artifact_type, artifact_id, display_name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0" y="3172968"/>
            <a:ext cx="3154680" cy="384048"/>
          </a:xfrm>
          <a:prstGeom prst="rect">
            <a:avLst/>
          </a:prstGeom>
          <a:solidFill>
            <a:srgbClr val="F8F9FB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79392" y="3218687"/>
            <a:ext cx="1005840" cy="31089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50" b="1">
                <a:solidFill>
                  <a:srgbClr val="002060"/>
                </a:solidFill>
                <a:latin typeface="Arial"/>
              </a:rPr>
              <a:t>Ownership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85232" y="3209544"/>
            <a:ext cx="2011680" cy="31089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30" b="0">
                <a:solidFill>
                  <a:srgbClr val="262626"/>
                </a:solidFill>
                <a:latin typeface="Arial"/>
              </a:rPr>
              <a:t>source_system, owner_team, supplier_id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3575303"/>
            <a:ext cx="3154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79392" y="3621023"/>
            <a:ext cx="1005840" cy="31089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50" b="1">
                <a:solidFill>
                  <a:srgbClr val="002060"/>
                </a:solidFill>
                <a:latin typeface="Arial"/>
              </a:rPr>
              <a:t>Relation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85232" y="3611879"/>
            <a:ext cx="2011680" cy="31089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30" b="0">
                <a:solidFill>
                  <a:srgbClr val="262626"/>
                </a:solidFill>
                <a:latin typeface="Arial"/>
              </a:rPr>
              <a:t>relationship_type, direction, criticality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0" y="3977639"/>
            <a:ext cx="3154680" cy="384048"/>
          </a:xfrm>
          <a:prstGeom prst="rect">
            <a:avLst/>
          </a:prstGeom>
          <a:solidFill>
            <a:srgbClr val="F8F9FB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79392" y="4023359"/>
            <a:ext cx="1005840" cy="31089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50" b="1">
                <a:solidFill>
                  <a:srgbClr val="002060"/>
                </a:solidFill>
                <a:latin typeface="Arial"/>
              </a:rPr>
              <a:t>Scope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85232" y="4014215"/>
            <a:ext cx="2011680" cy="31089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30" b="0">
                <a:solidFill>
                  <a:srgbClr val="262626"/>
                </a:solidFill>
                <a:latin typeface="Arial"/>
              </a:rPr>
              <a:t>variant_scope, lifecycle_status, baseline_ver.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06240" y="4379976"/>
            <a:ext cx="3154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79392" y="4425696"/>
            <a:ext cx="1005840" cy="31089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50" b="1">
                <a:solidFill>
                  <a:srgbClr val="002060"/>
                </a:solidFill>
                <a:latin typeface="Arial"/>
              </a:rPr>
              <a:t>Evidence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85232" y="4416552"/>
            <a:ext cx="2011680" cy="31089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30" b="0">
                <a:solidFill>
                  <a:srgbClr val="262626"/>
                </a:solidFill>
                <a:latin typeface="Arial"/>
              </a:rPr>
              <a:t>evidence_uri, verification_status, last_sync_at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206240" y="4873752"/>
            <a:ext cx="3154680" cy="795528"/>
          </a:xfrm>
          <a:prstGeom prst="roundRect">
            <a:avLst/>
          </a:prstGeom>
          <a:solidFill>
            <a:srgbClr val="EBF3FA"/>
          </a:solidFill>
          <a:ln w="9525">
            <a:solidFill>
              <a:srgbClr val="C5D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43400" y="4946904"/>
            <a:ext cx="288036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69" b="1">
                <a:solidFill>
                  <a:srgbClr val="002060"/>
                </a:solidFill>
                <a:latin typeface="Arial"/>
              </a:rPr>
              <a:t>설계 원칙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43400" y="5175504"/>
            <a:ext cx="2880360" cy="4114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Arial"/>
              </a:rPr>
              <a:t>BOM은 원천 데이터를 복제하지 않고, ALM/PLM/API/Test/Telemetry 원천의 ID와 링크를 보유한다. 변경 시 ChangeSet과 Baseline Diff를 생성한다.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863840" y="1947672"/>
            <a:ext cx="3154680" cy="356616"/>
          </a:xfrm>
          <a:prstGeom prst="rect">
            <a:avLst/>
          </a:prstGeom>
          <a:solidFill>
            <a:srgbClr val="F8F9FB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936992" y="1993391"/>
            <a:ext cx="1005840" cy="28346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50" b="1">
                <a:solidFill>
                  <a:srgbClr val="002060"/>
                </a:solidFill>
                <a:latin typeface="Arial"/>
              </a:rPr>
              <a:t>Feature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42832" y="1984248"/>
            <a:ext cx="2011680" cy="28346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30" b="0">
                <a:solidFill>
                  <a:srgbClr val="262626"/>
                </a:solidFill>
                <a:latin typeface="Arial"/>
              </a:rPr>
              <a:t>FEAT-BDC-001 · BDC Policy Control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63840" y="2313432"/>
            <a:ext cx="315468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36992" y="2359151"/>
            <a:ext cx="1005840" cy="28346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50" b="1">
                <a:solidFill>
                  <a:srgbClr val="002060"/>
                </a:solidFill>
                <a:latin typeface="Arial"/>
              </a:rPr>
              <a:t>Req.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42832" y="2350008"/>
            <a:ext cx="2011680" cy="28346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30" b="0">
                <a:solidFill>
                  <a:srgbClr val="262626"/>
                </a:solidFill>
                <a:latin typeface="Arial"/>
              </a:rPr>
              <a:t>SYS-BODY-001 · SWE-BDC-010 · SEC-POLICY-004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63840" y="2679191"/>
            <a:ext cx="3154680" cy="356616"/>
          </a:xfrm>
          <a:prstGeom prst="rect">
            <a:avLst/>
          </a:prstGeom>
          <a:solidFill>
            <a:srgbClr val="F8F9FB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936992" y="2724911"/>
            <a:ext cx="1005840" cy="28346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50" b="1">
                <a:solidFill>
                  <a:srgbClr val="002060"/>
                </a:solidFill>
                <a:latin typeface="Arial"/>
              </a:rPr>
              <a:t>Arch.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42832" y="2715768"/>
            <a:ext cx="2011680" cy="28346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30" b="0">
                <a:solidFill>
                  <a:srgbClr val="262626"/>
                </a:solidFill>
                <a:latin typeface="Arial"/>
              </a:rPr>
              <a:t>ECU-BDC · ECU-CCU · SWC-BDC-ADAPTER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863840" y="3044951"/>
            <a:ext cx="315468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936992" y="3090671"/>
            <a:ext cx="1005840" cy="28346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50" b="1">
                <a:solidFill>
                  <a:srgbClr val="002060"/>
                </a:solidFill>
                <a:latin typeface="Arial"/>
              </a:rPr>
              <a:t>I/F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42832" y="3081527"/>
            <a:ext cx="2011680" cy="28346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30" b="0">
                <a:solidFill>
                  <a:srgbClr val="262626"/>
                </a:solidFill>
                <a:latin typeface="Arial"/>
              </a:rPr>
              <a:t>API-BDC-POLICY · SIG-DOOR-LOCK · DTC-BDC-FAIL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863840" y="3410711"/>
            <a:ext cx="3154680" cy="356616"/>
          </a:xfrm>
          <a:prstGeom prst="rect">
            <a:avLst/>
          </a:prstGeom>
          <a:solidFill>
            <a:srgbClr val="F8F9FB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936992" y="3456431"/>
            <a:ext cx="1005840" cy="28346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50" b="1">
                <a:solidFill>
                  <a:srgbClr val="002060"/>
                </a:solidFill>
                <a:latin typeface="Arial"/>
              </a:rPr>
              <a:t>Variant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42832" y="3447287"/>
            <a:ext cx="2011680" cy="28346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30" b="0">
                <a:solidFill>
                  <a:srgbClr val="262626"/>
                </a:solidFill>
                <a:latin typeface="Arial"/>
              </a:rPr>
              <a:t>KR/EU · MY2027+ · Premium · Gen3 · SW≥3.2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63840" y="3776472"/>
            <a:ext cx="315468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936992" y="3822191"/>
            <a:ext cx="1005840" cy="28346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50" b="1">
                <a:solidFill>
                  <a:srgbClr val="002060"/>
                </a:solidFill>
                <a:latin typeface="Arial"/>
              </a:rPr>
              <a:t>Control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42832" y="3813048"/>
            <a:ext cx="2011680" cy="28346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30" b="0">
                <a:solidFill>
                  <a:srgbClr val="262626"/>
                </a:solidFill>
                <a:latin typeface="Arial"/>
              </a:rPr>
              <a:t>POLICY-BDC-ENABLE · KILL-SWITCH · Safe:disabled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863840" y="4142232"/>
            <a:ext cx="3154680" cy="356616"/>
          </a:xfrm>
          <a:prstGeom prst="rect">
            <a:avLst/>
          </a:prstGeom>
          <a:solidFill>
            <a:srgbClr val="F8F9FB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936992" y="4187952"/>
            <a:ext cx="1005840" cy="28346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50" b="1">
                <a:solidFill>
                  <a:srgbClr val="002060"/>
                </a:solidFill>
                <a:latin typeface="Arial"/>
              </a:rPr>
              <a:t>Verify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42832" y="4178808"/>
            <a:ext cx="2011680" cy="28346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30" b="0">
                <a:solidFill>
                  <a:srgbClr val="262626"/>
                </a:solidFill>
                <a:latin typeface="Arial"/>
              </a:rPr>
              <a:t>HIL-BDC-001 · OTA-RB-002 · TEL-BDC-001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863840" y="4507992"/>
            <a:ext cx="315468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936992" y="4553712"/>
            <a:ext cx="1005840" cy="28346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50" b="1">
                <a:solidFill>
                  <a:srgbClr val="002060"/>
                </a:solidFill>
                <a:latin typeface="Arial"/>
              </a:rPr>
              <a:t>Ops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42832" y="4544568"/>
            <a:ext cx="2011680" cy="28346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30" b="0">
                <a:solidFill>
                  <a:srgbClr val="262626"/>
                </a:solidFill>
                <a:latin typeface="Arial"/>
              </a:rPr>
              <a:t>SUP-BDC-A · TEL-BDC-001 · Audit Log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863840" y="4946904"/>
            <a:ext cx="3154680" cy="475488"/>
          </a:xfrm>
          <a:prstGeom prst="roundRect">
            <a:avLst/>
          </a:prstGeom>
          <a:solidFill>
            <a:srgbClr val="F8FBF6"/>
          </a:solidFill>
          <a:ln w="9525">
            <a:solidFill>
              <a:srgbClr val="D6E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001000" y="5001768"/>
            <a:ext cx="2880360" cy="384048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Arial"/>
              </a:rPr>
              <a:t>Output: 영향도 분석 · 검증범위 도출 · Policy-only/Binary OTA 판단 · 협력사 책임 추적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1480" y="5596128"/>
            <a:ext cx="210312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50" b="1">
                <a:solidFill>
                  <a:srgbClr val="002060"/>
                </a:solidFill>
                <a:latin typeface="Arial"/>
              </a:rPr>
              <a:t>BOM 품질 규칙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11480" y="5815584"/>
            <a:ext cx="2697480" cy="493776"/>
          </a:xfrm>
          <a:prstGeom prst="roundRect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02920" y="5888736"/>
            <a:ext cx="320040" cy="40233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68680" y="5861304"/>
            <a:ext cx="2148840" cy="16459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40" b="1">
                <a:solidFill>
                  <a:srgbClr val="FFFFFF"/>
                </a:solidFill>
                <a:latin typeface="Arial"/>
              </a:rPr>
              <a:t>L2 Feature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68680" y="6044184"/>
            <a:ext cx="2148840" cy="23774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50" b="0">
                <a:solidFill>
                  <a:srgbClr val="E6ECF9"/>
                </a:solidFill>
                <a:latin typeface="Arial"/>
              </a:rPr>
              <a:t>최소 1개 Requirement와 Owner 필수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246120" y="5815584"/>
            <a:ext cx="2697480" cy="493776"/>
          </a:xfrm>
          <a:prstGeom prst="roundRect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337560" y="5888736"/>
            <a:ext cx="320040" cy="40233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703320" y="5861304"/>
            <a:ext cx="2148840" cy="16459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40" b="1">
                <a:solidFill>
                  <a:srgbClr val="FFFFFF"/>
                </a:solidFill>
                <a:latin typeface="Arial"/>
              </a:rPr>
              <a:t>Runtime Control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703320" y="6044184"/>
            <a:ext cx="2148840" cy="23774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50" b="0">
                <a:solidFill>
                  <a:srgbClr val="E6ECF9"/>
                </a:solidFill>
                <a:latin typeface="Arial"/>
              </a:rPr>
              <a:t>Safe Default와 Rollback Plan 필수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080760" y="5815584"/>
            <a:ext cx="2697480" cy="493776"/>
          </a:xfrm>
          <a:prstGeom prst="roundRect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72200" y="5888736"/>
            <a:ext cx="320040" cy="40233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537960" y="5861304"/>
            <a:ext cx="2148840" cy="16459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40" b="1">
                <a:solidFill>
                  <a:srgbClr val="FFFFFF"/>
                </a:solidFill>
                <a:latin typeface="Arial"/>
              </a:rPr>
              <a:t>Policy-only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537960" y="6044184"/>
            <a:ext cx="2148840" cy="23774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50" b="0">
                <a:solidFill>
                  <a:srgbClr val="E6ECF9"/>
                </a:solidFill>
                <a:latin typeface="Arial"/>
              </a:rPr>
              <a:t>SWC/API 변경 없음 + 검증 증적 필요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915400" y="5815584"/>
            <a:ext cx="2697480" cy="493776"/>
          </a:xfrm>
          <a:prstGeom prst="roundRect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006840" y="5888736"/>
            <a:ext cx="320040" cy="40233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372600" y="5861304"/>
            <a:ext cx="2148840" cy="16459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40" b="1">
                <a:solidFill>
                  <a:srgbClr val="FFFFFF"/>
                </a:solidFill>
                <a:latin typeface="Arial"/>
              </a:rPr>
              <a:t>Released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372600" y="6044184"/>
            <a:ext cx="2148840" cy="23774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50" b="0">
                <a:solidFill>
                  <a:srgbClr val="E6ECF9"/>
                </a:solidFill>
                <a:latin typeface="Arial"/>
              </a:rPr>
              <a:t>Test Evidence와 Telemetry/Audit 연결 필수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01168" y="6629400"/>
            <a:ext cx="10881360" cy="12801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530" b="0">
                <a:solidFill>
                  <a:srgbClr val="6E6E6E"/>
                </a:solidFill>
                <a:latin typeface="Arial"/>
              </a:rPr>
              <a:t>출처/근거/참조: ISO/IEC/IEEE 29148:2018(requirement information items); OMG ReqIF 1.2(requirement exchange); OMG SysML 2.0(requirement/verification relationships); Mutuus Lab Feature BOM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329184" y="146304"/>
            <a:ext cx="566928" cy="21945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800" b="1">
                <a:solidFill>
                  <a:srgbClr val="008060"/>
                </a:solidFill>
                <a:latin typeface="Arial"/>
              </a:rPr>
              <a:t>02-4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00584"/>
            <a:ext cx="9966960" cy="4572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Feature Modeling — Relationship Edge 상세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804672"/>
            <a:ext cx="45720" cy="420624"/>
          </a:xfrm>
          <a:prstGeom prst="rect">
            <a:avLst/>
          </a:prstGeom>
          <a:solidFill>
            <a:srgbClr val="002060"/>
          </a:solidFill>
          <a:ln w="825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768096"/>
            <a:ext cx="10881360" cy="54864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260" b="0">
                <a:solidFill>
                  <a:srgbClr val="002060"/>
                </a:solidFill>
                <a:latin typeface="Arial"/>
              </a:rPr>
              <a:t>Feature Modeling은 Feature 간 논리 관계를 Typed Edge로 정의하여 Topology Graph 탐색, 검증범위 도출, 배포 판단, 복구 경로 분석이 가능하도록 만든다.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417320"/>
            <a:ext cx="3429000" cy="404164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3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1417320"/>
            <a:ext cx="3429000" cy="310896"/>
          </a:xfrm>
          <a:prstGeom prst="rect">
            <a:avLst/>
          </a:prstGeom>
          <a:solidFill>
            <a:srgbClr val="1A5A78"/>
          </a:solidFill>
          <a:ln w="8255">
            <a:solidFill>
              <a:srgbClr val="1A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" y="1467612"/>
            <a:ext cx="3209544" cy="21945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19" b="1">
                <a:solidFill>
                  <a:srgbClr val="FFFFFF"/>
                </a:solidFill>
                <a:latin typeface="Arial"/>
              </a:rPr>
              <a:t>1. Relationship Type 설계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" y="1764792"/>
            <a:ext cx="3209544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760" b="0">
                <a:solidFill>
                  <a:srgbClr val="5C6069"/>
                </a:solidFill>
                <a:latin typeface="Arial"/>
              </a:rPr>
              <a:t>Feature Model 관계를 SDV 운영 관계로 확장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1417320"/>
            <a:ext cx="3429000" cy="404164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3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69080" y="1417320"/>
            <a:ext cx="3429000" cy="310896"/>
          </a:xfrm>
          <a:prstGeom prst="rect">
            <a:avLst/>
          </a:prstGeom>
          <a:solidFill>
            <a:srgbClr val="002060"/>
          </a:solidFill>
          <a:ln w="825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78808" y="1467612"/>
            <a:ext cx="3209544" cy="21945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19" b="1">
                <a:solidFill>
                  <a:srgbClr val="FFFFFF"/>
                </a:solidFill>
                <a:latin typeface="Arial"/>
              </a:rPr>
              <a:t>2. Edge 공통 Schema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8808" y="1764792"/>
            <a:ext cx="3209544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760" b="0">
                <a:solidFill>
                  <a:srgbClr val="5C6069"/>
                </a:solidFill>
                <a:latin typeface="Arial"/>
              </a:rPr>
              <a:t>분석 가능한 관계로 만들기 위한 필수 속성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1417320"/>
            <a:ext cx="3429000" cy="404164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3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26679" y="1417320"/>
            <a:ext cx="3429000" cy="310896"/>
          </a:xfrm>
          <a:prstGeom prst="rect">
            <a:avLst/>
          </a:prstGeom>
          <a:solidFill>
            <a:srgbClr val="002D6E"/>
          </a:solidFill>
          <a:ln w="8255">
            <a:solidFill>
              <a:srgbClr val="002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36407" y="1467612"/>
            <a:ext cx="3209544" cy="21945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19" b="1">
                <a:solidFill>
                  <a:srgbClr val="FFFFFF"/>
                </a:solidFill>
                <a:latin typeface="Arial"/>
              </a:rPr>
              <a:t>3. FEAT-BDC-001 적용 예시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6407" y="1764792"/>
            <a:ext cx="3209544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760" b="0">
                <a:solidFill>
                  <a:srgbClr val="5C6069"/>
                </a:solidFill>
                <a:latin typeface="Arial"/>
              </a:rPr>
              <a:t>관계 Edge가 의사결정 입력으로 사용되는 방식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1208" y="2057400"/>
            <a:ext cx="3209544" cy="274320"/>
          </a:xfrm>
          <a:prstGeom prst="rect">
            <a:avLst/>
          </a:prstGeom>
          <a:solidFill>
            <a:srgbClr val="002060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" y="2089404"/>
            <a:ext cx="480217" cy="21945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70" b="1">
                <a:solidFill>
                  <a:srgbClr val="FFFFFF"/>
                </a:solidFill>
                <a:latin typeface="Arial"/>
              </a:rPr>
              <a:t>구분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74577" y="2057400"/>
            <a:ext cx="4572" cy="274320"/>
          </a:xfrm>
          <a:prstGeom prst="rect">
            <a:avLst/>
          </a:prstGeom>
          <a:solidFill>
            <a:srgbClr val="E4E9F0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1153" y="2089404"/>
            <a:ext cx="775348" cy="21945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70" b="1">
                <a:solidFill>
                  <a:srgbClr val="FFFFFF"/>
                </a:solidFill>
                <a:latin typeface="Arial"/>
              </a:rPr>
              <a:t>Edge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23077" y="2057400"/>
            <a:ext cx="4572" cy="274320"/>
          </a:xfrm>
          <a:prstGeom prst="rect">
            <a:avLst/>
          </a:prstGeom>
          <a:solidFill>
            <a:srgbClr val="E4E9F0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59653" y="2089404"/>
            <a:ext cx="1734522" cy="21945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70" b="1">
                <a:solidFill>
                  <a:srgbClr val="FFFFFF"/>
                </a:solidFill>
                <a:latin typeface="Arial"/>
              </a:rPr>
              <a:t>설계 의미 / 검증 목적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8" y="2340864"/>
            <a:ext cx="3209544" cy="310896"/>
          </a:xfrm>
          <a:prstGeom prst="rect">
            <a:avLst/>
          </a:prstGeom>
          <a:solidFill>
            <a:srgbClr val="F8F9FB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784" y="2372868"/>
            <a:ext cx="480217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rial"/>
              </a:rPr>
              <a:t>구조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74577" y="2340864"/>
            <a:ext cx="4572" cy="310896"/>
          </a:xfrm>
          <a:prstGeom prst="rect">
            <a:avLst/>
          </a:prstGeom>
          <a:solidFill>
            <a:srgbClr val="E4E9F0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1153" y="2372868"/>
            <a:ext cx="775348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1">
                <a:solidFill>
                  <a:srgbClr val="002060"/>
                </a:solidFill>
                <a:latin typeface="Arial"/>
              </a:rPr>
              <a:t>parent_of / child_of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23077" y="2340864"/>
            <a:ext cx="4572" cy="310896"/>
          </a:xfrm>
          <a:prstGeom prst="rect">
            <a:avLst/>
          </a:prstGeom>
          <a:solidFill>
            <a:srgbClr val="E4E9F0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59653" y="2372868"/>
            <a:ext cx="1734522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rial"/>
              </a:rPr>
              <a:t>상·하위 Feature 분해, L0~L5 계층 정합성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1208" y="2660904"/>
            <a:ext cx="3209544" cy="310896"/>
          </a:xfrm>
          <a:prstGeom prst="rect">
            <a:avLst/>
          </a:prstGeom>
          <a:solidFill>
            <a:srgbClr val="FFFFFF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7784" y="2692908"/>
            <a:ext cx="480217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rial"/>
              </a:rPr>
              <a:t>구조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74577" y="2660904"/>
            <a:ext cx="4572" cy="310896"/>
          </a:xfrm>
          <a:prstGeom prst="rect">
            <a:avLst/>
          </a:prstGeom>
          <a:solidFill>
            <a:srgbClr val="E4E9F0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11153" y="2692908"/>
            <a:ext cx="775348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1">
                <a:solidFill>
                  <a:srgbClr val="002060"/>
                </a:solidFill>
                <a:latin typeface="Arial"/>
              </a:rPr>
              <a:t>composed_of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23077" y="2660904"/>
            <a:ext cx="4572" cy="310896"/>
          </a:xfrm>
          <a:prstGeom prst="rect">
            <a:avLst/>
          </a:prstGeom>
          <a:solidFill>
            <a:srgbClr val="E4E9F0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59653" y="2692908"/>
            <a:ext cx="1734522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rial"/>
              </a:rPr>
              <a:t>복합 Feature를 하위 기능 단위로 구성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1208" y="2980944"/>
            <a:ext cx="3209544" cy="310896"/>
          </a:xfrm>
          <a:prstGeom prst="rect">
            <a:avLst/>
          </a:prstGeom>
          <a:solidFill>
            <a:srgbClr val="F8F9FB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7784" y="3012948"/>
            <a:ext cx="480217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rial"/>
              </a:rPr>
              <a:t>의존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74577" y="2980944"/>
            <a:ext cx="4572" cy="310896"/>
          </a:xfrm>
          <a:prstGeom prst="rect">
            <a:avLst/>
          </a:prstGeom>
          <a:solidFill>
            <a:srgbClr val="E4E9F0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11153" y="3012948"/>
            <a:ext cx="775348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1">
                <a:solidFill>
                  <a:srgbClr val="002060"/>
                </a:solidFill>
                <a:latin typeface="Arial"/>
              </a:rPr>
              <a:t>requires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23077" y="2980944"/>
            <a:ext cx="4572" cy="310896"/>
          </a:xfrm>
          <a:prstGeom prst="rect">
            <a:avLst/>
          </a:prstGeom>
          <a:solidFill>
            <a:srgbClr val="E4E9F0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959653" y="3012948"/>
            <a:ext cx="1734522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rial"/>
              </a:rPr>
              <a:t>활성화 선행조건, 종속 Feature 동반 검증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1208" y="3300984"/>
            <a:ext cx="3209544" cy="310896"/>
          </a:xfrm>
          <a:prstGeom prst="rect">
            <a:avLst/>
          </a:prstGeom>
          <a:solidFill>
            <a:srgbClr val="FFFFFF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7784" y="3332988"/>
            <a:ext cx="480217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rial"/>
              </a:rPr>
              <a:t>충돌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74577" y="3300984"/>
            <a:ext cx="4572" cy="310896"/>
          </a:xfrm>
          <a:prstGeom prst="rect">
            <a:avLst/>
          </a:prstGeom>
          <a:solidFill>
            <a:srgbClr val="E4E9F0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11153" y="3332988"/>
            <a:ext cx="775348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1">
                <a:solidFill>
                  <a:srgbClr val="002060"/>
                </a:solidFill>
                <a:latin typeface="Arial"/>
              </a:rPr>
              <a:t>excludes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23077" y="3300984"/>
            <a:ext cx="4572" cy="310896"/>
          </a:xfrm>
          <a:prstGeom prst="rect">
            <a:avLst/>
          </a:prstGeom>
          <a:solidFill>
            <a:srgbClr val="E4E9F0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959653" y="3332988"/>
            <a:ext cx="1734522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rial"/>
              </a:rPr>
              <a:t>동시 활성 금지, Variant/Policy 충돌 차단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1208" y="3621024"/>
            <a:ext cx="3209544" cy="310896"/>
          </a:xfrm>
          <a:prstGeom prst="rect">
            <a:avLst/>
          </a:prstGeom>
          <a:solidFill>
            <a:srgbClr val="F8F9FB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7784" y="3653028"/>
            <a:ext cx="480217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rial"/>
              </a:rPr>
              <a:t>우선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74577" y="3621024"/>
            <a:ext cx="4572" cy="310896"/>
          </a:xfrm>
          <a:prstGeom prst="rect">
            <a:avLst/>
          </a:prstGeom>
          <a:solidFill>
            <a:srgbClr val="E4E9F0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11153" y="3653028"/>
            <a:ext cx="775348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1">
                <a:solidFill>
                  <a:srgbClr val="002060"/>
                </a:solidFill>
                <a:latin typeface="Arial"/>
              </a:rPr>
              <a:t>overrides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23077" y="3621024"/>
            <a:ext cx="4572" cy="310896"/>
          </a:xfrm>
          <a:prstGeom prst="rect">
            <a:avLst/>
          </a:prstGeom>
          <a:solidFill>
            <a:srgbClr val="E4E9F0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959653" y="3653028"/>
            <a:ext cx="1734522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rial"/>
              </a:rPr>
              <a:t>Kill-switch/긴급정책 등 상위 우선순위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1208" y="3941064"/>
            <a:ext cx="3209544" cy="310896"/>
          </a:xfrm>
          <a:prstGeom prst="rect">
            <a:avLst/>
          </a:prstGeom>
          <a:solidFill>
            <a:srgbClr val="FFFFFF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7784" y="3973068"/>
            <a:ext cx="480217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rial"/>
              </a:rPr>
              <a:t>복구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74577" y="3941064"/>
            <a:ext cx="4572" cy="310896"/>
          </a:xfrm>
          <a:prstGeom prst="rect">
            <a:avLst/>
          </a:prstGeom>
          <a:solidFill>
            <a:srgbClr val="E4E9F0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11153" y="3973068"/>
            <a:ext cx="775348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1">
                <a:solidFill>
                  <a:srgbClr val="002060"/>
                </a:solidFill>
                <a:latin typeface="Arial"/>
              </a:rPr>
              <a:t>fallback_to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923077" y="3941064"/>
            <a:ext cx="4572" cy="310896"/>
          </a:xfrm>
          <a:prstGeom prst="rect">
            <a:avLst/>
          </a:prstGeom>
          <a:solidFill>
            <a:srgbClr val="E4E9F0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959653" y="3973068"/>
            <a:ext cx="1734522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rial"/>
              </a:rPr>
              <a:t>정책 실패 시 이전 안정 상태 복귀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21208" y="4261104"/>
            <a:ext cx="3209544" cy="310896"/>
          </a:xfrm>
          <a:prstGeom prst="rect">
            <a:avLst/>
          </a:prstGeom>
          <a:solidFill>
            <a:srgbClr val="F8F9FB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57784" y="4293108"/>
            <a:ext cx="480217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rial"/>
              </a:rPr>
              <a:t>저하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74577" y="4261104"/>
            <a:ext cx="4572" cy="310896"/>
          </a:xfrm>
          <a:prstGeom prst="rect">
            <a:avLst/>
          </a:prstGeom>
          <a:solidFill>
            <a:srgbClr val="E4E9F0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11153" y="4293108"/>
            <a:ext cx="775348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1">
                <a:solidFill>
                  <a:srgbClr val="002060"/>
                </a:solidFill>
                <a:latin typeface="Arial"/>
              </a:rPr>
              <a:t>degrades_to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923077" y="4261104"/>
            <a:ext cx="4572" cy="310896"/>
          </a:xfrm>
          <a:prstGeom prst="rect">
            <a:avLst/>
          </a:prstGeom>
          <a:solidFill>
            <a:srgbClr val="E4E9F0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959653" y="4293108"/>
            <a:ext cx="1734522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rial"/>
              </a:rPr>
              <a:t>장애 시 저하 기능 또는 safe behavior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21208" y="4581144"/>
            <a:ext cx="3209544" cy="310896"/>
          </a:xfrm>
          <a:prstGeom prst="rect">
            <a:avLst/>
          </a:prstGeom>
          <a:solidFill>
            <a:srgbClr val="FFFFFF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57784" y="4613148"/>
            <a:ext cx="480217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rial"/>
              </a:rPr>
              <a:t>전환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74577" y="4581144"/>
            <a:ext cx="4572" cy="310896"/>
          </a:xfrm>
          <a:prstGeom prst="rect">
            <a:avLst/>
          </a:prstGeom>
          <a:solidFill>
            <a:srgbClr val="E4E9F0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11153" y="4613148"/>
            <a:ext cx="775348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1">
                <a:solidFill>
                  <a:srgbClr val="002060"/>
                </a:solidFill>
                <a:latin typeface="Arial"/>
              </a:rPr>
              <a:t>replaces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923077" y="4581144"/>
            <a:ext cx="4572" cy="310896"/>
          </a:xfrm>
          <a:prstGeom prst="rect">
            <a:avLst/>
          </a:prstGeom>
          <a:solidFill>
            <a:srgbClr val="E4E9F0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959653" y="4613148"/>
            <a:ext cx="1734522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rial"/>
              </a:rPr>
              <a:t>Legacy Feature 대체 및 migration trace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21208" y="4901183"/>
            <a:ext cx="3209544" cy="310896"/>
          </a:xfrm>
          <a:prstGeom prst="rect">
            <a:avLst/>
          </a:prstGeom>
          <a:solidFill>
            <a:srgbClr val="F8F9FB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57784" y="4933188"/>
            <a:ext cx="480217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rial"/>
              </a:rPr>
              <a:t>정리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74577" y="4901183"/>
            <a:ext cx="4572" cy="310896"/>
          </a:xfrm>
          <a:prstGeom prst="rect">
            <a:avLst/>
          </a:prstGeom>
          <a:solidFill>
            <a:srgbClr val="E4E9F0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11153" y="4933188"/>
            <a:ext cx="775348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1">
                <a:solidFill>
                  <a:srgbClr val="002060"/>
                </a:solidFill>
                <a:latin typeface="Arial"/>
              </a:rPr>
              <a:t>duplicates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923077" y="4901183"/>
            <a:ext cx="4572" cy="310896"/>
          </a:xfrm>
          <a:prstGeom prst="rect">
            <a:avLst/>
          </a:prstGeom>
          <a:solidFill>
            <a:srgbClr val="E4E9F0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959653" y="4933188"/>
            <a:ext cx="1734522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rial"/>
              </a:rPr>
              <a:t>유사/중복 Feature 후보 탐지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206240" y="1984248"/>
            <a:ext cx="3154680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850" b="1">
                <a:solidFill>
                  <a:srgbClr val="002060"/>
                </a:solidFill>
                <a:latin typeface="Arial"/>
              </a:rPr>
              <a:t>Edge = Source + Target + Relationship Semantics + Condition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206240" y="2331720"/>
            <a:ext cx="3154680" cy="365760"/>
          </a:xfrm>
          <a:prstGeom prst="rect">
            <a:avLst/>
          </a:prstGeom>
          <a:solidFill>
            <a:srgbClr val="F8F9FB"/>
          </a:solidFill>
          <a:ln w="825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261104" y="2368296"/>
            <a:ext cx="850392" cy="29260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1">
                <a:solidFill>
                  <a:srgbClr val="002060"/>
                </a:solidFill>
                <a:latin typeface="Arial"/>
              </a:rPr>
              <a:t>Identity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148072" y="2363724"/>
            <a:ext cx="2148840" cy="31089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60" b="0">
                <a:solidFill>
                  <a:srgbClr val="262626"/>
                </a:solidFill>
                <a:latin typeface="Arial"/>
              </a:rPr>
              <a:t>edge_id, source_id, target_id, relationship_type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206240" y="2715768"/>
            <a:ext cx="3154680" cy="365760"/>
          </a:xfrm>
          <a:prstGeom prst="rect">
            <a:avLst/>
          </a:prstGeom>
          <a:solidFill>
            <a:srgbClr val="FFFFFF"/>
          </a:solidFill>
          <a:ln w="825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261104" y="2752344"/>
            <a:ext cx="850392" cy="29260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1">
                <a:solidFill>
                  <a:srgbClr val="002060"/>
                </a:solidFill>
                <a:latin typeface="Arial"/>
              </a:rPr>
              <a:t>Semantics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148072" y="2747772"/>
            <a:ext cx="2148840" cy="31089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60" b="0">
                <a:solidFill>
                  <a:srgbClr val="262626"/>
                </a:solidFill>
                <a:latin typeface="Arial"/>
              </a:rPr>
              <a:t>direction, cardinality, criticality, relation_group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06240" y="3099815"/>
            <a:ext cx="3154680" cy="365760"/>
          </a:xfrm>
          <a:prstGeom prst="rect">
            <a:avLst/>
          </a:prstGeom>
          <a:solidFill>
            <a:srgbClr val="F8F9FB"/>
          </a:solidFill>
          <a:ln w="825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261104" y="3136391"/>
            <a:ext cx="850392" cy="29260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1">
                <a:solidFill>
                  <a:srgbClr val="002060"/>
                </a:solidFill>
                <a:latin typeface="Arial"/>
              </a:rPr>
              <a:t>Condition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48072" y="3131820"/>
            <a:ext cx="2148840" cy="31089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60" b="0">
                <a:solidFill>
                  <a:srgbClr val="262626"/>
                </a:solidFill>
                <a:latin typeface="Arial"/>
              </a:rPr>
              <a:t>variant_scope, policy_condition, lifecycle_status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206240" y="3483863"/>
            <a:ext cx="3154680" cy="365760"/>
          </a:xfrm>
          <a:prstGeom prst="rect">
            <a:avLst/>
          </a:prstGeom>
          <a:solidFill>
            <a:srgbClr val="FFFFFF"/>
          </a:solidFill>
          <a:ln w="825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261104" y="3520439"/>
            <a:ext cx="850392" cy="29260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1">
                <a:solidFill>
                  <a:srgbClr val="002060"/>
                </a:solidFill>
                <a:latin typeface="Arial"/>
              </a:rPr>
              <a:t>Governance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148072" y="3515868"/>
            <a:ext cx="2148840" cy="31089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60" b="0">
                <a:solidFill>
                  <a:srgbClr val="262626"/>
                </a:solidFill>
                <a:latin typeface="Arial"/>
              </a:rPr>
              <a:t>owner_team, source_system, approval_state, baseline_ver.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206240" y="3867911"/>
            <a:ext cx="3154680" cy="365760"/>
          </a:xfrm>
          <a:prstGeom prst="rect">
            <a:avLst/>
          </a:prstGeom>
          <a:solidFill>
            <a:srgbClr val="F8F9FB"/>
          </a:solidFill>
          <a:ln w="825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261104" y="3904487"/>
            <a:ext cx="850392" cy="29260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1">
                <a:solidFill>
                  <a:srgbClr val="002060"/>
                </a:solidFill>
                <a:latin typeface="Arial"/>
              </a:rPr>
              <a:t>Analysis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148072" y="3899915"/>
            <a:ext cx="2148840" cy="31089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60" b="0">
                <a:solidFill>
                  <a:srgbClr val="262626"/>
                </a:solidFill>
                <a:latin typeface="Arial"/>
              </a:rPr>
              <a:t>impact_weight, gate_rule, evidence_link, confidence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206240" y="4251959"/>
            <a:ext cx="3154680" cy="365760"/>
          </a:xfrm>
          <a:prstGeom prst="rect">
            <a:avLst/>
          </a:prstGeom>
          <a:solidFill>
            <a:srgbClr val="FFFFFF"/>
          </a:solidFill>
          <a:ln w="825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261104" y="4288536"/>
            <a:ext cx="850392" cy="29260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1">
                <a:solidFill>
                  <a:srgbClr val="002060"/>
                </a:solidFill>
                <a:latin typeface="Arial"/>
              </a:rPr>
              <a:t>Runtime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148072" y="4283964"/>
            <a:ext cx="2148840" cy="31089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60" b="0">
                <a:solidFill>
                  <a:srgbClr val="262626"/>
                </a:solidFill>
                <a:latin typeface="Arial"/>
              </a:rPr>
              <a:t>priority, safe_default, fallback_target, timeout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4206240" y="4727447"/>
            <a:ext cx="3154680" cy="621792"/>
          </a:xfrm>
          <a:prstGeom prst="roundRect">
            <a:avLst/>
          </a:prstGeom>
          <a:solidFill>
            <a:srgbClr val="EBF3FA"/>
          </a:solidFill>
          <a:ln w="8255">
            <a:solidFill>
              <a:srgbClr val="C5D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334256" y="4791455"/>
            <a:ext cx="2898648" cy="164592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780" b="1">
                <a:solidFill>
                  <a:srgbClr val="002060"/>
                </a:solidFill>
                <a:latin typeface="Arial"/>
              </a:rPr>
              <a:t>설계 원칙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334256" y="4983479"/>
            <a:ext cx="2898648" cy="283464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rial"/>
              </a:rPr>
              <a:t>관계는 자유 텍스트가 아니라 타입·방향·조건·상태를 가진 데이터여야 한다. 그래야 Graph Traversal, Gate Check, Change Impact가 자동화된다.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7891271" y="1965960"/>
            <a:ext cx="3099816" cy="475488"/>
          </a:xfrm>
          <a:prstGeom prst="roundRect">
            <a:avLst/>
          </a:prstGeom>
          <a:solidFill>
            <a:srgbClr val="002060"/>
          </a:solidFill>
          <a:ln w="825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001000" y="2057400"/>
            <a:ext cx="2880360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CENTER NODE: FEAT-BDC-001 / BDC Policy Control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863840" y="2569464"/>
            <a:ext cx="3154680" cy="457200"/>
          </a:xfrm>
          <a:prstGeom prst="roundRect">
            <a:avLst/>
          </a:prstGeom>
          <a:solidFill>
            <a:srgbClr val="F8F9FB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936992" y="2615184"/>
            <a:ext cx="960120" cy="1645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660" b="1">
                <a:solidFill>
                  <a:srgbClr val="002060"/>
                </a:solidFill>
                <a:latin typeface="Arial"/>
              </a:rPr>
              <a:t>FEAT-BDC-001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24544" y="2615184"/>
            <a:ext cx="960120" cy="1645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640" b="1">
                <a:solidFill>
                  <a:srgbClr val="002060"/>
                </a:solidFill>
                <a:latin typeface="Arial"/>
              </a:rPr>
              <a:t>─ parent_of →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912096" y="2615184"/>
            <a:ext cx="960120" cy="1645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660" b="1">
                <a:solidFill>
                  <a:srgbClr val="002060"/>
                </a:solidFill>
                <a:latin typeface="Arial"/>
              </a:rPr>
              <a:t>FEAT-BODY-001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001000" y="2834640"/>
            <a:ext cx="2880360" cy="173736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640" b="0">
                <a:solidFill>
                  <a:srgbClr val="262626"/>
                </a:solidFill>
                <a:latin typeface="Arial"/>
              </a:rPr>
              <a:t>상위 Body Comfort Feature 영향 범위에 포함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7863840" y="3081528"/>
            <a:ext cx="3154680" cy="457200"/>
          </a:xfrm>
          <a:prstGeom prst="roundRect">
            <a:avLst/>
          </a:prstGeom>
          <a:solidFill>
            <a:srgbClr val="F8F9FB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936992" y="3127248"/>
            <a:ext cx="960120" cy="1645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660" b="1">
                <a:solidFill>
                  <a:srgbClr val="002060"/>
                </a:solidFill>
                <a:latin typeface="Arial"/>
              </a:rPr>
              <a:t>FEAT-BDC-001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24544" y="3127248"/>
            <a:ext cx="960120" cy="1645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640" b="1">
                <a:solidFill>
                  <a:srgbClr val="84241E"/>
                </a:solidFill>
                <a:latin typeface="Arial"/>
              </a:rPr>
              <a:t>─ requires →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912096" y="3127248"/>
            <a:ext cx="960120" cy="1645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660" b="1">
                <a:solidFill>
                  <a:srgbClr val="002060"/>
                </a:solidFill>
                <a:latin typeface="Arial"/>
              </a:rPr>
              <a:t>FEAT-RUNTIME-001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001000" y="3346704"/>
            <a:ext cx="2880360" cy="173736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640" b="0">
                <a:solidFill>
                  <a:srgbClr val="262626"/>
                </a:solidFill>
                <a:latin typeface="Arial"/>
              </a:rPr>
              <a:t>Policy Agent 검증 없이는 Release Gate 통과 불가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7863840" y="3593592"/>
            <a:ext cx="3154680" cy="457200"/>
          </a:xfrm>
          <a:prstGeom prst="roundRect">
            <a:avLst/>
          </a:prstGeom>
          <a:solidFill>
            <a:srgbClr val="F8F9FB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936992" y="3639312"/>
            <a:ext cx="960120" cy="1645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660" b="1">
                <a:solidFill>
                  <a:srgbClr val="002060"/>
                </a:solidFill>
                <a:latin typeface="Arial"/>
              </a:rPr>
              <a:t>FEAT-BDC-001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24544" y="3639312"/>
            <a:ext cx="960120" cy="1645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640" b="1">
                <a:solidFill>
                  <a:srgbClr val="84241E"/>
                </a:solidFill>
                <a:latin typeface="Arial"/>
              </a:rPr>
              <a:t>─ excludes →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912096" y="3639312"/>
            <a:ext cx="960120" cy="1645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660" b="1">
                <a:solidFill>
                  <a:srgbClr val="002060"/>
                </a:solidFill>
                <a:latin typeface="Arial"/>
              </a:rPr>
              <a:t>FEAT-MANUAL-001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001000" y="3858768"/>
            <a:ext cx="2880360" cy="173736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640" b="0">
                <a:solidFill>
                  <a:srgbClr val="262626"/>
                </a:solidFill>
                <a:latin typeface="Arial"/>
              </a:rPr>
              <a:t>Manual Override와 동시 활성 차단 필요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7863840" y="4105656"/>
            <a:ext cx="3154680" cy="457200"/>
          </a:xfrm>
          <a:prstGeom prst="roundRect">
            <a:avLst/>
          </a:prstGeom>
          <a:solidFill>
            <a:srgbClr val="F8F9FB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936992" y="4151376"/>
            <a:ext cx="960120" cy="1645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660" b="1">
                <a:solidFill>
                  <a:srgbClr val="002060"/>
                </a:solidFill>
                <a:latin typeface="Arial"/>
              </a:rPr>
              <a:t>FEAT-BDC-001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924544" y="4151376"/>
            <a:ext cx="960120" cy="1645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640" b="1">
                <a:solidFill>
                  <a:srgbClr val="008060"/>
                </a:solidFill>
                <a:latin typeface="Arial"/>
              </a:rPr>
              <a:t>─ fallback_to →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912096" y="4151376"/>
            <a:ext cx="960120" cy="1645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660" b="1">
                <a:solidFill>
                  <a:srgbClr val="002060"/>
                </a:solidFill>
                <a:latin typeface="Arial"/>
              </a:rPr>
              <a:t>POLICY-BDC-PREV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001000" y="4370832"/>
            <a:ext cx="2880360" cy="173736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640" b="0">
                <a:solidFill>
                  <a:srgbClr val="262626"/>
                </a:solidFill>
                <a:latin typeface="Arial"/>
              </a:rPr>
              <a:t>Policy 실패 시 Previous Stable로 복귀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7863840" y="4617720"/>
            <a:ext cx="3154680" cy="457200"/>
          </a:xfrm>
          <a:prstGeom prst="roundRect">
            <a:avLst/>
          </a:prstGeom>
          <a:solidFill>
            <a:srgbClr val="F8F9FB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936992" y="4663440"/>
            <a:ext cx="960120" cy="1645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660" b="1">
                <a:solidFill>
                  <a:srgbClr val="002060"/>
                </a:solidFill>
                <a:latin typeface="Arial"/>
              </a:rPr>
              <a:t>FEAT-BDC-001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924544" y="4663440"/>
            <a:ext cx="960120" cy="1645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640" b="1">
                <a:solidFill>
                  <a:srgbClr val="4B245D"/>
                </a:solidFill>
                <a:latin typeface="Arial"/>
              </a:rPr>
              <a:t>─ replaces →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912096" y="4663440"/>
            <a:ext cx="960120" cy="1645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660" b="1">
                <a:solidFill>
                  <a:srgbClr val="002060"/>
                </a:solidFill>
                <a:latin typeface="Arial"/>
              </a:rPr>
              <a:t>FEAT-BDC-002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001000" y="4882896"/>
            <a:ext cx="2880360" cy="173736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640" b="0">
                <a:solidFill>
                  <a:srgbClr val="262626"/>
                </a:solidFill>
                <a:latin typeface="Arial"/>
              </a:rPr>
              <a:t>Legacy Logic 전환 범위와 잔여 Gap 추적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11480" y="5559552"/>
            <a:ext cx="2194560" cy="201168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40" b="1">
                <a:solidFill>
                  <a:srgbClr val="002060"/>
                </a:solidFill>
                <a:latin typeface="Arial"/>
              </a:rPr>
              <a:t>Edge 품질 규칙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411480" y="5779008"/>
            <a:ext cx="2697480" cy="502920"/>
          </a:xfrm>
          <a:prstGeom prst="roundRect">
            <a:avLst/>
          </a:prstGeom>
          <a:solidFill>
            <a:srgbClr val="002060"/>
          </a:solidFill>
          <a:ln w="825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75488" y="5833872"/>
            <a:ext cx="301752" cy="4114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R1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2960" y="5824728"/>
            <a:ext cx="2221992" cy="15544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770" b="1">
                <a:solidFill>
                  <a:srgbClr val="FFFFFF"/>
                </a:solidFill>
                <a:latin typeface="Arial"/>
              </a:rPr>
              <a:t>No Cycle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22960" y="5998464"/>
            <a:ext cx="2221992" cy="256032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660" b="0">
                <a:solidFill>
                  <a:srgbClr val="E6ECF9"/>
                </a:solidFill>
                <a:latin typeface="Arial"/>
              </a:rPr>
              <a:t>parent_of / requires 관계는 순환 구조를 금지한다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3246120" y="5779008"/>
            <a:ext cx="2697480" cy="502920"/>
          </a:xfrm>
          <a:prstGeom prst="roundRect">
            <a:avLst/>
          </a:prstGeom>
          <a:solidFill>
            <a:srgbClr val="002060"/>
          </a:solidFill>
          <a:ln w="825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3310127" y="5833872"/>
            <a:ext cx="301752" cy="4114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R2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657600" y="5824728"/>
            <a:ext cx="2221992" cy="15544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770" b="1">
                <a:solidFill>
                  <a:srgbClr val="FFFFFF"/>
                </a:solidFill>
                <a:latin typeface="Arial"/>
              </a:rPr>
              <a:t>Dependency Gate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657600" y="5998464"/>
            <a:ext cx="2221992" cy="256032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660" b="0">
                <a:solidFill>
                  <a:srgbClr val="E6ECF9"/>
                </a:solidFill>
                <a:latin typeface="Arial"/>
              </a:rPr>
              <a:t>requires 대상은 Approved/Released 상태여야 한다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6080760" y="5779008"/>
            <a:ext cx="2697480" cy="502920"/>
          </a:xfrm>
          <a:prstGeom prst="roundRect">
            <a:avLst/>
          </a:prstGeom>
          <a:solidFill>
            <a:srgbClr val="002060"/>
          </a:solidFill>
          <a:ln w="825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144768" y="5833872"/>
            <a:ext cx="301752" cy="4114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R3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492240" y="5824728"/>
            <a:ext cx="2221992" cy="15544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770" b="1">
                <a:solidFill>
                  <a:srgbClr val="FFFFFF"/>
                </a:solidFill>
                <a:latin typeface="Arial"/>
              </a:rPr>
              <a:t>Conflict Gate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492240" y="5998464"/>
            <a:ext cx="2221992" cy="256032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660" b="0">
                <a:solidFill>
                  <a:srgbClr val="E6ECF9"/>
                </a:solidFill>
                <a:latin typeface="Arial"/>
              </a:rPr>
              <a:t>excludes/overrides 충돌 시 배포를 차단한다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8915400" y="5779008"/>
            <a:ext cx="2697480" cy="502920"/>
          </a:xfrm>
          <a:prstGeom prst="roundRect">
            <a:avLst/>
          </a:prstGeom>
          <a:solidFill>
            <a:srgbClr val="002060"/>
          </a:solidFill>
          <a:ln w="825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8979408" y="5833872"/>
            <a:ext cx="301752" cy="4114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R4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326880" y="5824728"/>
            <a:ext cx="2221992" cy="15544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770" b="1">
                <a:solidFill>
                  <a:srgbClr val="FFFFFF"/>
                </a:solidFill>
                <a:latin typeface="Arial"/>
              </a:rPr>
              <a:t>Recovery Gate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326880" y="5998464"/>
            <a:ext cx="2221992" cy="256032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660" b="0">
                <a:solidFill>
                  <a:srgbClr val="E6ECF9"/>
                </a:solidFill>
                <a:latin typeface="Arial"/>
              </a:rPr>
              <a:t>Runtime Control은 fallback_to 또는 Safe Default가 필요하다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01168" y="6620256"/>
            <a:ext cx="10881360" cy="13716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520" b="0">
                <a:solidFill>
                  <a:srgbClr val="6E6E6E"/>
                </a:solidFill>
                <a:latin typeface="Arial"/>
              </a:rPr>
              <a:t>출처/근거/참조: FODA/Feature Model(Kang et al., 1990); OMG SysML 2.0(requirement/model relationships); ISO/IEC/IEEE 29148:2018(traceability &amp; requirement information items); Mutuus Lab Feature Topology edge taxonomy.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329184" y="146304"/>
            <a:ext cx="566928" cy="219456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800" b="1">
                <a:solidFill>
                  <a:srgbClr val="008060"/>
                </a:solidFill>
                <a:latin typeface="Noto Sans CJK KR"/>
              </a:rPr>
              <a:t>02-5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91440"/>
            <a:ext cx="10287000" cy="45720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2050" b="1">
                <a:solidFill>
                  <a:srgbClr val="FFFFFF"/>
                </a:solidFill>
                <a:latin typeface="Noto Sans CJK KR"/>
              </a:rPr>
              <a:t>Feature Topology — 의사결정 그래프 상세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804672"/>
            <a:ext cx="45720" cy="438912"/>
          </a:xfrm>
          <a:prstGeom prst="rect">
            <a:avLst/>
          </a:prstGeom>
          <a:solidFill>
            <a:srgbClr val="002060"/>
          </a:solidFill>
          <a:ln w="127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768096"/>
            <a:ext cx="11064240" cy="56692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1140" b="0">
                <a:solidFill>
                  <a:srgbClr val="002060"/>
                </a:solidFill>
                <a:latin typeface="Noto Sans CJK KR"/>
              </a:rPr>
              <a:t>Feature Topology는 Feature BOM의 Artifact Node와 Feature Modeling의 Relationship Edge를 하나의 그래프로 결합하여 영향도·검증범위·배포방식·책임범위·복구경로를 계산하는 기준정보 모델이다.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444752"/>
            <a:ext cx="3886200" cy="3703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1444752"/>
            <a:ext cx="3886200" cy="310896"/>
          </a:xfrm>
          <a:prstGeom prst="rect">
            <a:avLst/>
          </a:prstGeom>
          <a:solidFill>
            <a:srgbClr val="1A5A78"/>
          </a:solidFill>
          <a:ln w="1270">
            <a:solidFill>
              <a:srgbClr val="1A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" y="1495044"/>
            <a:ext cx="3666744" cy="20116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969" b="1">
                <a:solidFill>
                  <a:srgbClr val="FFFFFF"/>
                </a:solidFill>
                <a:latin typeface="Noto Sans CJK KR"/>
              </a:rPr>
              <a:t>1. Topology Graph 구성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" y="1801368"/>
            <a:ext cx="3666744" cy="22860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90" b="0">
                <a:solidFill>
                  <a:srgbClr val="5C6069"/>
                </a:solidFill>
                <a:latin typeface="Noto Sans CJK KR"/>
              </a:rPr>
              <a:t>BOM Node + Relationship Edge + Decision Context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1444752"/>
            <a:ext cx="3456432" cy="3703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07992" y="1444752"/>
            <a:ext cx="3456432" cy="310896"/>
          </a:xfrm>
          <a:prstGeom prst="rect">
            <a:avLst/>
          </a:prstGeom>
          <a:solidFill>
            <a:srgbClr val="002060"/>
          </a:solidFill>
          <a:ln w="127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1495044"/>
            <a:ext cx="3236976" cy="20116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969" b="1">
                <a:solidFill>
                  <a:srgbClr val="FFFFFF"/>
                </a:solidFill>
                <a:latin typeface="Noto Sans CJK KR"/>
              </a:rPr>
              <a:t>2. Graph Schema 설계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1801368"/>
            <a:ext cx="3236976" cy="22860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90" b="0">
                <a:solidFill>
                  <a:srgbClr val="5C6069"/>
                </a:solidFill>
                <a:latin typeface="Noto Sans CJK KR"/>
              </a:rPr>
              <a:t>Graph traversal이 가능한 최소 데이터 구조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65592" y="1444752"/>
            <a:ext cx="3520440" cy="3703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65592" y="1444752"/>
            <a:ext cx="3520440" cy="310896"/>
          </a:xfrm>
          <a:prstGeom prst="rect">
            <a:avLst/>
          </a:prstGeom>
          <a:solidFill>
            <a:srgbClr val="002D6E"/>
          </a:solidFill>
          <a:ln w="1270">
            <a:solidFill>
              <a:srgbClr val="002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19" y="1495044"/>
            <a:ext cx="3300984" cy="20116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969" b="1">
                <a:solidFill>
                  <a:srgbClr val="FFFFFF"/>
                </a:solidFill>
                <a:latin typeface="Noto Sans CJK KR"/>
              </a:rPr>
              <a:t>3. Decision Query Pattern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1801368"/>
            <a:ext cx="3300984" cy="22860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90" b="0">
                <a:solidFill>
                  <a:srgbClr val="5C6069"/>
                </a:solidFill>
                <a:latin typeface="Noto Sans CJK KR"/>
              </a:rPr>
              <a:t>Registry/Engine이 실행하는 대표 질의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783080" y="3136392"/>
            <a:ext cx="1143000" cy="566928"/>
          </a:xfrm>
          <a:prstGeom prst="roundRect">
            <a:avLst/>
          </a:prstGeom>
          <a:solidFill>
            <a:srgbClr val="002060"/>
          </a:solidFill>
          <a:ln w="381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19656" y="3209544"/>
            <a:ext cx="1069848" cy="3931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  <a:latin typeface="Noto Sans CJK KR"/>
              </a:rPr>
              <a:t>FEAT-BDC-001
BDC Policy Control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2103120"/>
            <a:ext cx="960120" cy="42976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2103120"/>
            <a:ext cx="960120" cy="68580"/>
          </a:xfrm>
          <a:prstGeom prst="rect">
            <a:avLst/>
          </a:prstGeom>
          <a:solidFill>
            <a:srgbClr val="EC7020"/>
          </a:solidFill>
          <a:ln w="1270">
            <a:solidFill>
              <a:srgbClr val="EC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" y="2185415"/>
            <a:ext cx="850392" cy="15544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660" b="1">
                <a:solidFill>
                  <a:srgbClr val="002060"/>
                </a:solidFill>
                <a:latin typeface="Noto Sans CJK KR"/>
              </a:rPr>
              <a:t>Requirement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" y="2350008"/>
            <a:ext cx="850392" cy="15544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ctr"/>
            <a:r>
              <a:rPr sz="580" b="0">
                <a:solidFill>
                  <a:srgbClr val="262626"/>
                </a:solidFill>
                <a:latin typeface="Noto Sans CJK KR"/>
              </a:rPr>
              <a:t>SYS/SWE/SEC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783080" y="2103120"/>
            <a:ext cx="960120" cy="42976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83080" y="2103120"/>
            <a:ext cx="960120" cy="68580"/>
          </a:xfrm>
          <a:prstGeom prst="rect">
            <a:avLst/>
          </a:prstGeom>
          <a:solidFill>
            <a:srgbClr val="EC7020"/>
          </a:solidFill>
          <a:ln w="1270">
            <a:solidFill>
              <a:srgbClr val="EC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37943" y="2185415"/>
            <a:ext cx="850392" cy="15544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660" b="1">
                <a:solidFill>
                  <a:srgbClr val="002060"/>
                </a:solidFill>
                <a:latin typeface="Noto Sans CJK KR"/>
              </a:rPr>
              <a:t>SW/ECU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37943" y="2350008"/>
            <a:ext cx="850392" cy="15544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ctr"/>
            <a:r>
              <a:rPr sz="580" b="0">
                <a:solidFill>
                  <a:srgbClr val="262626"/>
                </a:solidFill>
                <a:latin typeface="Noto Sans CJK KR"/>
              </a:rPr>
              <a:t>SWC · ECU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71800" y="2103120"/>
            <a:ext cx="960120" cy="42976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971800" y="2103120"/>
            <a:ext cx="960120" cy="68580"/>
          </a:xfrm>
          <a:prstGeom prst="rect">
            <a:avLst/>
          </a:prstGeom>
          <a:solidFill>
            <a:srgbClr val="EC7020"/>
          </a:solidFill>
          <a:ln w="1270">
            <a:solidFill>
              <a:srgbClr val="EC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26664" y="2185415"/>
            <a:ext cx="850392" cy="15544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660" b="1">
                <a:solidFill>
                  <a:srgbClr val="002060"/>
                </a:solidFill>
                <a:latin typeface="Noto Sans CJK KR"/>
              </a:rPr>
              <a:t>Interface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26664" y="2350008"/>
            <a:ext cx="850392" cy="15544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ctr"/>
            <a:r>
              <a:rPr sz="580" b="0">
                <a:solidFill>
                  <a:srgbClr val="262626"/>
                </a:solidFill>
                <a:latin typeface="Noto Sans CJK KR"/>
              </a:rPr>
              <a:t>API · Signal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3200400"/>
            <a:ext cx="960120" cy="42976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4360" y="3200400"/>
            <a:ext cx="960120" cy="68580"/>
          </a:xfrm>
          <a:prstGeom prst="rect">
            <a:avLst/>
          </a:prstGeom>
          <a:solidFill>
            <a:srgbClr val="EC7020"/>
          </a:solidFill>
          <a:ln w="1270">
            <a:solidFill>
              <a:srgbClr val="EC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" y="3282696"/>
            <a:ext cx="850392" cy="15544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660" b="1">
                <a:solidFill>
                  <a:srgbClr val="002060"/>
                </a:solidFill>
                <a:latin typeface="Noto Sans CJK KR"/>
              </a:rPr>
              <a:t>Variant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" y="3447288"/>
            <a:ext cx="850392" cy="15544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ctr"/>
            <a:r>
              <a:rPr sz="580" b="0">
                <a:solidFill>
                  <a:srgbClr val="262626"/>
                </a:solidFill>
                <a:latin typeface="Noto Sans CJK KR"/>
              </a:rPr>
              <a:t>Region · HW/SW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971800" y="3200400"/>
            <a:ext cx="960120" cy="42976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971800" y="3200400"/>
            <a:ext cx="960120" cy="68580"/>
          </a:xfrm>
          <a:prstGeom prst="rect">
            <a:avLst/>
          </a:prstGeom>
          <a:solidFill>
            <a:srgbClr val="EC7020"/>
          </a:solidFill>
          <a:ln w="1270">
            <a:solidFill>
              <a:srgbClr val="EC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26664" y="3282696"/>
            <a:ext cx="850392" cy="15544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660" b="1">
                <a:solidFill>
                  <a:srgbClr val="002060"/>
                </a:solidFill>
                <a:latin typeface="Noto Sans CJK KR"/>
              </a:rPr>
              <a:t>Control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26664" y="3447288"/>
            <a:ext cx="850392" cy="15544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ctr"/>
            <a:r>
              <a:rPr sz="580" b="0">
                <a:solidFill>
                  <a:srgbClr val="262626"/>
                </a:solidFill>
                <a:latin typeface="Noto Sans CJK KR"/>
              </a:rPr>
              <a:t>Policy · Flag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4233672"/>
            <a:ext cx="960120" cy="42976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94360" y="4233672"/>
            <a:ext cx="960120" cy="68580"/>
          </a:xfrm>
          <a:prstGeom prst="rect">
            <a:avLst/>
          </a:prstGeom>
          <a:solidFill>
            <a:srgbClr val="EC7020"/>
          </a:solidFill>
          <a:ln w="1270">
            <a:solidFill>
              <a:srgbClr val="EC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" y="4315968"/>
            <a:ext cx="850392" cy="15544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660" b="1">
                <a:solidFill>
                  <a:srgbClr val="002060"/>
                </a:solidFill>
                <a:latin typeface="Noto Sans CJK KR"/>
              </a:rPr>
              <a:t>Supplier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" y="4480560"/>
            <a:ext cx="850392" cy="15544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ctr"/>
            <a:r>
              <a:rPr sz="580" b="0">
                <a:solidFill>
                  <a:srgbClr val="262626"/>
                </a:solidFill>
                <a:latin typeface="Noto Sans CJK KR"/>
              </a:rPr>
              <a:t>Function · Contract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783080" y="4233672"/>
            <a:ext cx="960120" cy="42976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83080" y="4233672"/>
            <a:ext cx="960120" cy="68580"/>
          </a:xfrm>
          <a:prstGeom prst="rect">
            <a:avLst/>
          </a:prstGeom>
          <a:solidFill>
            <a:srgbClr val="EC7020"/>
          </a:solidFill>
          <a:ln w="1270">
            <a:solidFill>
              <a:srgbClr val="EC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37943" y="4315968"/>
            <a:ext cx="850392" cy="15544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660" b="1">
                <a:solidFill>
                  <a:srgbClr val="002060"/>
                </a:solidFill>
                <a:latin typeface="Noto Sans CJK KR"/>
              </a:rPr>
              <a:t>Verification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37943" y="4480560"/>
            <a:ext cx="850392" cy="15544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ctr"/>
            <a:r>
              <a:rPr sz="580" b="0">
                <a:solidFill>
                  <a:srgbClr val="262626"/>
                </a:solidFill>
                <a:latin typeface="Noto Sans CJK KR"/>
              </a:rPr>
              <a:t>Test · Evidence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971800" y="4233672"/>
            <a:ext cx="960120" cy="42976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971800" y="4233672"/>
            <a:ext cx="960120" cy="68580"/>
          </a:xfrm>
          <a:prstGeom prst="rect">
            <a:avLst/>
          </a:prstGeom>
          <a:solidFill>
            <a:srgbClr val="EC7020"/>
          </a:solidFill>
          <a:ln w="1270">
            <a:solidFill>
              <a:srgbClr val="EC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026664" y="4315968"/>
            <a:ext cx="850392" cy="15544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660" b="1">
                <a:solidFill>
                  <a:srgbClr val="002060"/>
                </a:solidFill>
                <a:latin typeface="Noto Sans CJK KR"/>
              </a:rPr>
              <a:t>Ops/Deploy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26664" y="4480560"/>
            <a:ext cx="850392" cy="155448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ctr"/>
            <a:r>
              <a:rPr sz="580" b="0">
                <a:solidFill>
                  <a:srgbClr val="262626"/>
                </a:solidFill>
                <a:latin typeface="Noto Sans CJK KR"/>
              </a:rPr>
              <a:t>Pkg · Telemetry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6072" y="4809744"/>
            <a:ext cx="3557016" cy="219456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640" b="1">
                <a:solidFill>
                  <a:srgbClr val="002060"/>
                </a:solidFill>
                <a:latin typeface="Noto Sans CJK KR"/>
              </a:rPr>
              <a:t>Graph는 “목록”이 아니라 Node/Edge/속성/상태를 가진 분석 가능한 데이터 구조로 관리한다.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36007" y="2011680"/>
            <a:ext cx="3200400" cy="182880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00" b="1">
                <a:solidFill>
                  <a:srgbClr val="002060"/>
                </a:solidFill>
                <a:latin typeface="Noto Sans CJK KR"/>
              </a:rPr>
              <a:t>Topology = G(V, E, P), V=Artifact Node, E=Typed Edge, P=속성/상태/증적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36007" y="2267712"/>
            <a:ext cx="3200400" cy="429768"/>
          </a:xfrm>
          <a:prstGeom prst="rect">
            <a:avLst/>
          </a:prstGeom>
          <a:solidFill>
            <a:srgbClr val="F1F5F9"/>
          </a:solidFill>
          <a:ln w="4445">
            <a:solidFill>
              <a:srgbClr val="E6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81727" y="2299716"/>
            <a:ext cx="713232" cy="3749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40" b="1">
                <a:solidFill>
                  <a:srgbClr val="002060"/>
                </a:solidFill>
                <a:latin typeface="Noto Sans CJK KR"/>
              </a:rPr>
              <a:t>Node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40679" y="2295144"/>
            <a:ext cx="2331720" cy="38404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580" b="0">
                <a:solidFill>
                  <a:srgbClr val="262626"/>
                </a:solidFill>
                <a:latin typeface="Noto Sans CJK KR"/>
              </a:rPr>
              <a:t>feature, requirement, sw_component, ecu, api_service, signal, variant_rule, control_point, deployment_unit, test_case, supplier_function, telemetry_event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636007" y="2715768"/>
            <a:ext cx="3200400" cy="429768"/>
          </a:xfrm>
          <a:prstGeom prst="rect">
            <a:avLst/>
          </a:prstGeom>
          <a:solidFill>
            <a:srgbClr val="FFFFFF"/>
          </a:solidFill>
          <a:ln w="4445">
            <a:solidFill>
              <a:srgbClr val="E6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681727" y="2747772"/>
            <a:ext cx="713232" cy="3749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40" b="1">
                <a:solidFill>
                  <a:srgbClr val="002060"/>
                </a:solidFill>
                <a:latin typeface="Noto Sans CJK KR"/>
              </a:rPr>
              <a:t>Edge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40679" y="2743199"/>
            <a:ext cx="2331720" cy="38404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580" b="0">
                <a:solidFill>
                  <a:srgbClr val="262626"/>
                </a:solidFill>
                <a:latin typeface="Noto Sans CJK KR"/>
              </a:rPr>
              <a:t>derived_from, implemented_by, uses_api, applicable_to, controlled_by, deployed_as, verified_by, realized_by, observed_by, fallback_to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36007" y="3163824"/>
            <a:ext cx="3200400" cy="429768"/>
          </a:xfrm>
          <a:prstGeom prst="rect">
            <a:avLst/>
          </a:prstGeom>
          <a:solidFill>
            <a:srgbClr val="F1F5F9"/>
          </a:solidFill>
          <a:ln w="4445">
            <a:solidFill>
              <a:srgbClr val="E6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681727" y="3195828"/>
            <a:ext cx="713232" cy="3749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40" b="1">
                <a:solidFill>
                  <a:srgbClr val="002060"/>
                </a:solidFill>
                <a:latin typeface="Noto Sans CJK KR"/>
              </a:rPr>
              <a:t>Property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40679" y="3191256"/>
            <a:ext cx="2331720" cy="38404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580" b="0">
                <a:solidFill>
                  <a:srgbClr val="262626"/>
                </a:solidFill>
                <a:latin typeface="Noto Sans CJK KR"/>
              </a:rPr>
              <a:t>owner, lifecycle, version, baseline, source_system, criticality, validity_scope, confidence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636007" y="3611880"/>
            <a:ext cx="3200400" cy="429768"/>
          </a:xfrm>
          <a:prstGeom prst="rect">
            <a:avLst/>
          </a:prstGeom>
          <a:solidFill>
            <a:srgbClr val="FFFFFF"/>
          </a:solidFill>
          <a:ln w="4445">
            <a:solidFill>
              <a:srgbClr val="E6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81727" y="3643884"/>
            <a:ext cx="713232" cy="3749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40" b="1">
                <a:solidFill>
                  <a:srgbClr val="002060"/>
                </a:solidFill>
                <a:latin typeface="Noto Sans CJK KR"/>
              </a:rPr>
              <a:t>Evidence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40679" y="3639312"/>
            <a:ext cx="2331720" cy="38404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580" b="0">
                <a:solidFill>
                  <a:srgbClr val="262626"/>
                </a:solidFill>
                <a:latin typeface="Noto Sans CJK KR"/>
              </a:rPr>
              <a:t>test_evidence, approval_record, audit_log, release_gate_result, change_set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36007" y="4059936"/>
            <a:ext cx="3200400" cy="429768"/>
          </a:xfrm>
          <a:prstGeom prst="rect">
            <a:avLst/>
          </a:prstGeom>
          <a:solidFill>
            <a:srgbClr val="F1F5F9"/>
          </a:solidFill>
          <a:ln w="4445">
            <a:solidFill>
              <a:srgbClr val="E6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681727" y="4091940"/>
            <a:ext cx="713232" cy="3749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40" b="1">
                <a:solidFill>
                  <a:srgbClr val="002060"/>
                </a:solidFill>
                <a:latin typeface="Noto Sans CJK KR"/>
              </a:rPr>
              <a:t>Constraint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40679" y="4087368"/>
            <a:ext cx="2331720" cy="38404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580" b="0">
                <a:solidFill>
                  <a:srgbClr val="262626"/>
                </a:solidFill>
                <a:latin typeface="Noto Sans CJK KR"/>
              </a:rPr>
              <a:t>Released Feature는 Requirement/Test/Owner/Variant/Operation 링크가 필요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636007" y="4507992"/>
            <a:ext cx="3200400" cy="429768"/>
          </a:xfrm>
          <a:prstGeom prst="rect">
            <a:avLst/>
          </a:prstGeom>
          <a:solidFill>
            <a:srgbClr val="FFFFFF"/>
          </a:solidFill>
          <a:ln w="4445">
            <a:solidFill>
              <a:srgbClr val="E6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681727" y="4539996"/>
            <a:ext cx="713232" cy="3749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40" b="1">
                <a:solidFill>
                  <a:srgbClr val="002060"/>
                </a:solidFill>
                <a:latin typeface="Noto Sans CJK KR"/>
              </a:rPr>
              <a:t>Traversal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40679" y="4535424"/>
            <a:ext cx="2331720" cy="38404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580" b="0">
                <a:solidFill>
                  <a:srgbClr val="262626"/>
                </a:solidFill>
                <a:latin typeface="Noto Sans CJK KR"/>
              </a:rPr>
              <a:t>changed node에서 1~3-hop 탐색 후 영향 Artifact와 Gate Gap 산출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636007" y="4992624"/>
            <a:ext cx="3200400" cy="384048"/>
          </a:xfrm>
          <a:prstGeom prst="roundRect">
            <a:avLst/>
          </a:prstGeom>
          <a:solidFill>
            <a:srgbClr val="E7F1FA"/>
          </a:solidFill>
          <a:ln w="5715">
            <a:solidFill>
              <a:srgbClr val="C5D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36592" y="5047488"/>
            <a:ext cx="2999232" cy="25603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590" b="1">
                <a:solidFill>
                  <a:srgbClr val="002060"/>
                </a:solidFill>
                <a:latin typeface="Noto Sans CJK KR"/>
              </a:rPr>
              <a:t>설계 포인트: Edge는 반드시 방향성·관계유형·조건·Baseline을 가져야 하며, 자유 텍스트 관계는 Decision Engine 입력으로 사용하지 않는다.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284464" y="2029968"/>
            <a:ext cx="3282696" cy="530352"/>
          </a:xfrm>
          <a:prstGeom prst="roundRect">
            <a:avLst/>
          </a:prstGeom>
          <a:solidFill>
            <a:srgbClr val="F1F5F9"/>
          </a:solidFill>
          <a:ln w="698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8375904" y="2112264"/>
            <a:ext cx="292608" cy="219456"/>
          </a:xfrm>
          <a:prstGeom prst="roundRect">
            <a:avLst/>
          </a:prstGeom>
          <a:solidFill>
            <a:srgbClr val="002060"/>
          </a:solidFill>
          <a:ln w="127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375904" y="2116836"/>
            <a:ext cx="292608" cy="20116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680" b="1">
                <a:solidFill>
                  <a:srgbClr val="FFFFFF"/>
                </a:solidFill>
                <a:latin typeface="Noto Sans CJK KR"/>
              </a:rPr>
              <a:t>Q1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741664" y="2089404"/>
            <a:ext cx="2715768" cy="1645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90" b="1">
                <a:solidFill>
                  <a:srgbClr val="002060"/>
                </a:solidFill>
                <a:latin typeface="Noto Sans CJK KR"/>
              </a:rPr>
              <a:t>Change Impact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741664" y="2276856"/>
            <a:ext cx="2715768" cy="256031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l"/>
            <a:r>
              <a:rPr sz="580" b="0">
                <a:solidFill>
                  <a:srgbClr val="262626"/>
                </a:solidFill>
                <a:latin typeface="Noto Sans CJK KR"/>
              </a:rPr>
              <a:t>Change Target(Node/Edge) → 인접 Feature·Requirement·SWC·API·Supplier·Test 범위 산출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284464" y="2642616"/>
            <a:ext cx="3282696" cy="53035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8375904" y="2724912"/>
            <a:ext cx="292608" cy="219456"/>
          </a:xfrm>
          <a:prstGeom prst="roundRect">
            <a:avLst/>
          </a:prstGeom>
          <a:solidFill>
            <a:srgbClr val="002060"/>
          </a:solidFill>
          <a:ln w="127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375904" y="2729484"/>
            <a:ext cx="292608" cy="20116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680" b="1">
                <a:solidFill>
                  <a:srgbClr val="FFFFFF"/>
                </a:solidFill>
                <a:latin typeface="Noto Sans CJK KR"/>
              </a:rPr>
              <a:t>Q2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741664" y="2702052"/>
            <a:ext cx="2715768" cy="1645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90" b="1">
                <a:solidFill>
                  <a:srgbClr val="002060"/>
                </a:solidFill>
                <a:latin typeface="Noto Sans CJK KR"/>
              </a:rPr>
              <a:t>Verification Scope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741664" y="2889504"/>
            <a:ext cx="2715768" cy="256031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l"/>
            <a:r>
              <a:rPr sz="580" b="0">
                <a:solidFill>
                  <a:srgbClr val="262626"/>
                </a:solidFill>
                <a:latin typeface="Noto Sans CJK KR"/>
              </a:rPr>
              <a:t>Feature 조건(Variant/Control/Safety/Supplier) → Mandatory Test와 Missing Evidence 도출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284464" y="3255264"/>
            <a:ext cx="3282696" cy="530352"/>
          </a:xfrm>
          <a:prstGeom prst="roundRect">
            <a:avLst/>
          </a:prstGeom>
          <a:solidFill>
            <a:srgbClr val="F1F5F9"/>
          </a:solidFill>
          <a:ln w="698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8375904" y="3337560"/>
            <a:ext cx="292608" cy="219456"/>
          </a:xfrm>
          <a:prstGeom prst="roundRect">
            <a:avLst/>
          </a:prstGeom>
          <a:solidFill>
            <a:srgbClr val="002060"/>
          </a:solidFill>
          <a:ln w="127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375904" y="3342132"/>
            <a:ext cx="292608" cy="20116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680" b="1">
                <a:solidFill>
                  <a:srgbClr val="FFFFFF"/>
                </a:solidFill>
                <a:latin typeface="Noto Sans CJK KR"/>
              </a:rPr>
              <a:t>Q3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741664" y="3314700"/>
            <a:ext cx="2715768" cy="1645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90" b="1">
                <a:solidFill>
                  <a:srgbClr val="002060"/>
                </a:solidFill>
                <a:latin typeface="Noto Sans CJK KR"/>
              </a:rPr>
              <a:t>Deploy Decision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741664" y="3502152"/>
            <a:ext cx="2715768" cy="256031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l"/>
            <a:r>
              <a:rPr sz="580" b="0">
                <a:solidFill>
                  <a:srgbClr val="262626"/>
                </a:solidFill>
                <a:latin typeface="Noto Sans CJK KR"/>
              </a:rPr>
              <a:t>SWC/API/ECU 변경이면 Binary OTA, Policy/Variant만 변경이면 Policy-only 후보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8284464" y="3867912"/>
            <a:ext cx="3282696" cy="53035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8375904" y="3950208"/>
            <a:ext cx="292608" cy="219456"/>
          </a:xfrm>
          <a:prstGeom prst="roundRect">
            <a:avLst/>
          </a:prstGeom>
          <a:solidFill>
            <a:srgbClr val="002060"/>
          </a:solidFill>
          <a:ln w="127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375904" y="3954780"/>
            <a:ext cx="292608" cy="20116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680" b="1">
                <a:solidFill>
                  <a:srgbClr val="FFFFFF"/>
                </a:solidFill>
                <a:latin typeface="Noto Sans CJK KR"/>
              </a:rPr>
              <a:t>Q4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741664" y="3927348"/>
            <a:ext cx="2715768" cy="1645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90" b="1">
                <a:solidFill>
                  <a:srgbClr val="002060"/>
                </a:solidFill>
                <a:latin typeface="Noto Sans CJK KR"/>
              </a:rPr>
              <a:t>Release Readiness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741664" y="4114800"/>
            <a:ext cx="2715768" cy="256031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l"/>
            <a:r>
              <a:rPr sz="580" b="0">
                <a:solidFill>
                  <a:srgbClr val="262626"/>
                </a:solidFill>
                <a:latin typeface="Noto Sans CJK KR"/>
              </a:rPr>
              <a:t>9 Gate의 필수 링크와 증적을 점검하여 PASS/PENDING/BLOCKED 상태 산출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284464" y="4480560"/>
            <a:ext cx="3282696" cy="530352"/>
          </a:xfrm>
          <a:prstGeom prst="roundRect">
            <a:avLst/>
          </a:prstGeom>
          <a:solidFill>
            <a:srgbClr val="E6F6F0"/>
          </a:solidFill>
          <a:ln w="698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8375904" y="4562856"/>
            <a:ext cx="292608" cy="219456"/>
          </a:xfrm>
          <a:prstGeom prst="roundRect">
            <a:avLst/>
          </a:prstGeom>
          <a:solidFill>
            <a:srgbClr val="002060"/>
          </a:solidFill>
          <a:ln w="127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375904" y="4567428"/>
            <a:ext cx="292608" cy="201168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680" b="1">
                <a:solidFill>
                  <a:srgbClr val="FFFFFF"/>
                </a:solidFill>
                <a:latin typeface="Noto Sans CJK KR"/>
              </a:rPr>
              <a:t>Q5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741664" y="4539996"/>
            <a:ext cx="2715768" cy="1645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90" b="1">
                <a:solidFill>
                  <a:srgbClr val="002060"/>
                </a:solidFill>
                <a:latin typeface="Noto Sans CJK KR"/>
              </a:rPr>
              <a:t>Recovery Path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741664" y="4727448"/>
            <a:ext cx="2715768" cy="256031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l"/>
            <a:r>
              <a:rPr sz="580" b="0">
                <a:solidFill>
                  <a:srgbClr val="262626"/>
                </a:solidFill>
                <a:latin typeface="Noto Sans CJK KR"/>
              </a:rPr>
              <a:t>Runtime Control Feature → Safe Default · Rollback Plan · Previous Stable 연결 확인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411480" y="5321808"/>
            <a:ext cx="11292840" cy="84124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411480" y="5321808"/>
            <a:ext cx="11292840" cy="228600"/>
          </a:xfrm>
          <a:prstGeom prst="rect">
            <a:avLst/>
          </a:prstGeom>
          <a:solidFill>
            <a:srgbClr val="002060"/>
          </a:solidFill>
          <a:ln w="127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66928" y="5362956"/>
            <a:ext cx="4754880" cy="14630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Noto Sans CJK KR"/>
              </a:rPr>
              <a:t>FEAT-BDC-001 예시 Query — API-BDC-POLICY 변경 시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76072" y="5641848"/>
            <a:ext cx="713232" cy="1645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40" b="1">
                <a:solidFill>
                  <a:srgbClr val="002060"/>
                </a:solidFill>
                <a:latin typeface="Noto Sans CJK KR"/>
              </a:rPr>
              <a:t>Input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325880" y="5614416"/>
            <a:ext cx="2788920" cy="32918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570" b="0">
                <a:solidFill>
                  <a:srgbClr val="262626"/>
                </a:solidFill>
                <a:latin typeface="Noto Sans CJK KR"/>
              </a:rPr>
              <a:t>Change Target = API-BDC-POLICY v1.5
Change Type = optional field added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032504" y="5669280"/>
            <a:ext cx="228600" cy="1645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1000" b="1">
                <a:solidFill>
                  <a:srgbClr val="002060"/>
                </a:solidFill>
                <a:latin typeface="Noto Sans CJK KR"/>
              </a:rPr>
              <a:t>→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251959" y="5641848"/>
            <a:ext cx="713232" cy="1645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40" b="1">
                <a:solidFill>
                  <a:srgbClr val="002060"/>
                </a:solidFill>
                <a:latin typeface="Noto Sans CJK KR"/>
              </a:rPr>
              <a:t>Graph Traversal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001768" y="5614416"/>
            <a:ext cx="2788920" cy="32918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570" b="0">
                <a:solidFill>
                  <a:srgbClr val="262626"/>
                </a:solidFill>
                <a:latin typeface="Noto Sans CJK KR"/>
              </a:rPr>
              <a:t>API → FEAT-BDC-001 → SWC-BDC-ADAPTER
→ SUP-BDC-A → HIL/OTA/TEL Tests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708392" y="5669280"/>
            <a:ext cx="228600" cy="1645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ctr"/>
            <a:r>
              <a:rPr sz="1000" b="1">
                <a:solidFill>
                  <a:srgbClr val="002060"/>
                </a:solidFill>
                <a:latin typeface="Noto Sans CJK KR"/>
              </a:rPr>
              <a:t>→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927848" y="5641848"/>
            <a:ext cx="713232" cy="1645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640" b="1">
                <a:solidFill>
                  <a:srgbClr val="002060"/>
                </a:solidFill>
                <a:latin typeface="Noto Sans CJK KR"/>
              </a:rPr>
              <a:t>Decision Output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677656" y="5614416"/>
            <a:ext cx="2788920" cy="329184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570" b="0">
                <a:solidFill>
                  <a:srgbClr val="262626"/>
                </a:solidFill>
                <a:latin typeface="Noto Sans CJK KR"/>
              </a:rPr>
              <a:t>Policy-only 후보 / Supplier 호환성 확인
3개 Test 재실행 · Security 영향 재검토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02920" y="6245352"/>
            <a:ext cx="11064240" cy="301752"/>
          </a:xfrm>
          <a:prstGeom prst="rect">
            <a:avLst/>
          </a:prstGeom>
          <a:solidFill>
            <a:srgbClr val="002060"/>
          </a:solidFill>
          <a:ln w="127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13232" y="6304788"/>
            <a:ext cx="10652760" cy="164592"/>
          </a:xfrm>
          <a:prstGeom prst="rect">
            <a:avLst/>
          </a:prstGeom>
          <a:noFill/>
        </p:spPr>
        <p:txBody>
          <a:bodyPr wrap="square" lIns="32004" rIns="32004" tIns="13716" bIns="13716" anchor="ctr">
            <a:spAutoFit/>
          </a:bodyPr>
          <a:lstStyle/>
          <a:p>
            <a:pPr algn="l"/>
            <a:r>
              <a:rPr sz="760" b="1">
                <a:solidFill>
                  <a:srgbClr val="FFFFFF"/>
                </a:solidFill>
                <a:latin typeface="Noto Sans CJK KR"/>
              </a:rPr>
              <a:t>핵심 : Topology는 BOM 목록을 관계 그래프로 전환하여 “무엇이 바뀌면 무엇을 검증·배포·복구해야 하는가”를 계산 가능하게 만든다.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01168" y="6656832"/>
            <a:ext cx="11795760" cy="146304"/>
          </a:xfrm>
          <a:prstGeom prst="rect">
            <a:avLst/>
          </a:prstGeom>
          <a:noFill/>
        </p:spPr>
        <p:txBody>
          <a:bodyPr wrap="square" lIns="32004" rIns="32004" tIns="13716" bIns="13716" anchor="t">
            <a:spAutoFit/>
          </a:bodyPr>
          <a:lstStyle/>
          <a:p>
            <a:pPr algn="l"/>
            <a:r>
              <a:rPr sz="470" b="0">
                <a:solidFill>
                  <a:srgbClr val="6E6E6E"/>
                </a:solidFill>
                <a:latin typeface="Noto Sans CJK KR"/>
              </a:rPr>
              <a:t>출처/근거/참조: OMG SysML 2.0(requirements/structure/behavior/verification modeling); OMG ReqIF 1.2(requirement interchange); ISO/IEC/IEEE 29148:2018(requirement information items &amp; traceability); Mutuus Lab Feature Topology graph model.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5029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800" b="1">
                <a:solidFill>
                  <a:srgbClr val="008060"/>
                </a:solidFill>
                <a:latin typeface="Noto Sans CJK KR"/>
              </a:rPr>
              <a:t>03-1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18872"/>
            <a:ext cx="1028700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720" b="1">
                <a:solidFill>
                  <a:srgbClr val="FFFFFF"/>
                </a:solidFill>
                <a:latin typeface="Noto Sans CJK KR"/>
              </a:rPr>
              <a:t>Feature Topology Registry — Source of Truth 상세 설계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95528"/>
            <a:ext cx="36576" cy="27432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40664"/>
            <a:ext cx="11109960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919" b="0">
                <a:solidFill>
                  <a:srgbClr val="232A32"/>
                </a:solidFill>
                <a:latin typeface="Noto Sans CJK KR"/>
              </a:rPr>
              <a:t>Feature ID를 공통 Key로 사용해 분산된 ALM·PLM·Feature Flag·OTA·검증·협력사 데이터를 기준정보·관계·Baseline·Decision Evidence로 통합 관리한다.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" y="1261872"/>
            <a:ext cx="5532120" cy="4370832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380743"/>
            <a:ext cx="5239512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900" b="1">
                <a:solidFill>
                  <a:srgbClr val="002060"/>
                </a:solidFill>
                <a:latin typeface="Noto Sans CJK KR"/>
              </a:rPr>
              <a:t>1. Registry Layered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09343"/>
            <a:ext cx="5239512" cy="15544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570" b="0">
                <a:solidFill>
                  <a:srgbClr val="555C64"/>
                </a:solidFill>
                <a:latin typeface="Noto Sans CJK KR"/>
              </a:rPr>
              <a:t>Registry는 화면이 아니라, API·Graph·Rule·Integration을 갖는 기준정보 운영 계층이다.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261872"/>
            <a:ext cx="5440680" cy="4370832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380743"/>
            <a:ext cx="5148072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900" b="1">
                <a:solidFill>
                  <a:srgbClr val="002060"/>
                </a:solidFill>
                <a:latin typeface="Noto Sans CJK KR"/>
              </a:rPr>
              <a:t>2. Registry Data 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1609343"/>
            <a:ext cx="5148072" cy="15544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570" b="0">
                <a:solidFill>
                  <a:srgbClr val="555C64"/>
                </a:solidFill>
                <a:latin typeface="Noto Sans CJK KR"/>
              </a:rPr>
              <a:t>Feature ID 중심 데이터 계약 — 저장·조회·교환·감사 기준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847088"/>
            <a:ext cx="5102352" cy="566928"/>
          </a:xfrm>
          <a:prstGeom prst="roundRect">
            <a:avLst/>
          </a:prstGeom>
          <a:solidFill>
            <a:srgbClr val="F0F9FC"/>
          </a:solidFill>
          <a:ln w="8890">
            <a:solidFill>
              <a:srgbClr val="008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2104" y="1975104"/>
            <a:ext cx="347472" cy="301752"/>
          </a:xfrm>
          <a:prstGeom prst="roundRect">
            <a:avLst/>
          </a:prstGeom>
          <a:solidFill>
            <a:srgbClr val="0080A0"/>
          </a:solidFill>
          <a:ln>
            <a:solidFill>
              <a:srgbClr val="008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2020824"/>
            <a:ext cx="347472" cy="10972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Noto Sans CJK KR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1938528"/>
            <a:ext cx="4416552" cy="15544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720" b="1">
                <a:solidFill>
                  <a:srgbClr val="002060"/>
                </a:solidFill>
                <a:latin typeface="Noto Sans CJK KR"/>
              </a:rPr>
              <a:t>UI &amp; Workflow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139696"/>
            <a:ext cx="4416552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495" b="0">
                <a:solidFill>
                  <a:srgbClr val="232A32"/>
                </a:solidFill>
                <a:latin typeface="Noto Sans CJK KR"/>
              </a:rPr>
              <a:t>Feature Catalog · Feature Detail · BOM Editor · Topology Graph · Impact Center · Release Readiness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64408" y="2414016"/>
            <a:ext cx="0" cy="146304"/>
          </a:xfrm>
          <a:prstGeom prst="line">
            <a:avLst/>
          </a:prstGeom>
          <a:ln w="10160">
            <a:solidFill>
              <a:srgbClr val="96AA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13232" y="2560320"/>
            <a:ext cx="5102352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005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2104" y="2688336"/>
            <a:ext cx="347472" cy="301752"/>
          </a:xfrm>
          <a:prstGeom prst="roundRect">
            <a:avLst/>
          </a:prstGeom>
          <a:solidFill>
            <a:srgbClr val="0057A0"/>
          </a:solidFill>
          <a:ln>
            <a:solidFill>
              <a:srgbClr val="005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" y="2734056"/>
            <a:ext cx="347472" cy="10972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Noto Sans CJK KR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2651760"/>
            <a:ext cx="4416552" cy="15544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720" b="1">
                <a:solidFill>
                  <a:srgbClr val="002060"/>
                </a:solidFill>
                <a:latin typeface="Noto Sans CJK KR"/>
              </a:rPr>
              <a:t>Service / API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2852927"/>
            <a:ext cx="4416552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495" b="0">
                <a:solidFill>
                  <a:srgbClr val="232A32"/>
                </a:solidFill>
                <a:latin typeface="Noto Sans CJK KR"/>
              </a:rPr>
              <a:t>Registry API · Graph Query API · Import/Export · Webhook/Event · Auth/RBAC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264408" y="3127248"/>
            <a:ext cx="0" cy="146304"/>
          </a:xfrm>
          <a:prstGeom prst="line">
            <a:avLst/>
          </a:prstGeom>
          <a:ln w="10160">
            <a:solidFill>
              <a:srgbClr val="96AA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13232" y="3273552"/>
            <a:ext cx="5102352" cy="566928"/>
          </a:xfrm>
          <a:prstGeom prst="roundRect">
            <a:avLst/>
          </a:prstGeom>
          <a:solidFill>
            <a:srgbClr val="EEF8F4"/>
          </a:solidFill>
          <a:ln w="8890"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32104" y="3401568"/>
            <a:ext cx="347472" cy="301752"/>
          </a:xfrm>
          <a:prstGeom prst="roundRect">
            <a:avLst/>
          </a:prstGeom>
          <a:solidFill>
            <a:srgbClr val="008060"/>
          </a:solidFill>
          <a:ln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" y="3447288"/>
            <a:ext cx="347472" cy="10972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Noto Sans CJK KR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3364992"/>
            <a:ext cx="4416552" cy="15544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720" b="1">
                <a:solidFill>
                  <a:srgbClr val="002060"/>
                </a:solidFill>
                <a:latin typeface="Noto Sans CJK KR"/>
              </a:rPr>
              <a:t>Decision Engine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3566160"/>
            <a:ext cx="4416552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495" b="0">
                <a:solidFill>
                  <a:srgbClr val="232A32"/>
                </a:solidFill>
                <a:latin typeface="Noto Sans CJK KR"/>
              </a:rPr>
              <a:t>Consistency Check · Impact Analysis · Verification Scope · Deployment Decision · Supplier Responsibility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264408" y="3840480"/>
            <a:ext cx="0" cy="146304"/>
          </a:xfrm>
          <a:prstGeom prst="line">
            <a:avLst/>
          </a:prstGeom>
          <a:ln w="10160">
            <a:solidFill>
              <a:srgbClr val="96AA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13232" y="3986784"/>
            <a:ext cx="5102352" cy="566928"/>
          </a:xfrm>
          <a:prstGeom prst="roundRect">
            <a:avLst/>
          </a:prstGeom>
          <a:solidFill>
            <a:srgbClr val="FFF6EB"/>
          </a:solidFill>
          <a:ln w="8890">
            <a:solidFill>
              <a:srgbClr val="E87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32104" y="4114800"/>
            <a:ext cx="347472" cy="301752"/>
          </a:xfrm>
          <a:prstGeom prst="roundRect">
            <a:avLst/>
          </a:prstGeom>
          <a:solidFill>
            <a:srgbClr val="E87E26"/>
          </a:solidFill>
          <a:ln>
            <a:solidFill>
              <a:srgbClr val="E87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" y="4160520"/>
            <a:ext cx="347472" cy="10972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Noto Sans CJK KR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4078224"/>
            <a:ext cx="4416552" cy="15544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720" b="1">
                <a:solidFill>
                  <a:srgbClr val="002060"/>
                </a:solidFill>
                <a:latin typeface="Noto Sans CJK KR"/>
              </a:rPr>
              <a:t>Data / Graph Layer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4279392"/>
            <a:ext cx="4416552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495" b="0">
                <a:solidFill>
                  <a:srgbClr val="232A32"/>
                </a:solidFill>
                <a:latin typeface="Noto Sans CJK KR"/>
              </a:rPr>
              <a:t>Feature Master · Taxonomy · BOM Item · Relationship Edge · Variant Rule · Control Point · Evidence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264408" y="4553712"/>
            <a:ext cx="0" cy="146304"/>
          </a:xfrm>
          <a:prstGeom prst="line">
            <a:avLst/>
          </a:prstGeom>
          <a:ln w="10160">
            <a:solidFill>
              <a:srgbClr val="96AA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13232" y="4700016"/>
            <a:ext cx="5102352" cy="566928"/>
          </a:xfrm>
          <a:prstGeom prst="roundRect">
            <a:avLst/>
          </a:prstGeom>
          <a:solidFill>
            <a:srgbClr val="F4F1FB"/>
          </a:solidFill>
          <a:ln w="8890">
            <a:solidFill>
              <a:srgbClr val="6F5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32104" y="4828031"/>
            <a:ext cx="347472" cy="301752"/>
          </a:xfrm>
          <a:prstGeom prst="roundRect">
            <a:avLst/>
          </a:prstGeom>
          <a:solidFill>
            <a:srgbClr val="6F56AA"/>
          </a:solidFill>
          <a:ln>
            <a:solidFill>
              <a:srgbClr val="6F5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" y="4873752"/>
            <a:ext cx="347472" cy="10972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Noto Sans CJK KR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4791455"/>
            <a:ext cx="4416552" cy="15544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720" b="1">
                <a:solidFill>
                  <a:srgbClr val="002060"/>
                </a:solidFill>
                <a:latin typeface="Noto Sans CJK KR"/>
              </a:rPr>
              <a:t>Integration Layer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80160" y="4992624"/>
            <a:ext cx="4416552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495" b="0">
                <a:solidFill>
                  <a:srgbClr val="232A32"/>
                </a:solidFill>
                <a:latin typeface="Noto Sans CJK KR"/>
              </a:rPr>
              <a:t>ALM/ReqIF · PLM · Feature Flag · OTA · Test DB · Supplier Portal · Telemetry/Audit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37376" y="1847088"/>
            <a:ext cx="5029200" cy="402336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74536" y="1956816"/>
            <a:ext cx="4754880" cy="1005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675" b="1">
                <a:solidFill>
                  <a:srgbClr val="FFFFFF"/>
                </a:solidFill>
                <a:latin typeface="Noto Sans CJK KR"/>
              </a:rPr>
              <a:t>Feature ID 중심 데이터 계약 — 저장 · 조회 · 교환 · 감사 기준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37376" y="2322576"/>
            <a:ext cx="5029200" cy="384048"/>
          </a:xfrm>
          <a:prstGeom prst="rect">
            <a:avLst/>
          </a:prstGeom>
          <a:solidFill>
            <a:srgbClr val="FFFFFF"/>
          </a:solidFill>
          <a:ln w="4445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37376" y="2322576"/>
            <a:ext cx="1115568" cy="384048"/>
          </a:xfrm>
          <a:prstGeom prst="rect">
            <a:avLst/>
          </a:prstGeom>
          <a:solidFill>
            <a:srgbClr val="F7F9FC"/>
          </a:solidFill>
          <a:ln w="3175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10528" y="2386584"/>
            <a:ext cx="950976" cy="292607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560" b="1">
                <a:solidFill>
                  <a:srgbClr val="002060"/>
                </a:solidFill>
                <a:latin typeface="Noto Sans CJK KR"/>
              </a:rPr>
              <a:t>Primary Key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62672" y="2386584"/>
            <a:ext cx="3703320" cy="292607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515" b="0">
                <a:solidFill>
                  <a:srgbClr val="232A32"/>
                </a:solidFill>
                <a:latin typeface="Noto Sans CJK KR"/>
              </a:rPr>
              <a:t>Feature ID / Artifact ID / Relationship Edge ID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37376" y="2734056"/>
            <a:ext cx="5029200" cy="384048"/>
          </a:xfrm>
          <a:prstGeom prst="rect">
            <a:avLst/>
          </a:prstGeom>
          <a:solidFill>
            <a:srgbClr val="FFFFFF"/>
          </a:solidFill>
          <a:ln w="4445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37376" y="2734056"/>
            <a:ext cx="1115568" cy="384048"/>
          </a:xfrm>
          <a:prstGeom prst="rect">
            <a:avLst/>
          </a:prstGeom>
          <a:solidFill>
            <a:srgbClr val="F7F9FC"/>
          </a:solidFill>
          <a:ln w="3175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10528" y="2798064"/>
            <a:ext cx="950976" cy="292607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560" b="1">
                <a:solidFill>
                  <a:srgbClr val="002060"/>
                </a:solidFill>
                <a:latin typeface="Noto Sans CJK KR"/>
              </a:rPr>
              <a:t>Versioning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62672" y="2798064"/>
            <a:ext cx="3703320" cy="292607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515" b="0">
                <a:solidFill>
                  <a:srgbClr val="232A32"/>
                </a:solidFill>
                <a:latin typeface="Noto Sans CJK KR"/>
              </a:rPr>
              <a:t>Baseline ID + ChangeSet ID + effectiveFrom/To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37376" y="3145536"/>
            <a:ext cx="5029200" cy="384048"/>
          </a:xfrm>
          <a:prstGeom prst="rect">
            <a:avLst/>
          </a:prstGeom>
          <a:solidFill>
            <a:srgbClr val="FFFFFF"/>
          </a:solidFill>
          <a:ln w="4445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37376" y="3145536"/>
            <a:ext cx="1115568" cy="384048"/>
          </a:xfrm>
          <a:prstGeom prst="rect">
            <a:avLst/>
          </a:prstGeom>
          <a:solidFill>
            <a:srgbClr val="F7F9FC"/>
          </a:solidFill>
          <a:ln w="3175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10528" y="3209544"/>
            <a:ext cx="950976" cy="292607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560" b="1">
                <a:solidFill>
                  <a:srgbClr val="002060"/>
                </a:solidFill>
                <a:latin typeface="Noto Sans CJK KR"/>
              </a:rPr>
              <a:t>Traceability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62672" y="3209544"/>
            <a:ext cx="3703320" cy="292607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515" b="0">
                <a:solidFill>
                  <a:srgbClr val="232A32"/>
                </a:solidFill>
                <a:latin typeface="Noto Sans CJK KR"/>
              </a:rPr>
              <a:t>derives / satisfies / verifies / controls / uses_api / realized_by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37376" y="3557016"/>
            <a:ext cx="5029200" cy="384048"/>
          </a:xfrm>
          <a:prstGeom prst="rect">
            <a:avLst/>
          </a:prstGeom>
          <a:solidFill>
            <a:srgbClr val="FFFFFF"/>
          </a:solidFill>
          <a:ln w="4445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437376" y="3557016"/>
            <a:ext cx="1115568" cy="384048"/>
          </a:xfrm>
          <a:prstGeom prst="rect">
            <a:avLst/>
          </a:prstGeom>
          <a:solidFill>
            <a:srgbClr val="F7F9FC"/>
          </a:solidFill>
          <a:ln w="3175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10528" y="3621024"/>
            <a:ext cx="950976" cy="292607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560" b="1">
                <a:solidFill>
                  <a:srgbClr val="002060"/>
                </a:solidFill>
                <a:latin typeface="Noto Sans CJK KR"/>
              </a:rPr>
              <a:t>Exchange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62672" y="3621024"/>
            <a:ext cx="3703320" cy="292607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515" b="0">
                <a:solidFill>
                  <a:srgbClr val="232A32"/>
                </a:solidFill>
                <a:latin typeface="Noto Sans CJK KR"/>
              </a:rPr>
              <a:t>ReqIF import/export, OpenAPI contract, event/webhook sync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37376" y="3968496"/>
            <a:ext cx="5029200" cy="384048"/>
          </a:xfrm>
          <a:prstGeom prst="rect">
            <a:avLst/>
          </a:prstGeom>
          <a:solidFill>
            <a:srgbClr val="FFFFFF"/>
          </a:solidFill>
          <a:ln w="4445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437376" y="3968496"/>
            <a:ext cx="1115568" cy="384048"/>
          </a:xfrm>
          <a:prstGeom prst="rect">
            <a:avLst/>
          </a:prstGeom>
          <a:solidFill>
            <a:srgbClr val="F7F9FC"/>
          </a:solidFill>
          <a:ln w="3175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10528" y="4032504"/>
            <a:ext cx="950976" cy="292607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560" b="1">
                <a:solidFill>
                  <a:srgbClr val="002060"/>
                </a:solidFill>
                <a:latin typeface="Noto Sans CJK KR"/>
              </a:rPr>
              <a:t>Governance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62672" y="4032504"/>
            <a:ext cx="3703320" cy="292607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515" b="0">
                <a:solidFill>
                  <a:srgbClr val="232A32"/>
                </a:solidFill>
                <a:latin typeface="Noto Sans CJK KR"/>
              </a:rPr>
              <a:t>Owner, RBAC, approval status, audit log, data steward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37376" y="4379976"/>
            <a:ext cx="5029200" cy="384048"/>
          </a:xfrm>
          <a:prstGeom prst="rect">
            <a:avLst/>
          </a:prstGeom>
          <a:solidFill>
            <a:srgbClr val="FFFFFF"/>
          </a:solidFill>
          <a:ln w="4445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437376" y="4379976"/>
            <a:ext cx="1115568" cy="384048"/>
          </a:xfrm>
          <a:prstGeom prst="rect">
            <a:avLst/>
          </a:prstGeom>
          <a:solidFill>
            <a:srgbClr val="F7F9FC"/>
          </a:solidFill>
          <a:ln w="3175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10528" y="4443984"/>
            <a:ext cx="950976" cy="292607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560" b="1">
                <a:solidFill>
                  <a:srgbClr val="002060"/>
                </a:solidFill>
                <a:latin typeface="Noto Sans CJK KR"/>
              </a:rPr>
              <a:t>Quality Gate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62672" y="4443984"/>
            <a:ext cx="3703320" cy="292607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515" b="0">
                <a:solidFill>
                  <a:srgbClr val="232A32"/>
                </a:solidFill>
                <a:latin typeface="Noto Sans CJK KR"/>
              </a:rPr>
              <a:t>mandatory link, stale edge, orphan artifact, missing evidence check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37376" y="4937760"/>
            <a:ext cx="5029200" cy="21945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37376" y="4956048"/>
            <a:ext cx="5029200" cy="12801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710" b="1">
                <a:solidFill>
                  <a:srgbClr val="002060"/>
                </a:solidFill>
                <a:latin typeface="Noto Sans CJK KR"/>
              </a:rPr>
              <a:t>3. Source of Truth 운영 원칙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437376" y="5184648"/>
            <a:ext cx="5029200" cy="0"/>
          </a:xfrm>
          <a:prstGeom prst="line">
            <a:avLst/>
          </a:prstGeom>
          <a:ln w="11430">
            <a:solidFill>
              <a:srgbClr val="008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6437376" y="5285232"/>
            <a:ext cx="2359152" cy="365760"/>
          </a:xfrm>
          <a:prstGeom prst="roundRect">
            <a:avLst/>
          </a:prstGeom>
          <a:solidFill>
            <a:srgbClr val="F4FAFC"/>
          </a:solidFill>
          <a:ln w="5715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28816" y="5358384"/>
            <a:ext cx="2176272" cy="1005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535" b="1">
                <a:solidFill>
                  <a:srgbClr val="002060"/>
                </a:solidFill>
                <a:latin typeface="Noto Sans CJK KR"/>
              </a:rPr>
              <a:t>Single Key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28816" y="5486400"/>
            <a:ext cx="2176272" cy="12801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445" b="0">
                <a:solidFill>
                  <a:srgbClr val="232A32"/>
                </a:solidFill>
                <a:latin typeface="Noto Sans CJK KR"/>
              </a:rPr>
              <a:t>Feature ID를 모든 Artifact의 공통 연결 키로 사용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107424" y="5285232"/>
            <a:ext cx="2359152" cy="365760"/>
          </a:xfrm>
          <a:prstGeom prst="roundRect">
            <a:avLst/>
          </a:prstGeom>
          <a:solidFill>
            <a:srgbClr val="F4FAFC"/>
          </a:solidFill>
          <a:ln w="5715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98864" y="5358384"/>
            <a:ext cx="2176272" cy="1005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535" b="1">
                <a:solidFill>
                  <a:srgbClr val="002060"/>
                </a:solidFill>
                <a:latin typeface="Noto Sans CJK KR"/>
              </a:rPr>
              <a:t>Dual Store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98864" y="5486400"/>
            <a:ext cx="2176272" cy="12801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445" b="0">
                <a:solidFill>
                  <a:srgbClr val="232A32"/>
                </a:solidFill>
                <a:latin typeface="Noto Sans CJK KR"/>
              </a:rPr>
              <a:t>관계 탐색은 Graph, 속성·승인은 SQL/Document Store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437376" y="5705856"/>
            <a:ext cx="2359152" cy="365760"/>
          </a:xfrm>
          <a:prstGeom prst="roundRect">
            <a:avLst/>
          </a:prstGeom>
          <a:solidFill>
            <a:srgbClr val="F4FAFC"/>
          </a:solidFill>
          <a:ln w="5715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28816" y="5779008"/>
            <a:ext cx="2176272" cy="1005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535" b="1">
                <a:solidFill>
                  <a:srgbClr val="002060"/>
                </a:solidFill>
                <a:latin typeface="Noto Sans CJK KR"/>
              </a:rPr>
              <a:t>Versioned Baseline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28816" y="5907024"/>
            <a:ext cx="2176272" cy="12801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445" b="0">
                <a:solidFill>
                  <a:srgbClr val="232A32"/>
                </a:solidFill>
                <a:latin typeface="Noto Sans CJK KR"/>
              </a:rPr>
              <a:t>BOM·Edge 변경은 ChangeSet으로 기록하고 비교 가능해야 함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107424" y="5705856"/>
            <a:ext cx="2359152" cy="365760"/>
          </a:xfrm>
          <a:prstGeom prst="roundRect">
            <a:avLst/>
          </a:prstGeom>
          <a:solidFill>
            <a:srgbClr val="F4FAFC"/>
          </a:solidFill>
          <a:ln w="5715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198864" y="5779008"/>
            <a:ext cx="2176272" cy="1005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535" b="1">
                <a:solidFill>
                  <a:srgbClr val="002060"/>
                </a:solidFill>
                <a:latin typeface="Noto Sans CJK KR"/>
              </a:rPr>
              <a:t>API-first Sync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98864" y="5907024"/>
            <a:ext cx="2176272" cy="12801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445" b="0">
                <a:solidFill>
                  <a:srgbClr val="232A32"/>
                </a:solidFill>
                <a:latin typeface="Noto Sans CJK KR"/>
              </a:rPr>
              <a:t>외부 도구는 API/Webhook/ReqIF로 동기화하고 Audit를 남김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12064" y="6199632"/>
            <a:ext cx="11137392" cy="320040"/>
          </a:xfrm>
          <a:prstGeom prst="roundRect">
            <a:avLst/>
          </a:prstGeom>
          <a:solidFill>
            <a:srgbClr val="EBF2FC"/>
          </a:solidFill>
          <a:ln w="7620">
            <a:solidFill>
              <a:srgbClr val="A5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49808" y="6281928"/>
            <a:ext cx="10698480" cy="1005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35" b="1">
                <a:solidFill>
                  <a:srgbClr val="002060"/>
                </a:solidFill>
                <a:latin typeface="Noto Sans CJK KR"/>
              </a:rPr>
              <a:t>핵심 : Registry는 “화면”이 아니라 Feature 기준정보·관계·변경 이력·의사결정 증적을 관리하는 Authoritative Source of Truth 계층이다.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2064" y="6629400"/>
            <a:ext cx="10972800" cy="1097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/>
            <a:r>
              <a:rPr sz="434" b="0">
                <a:solidFill>
                  <a:srgbClr val="6E6E6E"/>
                </a:solidFill>
                <a:latin typeface="Noto Sans CJK KR"/>
              </a:rPr>
              <a:t>출처 / 근거 / 참조 : ISO/IEC/IEEE 29148:2018 Requirements Engineering; OMG ReqIF 1.2; OMG SysML 2.0; OpenAPI Specification 3.2.0; OpenFeature Specification; Mutuus Lab Feature Topology internal design.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64592"/>
            <a:ext cx="50292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19" b="1">
                <a:solidFill>
                  <a:srgbClr val="008060"/>
                </a:solidFill>
                <a:latin typeface="Arial"/>
              </a:rPr>
              <a:t>03-2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00584"/>
            <a:ext cx="100126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통합 메타모델 &amp; Consistency Rules — 데이터 정합성 상세 설계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749808"/>
            <a:ext cx="36576" cy="29260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694944"/>
            <a:ext cx="10972800" cy="3657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50" b="0">
                <a:solidFill>
                  <a:srgbClr val="232A34"/>
                </a:solidFill>
                <a:latin typeface="Arial"/>
              </a:rPr>
              <a:t>Registry는 Feature 중심 Entity Graph를 저장하는 것만으로 충분하지 않다. 필수 연결·상태 전이·증적·변경 이력 Rule을 실행해 “배포 가능한 데이터 품질”을 보장해야 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" y="1069848"/>
            <a:ext cx="10972800" cy="283464"/>
          </a:xfrm>
          <a:prstGeom prst="roundRect">
            <a:avLst/>
          </a:prstGeom>
          <a:solidFill>
            <a:srgbClr val="ECF4FC"/>
          </a:solidFill>
          <a:ln w="508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120140"/>
            <a:ext cx="10698480" cy="11887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70" b="1">
                <a:solidFill>
                  <a:srgbClr val="002060"/>
                </a:solidFill>
                <a:latin typeface="Arial"/>
              </a:rPr>
              <a:t>설계 원칙: Entity 정의 → Relationship 정의 → Consistency Rule 실행 → Gate 결과 저장 → Impact/Release Decision에 재사용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3063240" cy="4050791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72768"/>
            <a:ext cx="2788920" cy="2103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19" b="1">
                <a:solidFill>
                  <a:srgbClr val="002060"/>
                </a:solidFill>
                <a:latin typeface="Arial"/>
              </a:rPr>
              <a:t>1. Meta-model Entity Groups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01368"/>
            <a:ext cx="278892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590" b="0">
                <a:solidFill>
                  <a:srgbClr val="565F6E"/>
                </a:solidFill>
                <a:latin typeface="Arial"/>
              </a:rPr>
              <a:t>Feature를 중심으로 18개 Entity를 4개 설계 그룹으로 구조화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1481328"/>
            <a:ext cx="2834640" cy="4050791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1572768"/>
            <a:ext cx="2560320" cy="2103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19" b="1">
                <a:solidFill>
                  <a:srgbClr val="002060"/>
                </a:solidFill>
                <a:latin typeface="Arial"/>
              </a:rPr>
              <a:t>2. Rule Execution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1801368"/>
            <a:ext cx="256032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590" b="0">
                <a:solidFill>
                  <a:srgbClr val="565F6E"/>
                </a:solidFill>
                <a:latin typeface="Arial"/>
              </a:rPr>
              <a:t>데이터 입력·변경 시 Rule Engine이 정합성·Gate를 판정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1481328"/>
            <a:ext cx="4892040" cy="4050791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1572768"/>
            <a:ext cx="4617720" cy="2103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19" b="1">
                <a:solidFill>
                  <a:srgbClr val="002060"/>
                </a:solidFill>
                <a:latin typeface="Arial"/>
              </a:rPr>
              <a:t>3. Consistency Rule Catalog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1801368"/>
            <a:ext cx="461772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590" b="0">
                <a:solidFill>
                  <a:srgbClr val="565F6E"/>
                </a:solidFill>
                <a:latin typeface="Arial"/>
              </a:rPr>
              <a:t>필수 Link, Evidence, Change, Safety/Security, Supplier 규칙 · S=B/W/I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44168" y="2139696"/>
            <a:ext cx="1389888" cy="548640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99032" y="2249424"/>
            <a:ext cx="128016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Feature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2432304"/>
            <a:ext cx="1280160" cy="11887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570" b="1">
                <a:solidFill>
                  <a:srgbClr val="FFFFFF"/>
                </a:solidFill>
                <a:latin typeface="Arial"/>
              </a:rPr>
              <a:t>central entity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2852928"/>
            <a:ext cx="2697480" cy="530352"/>
          </a:xfrm>
          <a:prstGeom prst="roundRect">
            <a:avLst/>
          </a:prstGeom>
          <a:solidFill>
            <a:srgbClr val="ECF4FC"/>
          </a:solidFill>
          <a:ln w="5715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2944368"/>
            <a:ext cx="73152" cy="347471"/>
          </a:xfrm>
          <a:prstGeom prst="rect">
            <a:avLst/>
          </a:prstGeom>
          <a:solidFill>
            <a:srgbClr val="1487A0"/>
          </a:solidFill>
          <a:ln>
            <a:solidFill>
              <a:srgbClr val="148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2944368"/>
            <a:ext cx="237744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625" b="1">
                <a:solidFill>
                  <a:srgbClr val="002060"/>
                </a:solidFill>
                <a:latin typeface="Arial"/>
              </a:rPr>
              <a:t>Feature 기준정보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136392"/>
            <a:ext cx="2377440" cy="201167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515" b="0">
                <a:solidFill>
                  <a:srgbClr val="232A34"/>
                </a:solidFill>
                <a:latin typeface="Arial"/>
              </a:rPr>
              <a:t>TaxonomyNode · FeatureBOM · BOMItem · Requirement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529584"/>
            <a:ext cx="2697480" cy="530352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3621024"/>
            <a:ext cx="73152" cy="347471"/>
          </a:xfrm>
          <a:prstGeom prst="rect">
            <a:avLst/>
          </a:prstGeom>
          <a:solidFill>
            <a:srgbClr val="00448C"/>
          </a:solidFill>
          <a:ln>
            <a:solidFill>
              <a:srgbClr val="004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621024"/>
            <a:ext cx="237744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625" b="1">
                <a:solidFill>
                  <a:srgbClr val="002060"/>
                </a:solidFill>
                <a:latin typeface="Arial"/>
              </a:rPr>
              <a:t>Architecture &amp; Interface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813048"/>
            <a:ext cx="2377440" cy="201167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515" b="0">
                <a:solidFill>
                  <a:srgbClr val="232A34"/>
                </a:solidFill>
                <a:latin typeface="Arial"/>
              </a:rPr>
              <a:t>SWComponent · ECU · APIService · Signal · DTC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206240"/>
            <a:ext cx="2697480" cy="530352"/>
          </a:xfrm>
          <a:prstGeom prst="roundRect">
            <a:avLst/>
          </a:prstGeom>
          <a:solidFill>
            <a:srgbClr val="ECF7F1"/>
          </a:solidFill>
          <a:ln w="5715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4297679"/>
            <a:ext cx="73152" cy="347471"/>
          </a:xfrm>
          <a:prstGeom prst="rect">
            <a:avLst/>
          </a:prstGeom>
          <a:solidFill>
            <a:srgbClr val="008060"/>
          </a:solidFill>
          <a:ln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297679"/>
            <a:ext cx="237744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625" b="1">
                <a:solidFill>
                  <a:srgbClr val="002060"/>
                </a:solidFill>
                <a:latin typeface="Arial"/>
              </a:rPr>
              <a:t>Control &amp; Deployment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489703"/>
            <a:ext cx="2377440" cy="201167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515" b="0">
                <a:solidFill>
                  <a:srgbClr val="232A34"/>
                </a:solidFill>
                <a:latin typeface="Arial"/>
              </a:rPr>
              <a:t>VariantRule · ControlPoint · DeploymentUnit · RollbackPlan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882896"/>
            <a:ext cx="2697480" cy="530352"/>
          </a:xfrm>
          <a:prstGeom prst="roundRect">
            <a:avLst/>
          </a:prstGeom>
          <a:solidFill>
            <a:srgbClr val="F5F2FA"/>
          </a:solidFill>
          <a:ln w="5715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" y="4974336"/>
            <a:ext cx="73152" cy="347471"/>
          </a:xfrm>
          <a:prstGeom prst="rect">
            <a:avLst/>
          </a:prstGeom>
          <a:solidFill>
            <a:srgbClr val="705DAA"/>
          </a:solidFill>
          <a:ln>
            <a:solidFill>
              <a:srgbClr val="705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974336"/>
            <a:ext cx="237744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625" b="1">
                <a:solidFill>
                  <a:srgbClr val="002060"/>
                </a:solidFill>
                <a:latin typeface="Arial"/>
              </a:rPr>
              <a:t>Verification &amp; Operations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166359"/>
            <a:ext cx="2377440" cy="201167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515" b="0">
                <a:solidFill>
                  <a:srgbClr val="232A34"/>
                </a:solidFill>
                <a:latin typeface="Arial"/>
              </a:rPr>
              <a:t>TestCase · TestEvidence · SupplierFunction · TelemetryEvent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039112" y="2688336"/>
            <a:ext cx="0" cy="164592"/>
          </a:xfrm>
          <a:prstGeom prst="line">
            <a:avLst/>
          </a:prstGeom>
          <a:ln w="6985">
            <a:solidFill>
              <a:srgbClr val="96A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039112" y="2688336"/>
            <a:ext cx="0" cy="841248"/>
          </a:xfrm>
          <a:prstGeom prst="line">
            <a:avLst/>
          </a:prstGeom>
          <a:ln w="6985">
            <a:solidFill>
              <a:srgbClr val="96A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039112" y="2688336"/>
            <a:ext cx="0" cy="1517904"/>
          </a:xfrm>
          <a:prstGeom prst="line">
            <a:avLst/>
          </a:prstGeom>
          <a:ln w="6985">
            <a:solidFill>
              <a:srgbClr val="96A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039112" y="2688336"/>
            <a:ext cx="0" cy="2194560"/>
          </a:xfrm>
          <a:prstGeom prst="line">
            <a:avLst/>
          </a:prstGeom>
          <a:ln w="6985">
            <a:solidFill>
              <a:srgbClr val="96A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85800" y="1847088"/>
            <a:ext cx="2697480" cy="201168"/>
          </a:xfrm>
          <a:prstGeom prst="roundRect">
            <a:avLst/>
          </a:prstGeom>
          <a:solidFill>
            <a:srgbClr val="E0E8F4"/>
          </a:solidFill>
          <a:ln w="381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8952" y="1883664"/>
            <a:ext cx="2542032" cy="731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509" b="1">
                <a:solidFill>
                  <a:srgbClr val="002060"/>
                </a:solidFill>
                <a:latin typeface="Arial"/>
              </a:rPr>
              <a:t>Feature ID는 모든 Entity의 공통 연결 Key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968496" y="2057400"/>
            <a:ext cx="2395728" cy="484632"/>
          </a:xfrm>
          <a:prstGeom prst="roundRect">
            <a:avLst/>
          </a:prstGeom>
          <a:solidFill>
            <a:srgbClr val="ECF4FC"/>
          </a:solidFill>
          <a:ln w="5715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050791" y="2157984"/>
            <a:ext cx="274320" cy="246888"/>
          </a:xfrm>
          <a:prstGeom prst="roundRect">
            <a:avLst/>
          </a:prstGeom>
          <a:solidFill>
            <a:srgbClr val="1487A0"/>
          </a:solidFill>
          <a:ln>
            <a:solidFill>
              <a:srgbClr val="148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50791" y="2171700"/>
            <a:ext cx="274320" cy="1463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98264" y="2130552"/>
            <a:ext cx="1892808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595" b="1">
                <a:solidFill>
                  <a:srgbClr val="002060"/>
                </a:solidFill>
                <a:latin typeface="Arial"/>
              </a:rPr>
              <a:t>Change Event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98264" y="2313432"/>
            <a:ext cx="1892808" cy="2103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490" b="0">
                <a:solidFill>
                  <a:srgbClr val="232A34"/>
                </a:solidFill>
                <a:latin typeface="Arial"/>
              </a:rPr>
              <a:t>Feature/BOM/Edge/Policy/API/Test 변경 발생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166360" y="2542032"/>
            <a:ext cx="0" cy="100584"/>
          </a:xfrm>
          <a:prstGeom prst="line">
            <a:avLst/>
          </a:prstGeom>
          <a:ln w="9525">
            <a:solidFill>
              <a:srgbClr val="879B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3968496" y="2642616"/>
            <a:ext cx="2395728" cy="484632"/>
          </a:xfrm>
          <a:prstGeom prst="roundRect">
            <a:avLst/>
          </a:prstGeom>
          <a:solidFill>
            <a:srgbClr val="FFFFFF"/>
          </a:solidFill>
          <a:ln w="5715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050791" y="2743200"/>
            <a:ext cx="274320" cy="246888"/>
          </a:xfrm>
          <a:prstGeom prst="roundRect">
            <a:avLst/>
          </a:prstGeom>
          <a:solidFill>
            <a:srgbClr val="00448C"/>
          </a:solidFill>
          <a:ln>
            <a:solidFill>
              <a:srgbClr val="004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50791" y="2756916"/>
            <a:ext cx="274320" cy="1463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98264" y="2715768"/>
            <a:ext cx="1892808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595" b="1">
                <a:solidFill>
                  <a:srgbClr val="002060"/>
                </a:solidFill>
                <a:latin typeface="Arial"/>
              </a:rPr>
              <a:t>Rule Engine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98264" y="2898648"/>
            <a:ext cx="1892808" cy="2103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490" b="0">
                <a:solidFill>
                  <a:srgbClr val="232A34"/>
                </a:solidFill>
                <a:latin typeface="Arial"/>
              </a:rPr>
              <a:t>Required Link · Lifecycle · Evidence · Safety · Supplier 규칙 실행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166360" y="3127248"/>
            <a:ext cx="0" cy="100584"/>
          </a:xfrm>
          <a:prstGeom prst="line">
            <a:avLst/>
          </a:prstGeom>
          <a:ln w="9525">
            <a:solidFill>
              <a:srgbClr val="879B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3968496" y="3227832"/>
            <a:ext cx="2395728" cy="484632"/>
          </a:xfrm>
          <a:prstGeom prst="roundRect">
            <a:avLst/>
          </a:prstGeom>
          <a:solidFill>
            <a:srgbClr val="ECF7F1"/>
          </a:solidFill>
          <a:ln w="5715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050791" y="3328416"/>
            <a:ext cx="274320" cy="246888"/>
          </a:xfrm>
          <a:prstGeom prst="roundRect">
            <a:avLst/>
          </a:prstGeom>
          <a:solidFill>
            <a:srgbClr val="008060"/>
          </a:solidFill>
          <a:ln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050791" y="3342132"/>
            <a:ext cx="274320" cy="1463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98264" y="3300984"/>
            <a:ext cx="1892808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595" b="1">
                <a:solidFill>
                  <a:srgbClr val="002060"/>
                </a:solidFill>
                <a:latin typeface="Arial"/>
              </a:rPr>
              <a:t>Gate Result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98264" y="3483864"/>
            <a:ext cx="1892808" cy="2103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490" b="0">
                <a:solidFill>
                  <a:srgbClr val="232A34"/>
                </a:solidFill>
                <a:latin typeface="Arial"/>
              </a:rPr>
              <a:t>PASS / WARN / BLOCK + 실패 사유 저장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166360" y="3712464"/>
            <a:ext cx="0" cy="100584"/>
          </a:xfrm>
          <a:prstGeom prst="line">
            <a:avLst/>
          </a:prstGeom>
          <a:ln w="9525">
            <a:solidFill>
              <a:srgbClr val="879B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3968496" y="3813048"/>
            <a:ext cx="2395728" cy="484632"/>
          </a:xfrm>
          <a:prstGeom prst="roundRect">
            <a:avLst/>
          </a:prstGeom>
          <a:solidFill>
            <a:srgbClr val="FFF5EB"/>
          </a:solidFill>
          <a:ln w="5715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4050791" y="3913632"/>
            <a:ext cx="274320" cy="246888"/>
          </a:xfrm>
          <a:prstGeom prst="roundRect">
            <a:avLst/>
          </a:prstGeom>
          <a:solidFill>
            <a:srgbClr val="E87E26"/>
          </a:solidFill>
          <a:ln>
            <a:solidFill>
              <a:srgbClr val="E87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050791" y="3927348"/>
            <a:ext cx="274320" cy="1463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98264" y="3886200"/>
            <a:ext cx="1892808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595" b="1">
                <a:solidFill>
                  <a:srgbClr val="002060"/>
                </a:solidFill>
                <a:latin typeface="Arial"/>
              </a:rPr>
              <a:t>Evidence Log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98264" y="4069080"/>
            <a:ext cx="1892808" cy="2103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490" b="0">
                <a:solidFill>
                  <a:srgbClr val="232A34"/>
                </a:solidFill>
                <a:latin typeface="Arial"/>
              </a:rPr>
              <a:t>ChangeSet · Audit · Decision Evidence 기록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166360" y="4297680"/>
            <a:ext cx="0" cy="100584"/>
          </a:xfrm>
          <a:prstGeom prst="line">
            <a:avLst/>
          </a:prstGeom>
          <a:ln w="9525">
            <a:solidFill>
              <a:srgbClr val="879B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3968496" y="4398264"/>
            <a:ext cx="2395728" cy="484632"/>
          </a:xfrm>
          <a:prstGeom prst="roundRect">
            <a:avLst/>
          </a:prstGeom>
          <a:solidFill>
            <a:srgbClr val="F5F2FA"/>
          </a:solidFill>
          <a:ln w="5715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4050791" y="4498848"/>
            <a:ext cx="274320" cy="246888"/>
          </a:xfrm>
          <a:prstGeom prst="roundRect">
            <a:avLst/>
          </a:prstGeom>
          <a:solidFill>
            <a:srgbClr val="705DAA"/>
          </a:solidFill>
          <a:ln>
            <a:solidFill>
              <a:srgbClr val="705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050791" y="4512564"/>
            <a:ext cx="274320" cy="1463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98264" y="4471416"/>
            <a:ext cx="1892808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595" b="1">
                <a:solidFill>
                  <a:srgbClr val="002060"/>
                </a:solidFill>
                <a:latin typeface="Arial"/>
              </a:rPr>
              <a:t>Decision Reuse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98264" y="4654296"/>
            <a:ext cx="1892808" cy="2103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490" b="0">
                <a:solidFill>
                  <a:srgbClr val="232A34"/>
                </a:solidFill>
                <a:latin typeface="Arial"/>
              </a:rPr>
              <a:t>Impact Analysis · Release Readiness · Supplier Report 재사용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968496" y="5074920"/>
            <a:ext cx="2395728" cy="274320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059936" y="5129784"/>
            <a:ext cx="2221992" cy="8229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545" b="1">
                <a:solidFill>
                  <a:srgbClr val="FFFFFF"/>
                </a:solidFill>
                <a:latin typeface="Arial"/>
              </a:rPr>
              <a:t>Rule Result는 Release Gate의 입력값으로 저장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967728" y="2011680"/>
            <a:ext cx="4480560" cy="25603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040880" y="2071116"/>
            <a:ext cx="274320" cy="731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ID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60920" y="2071116"/>
            <a:ext cx="786384" cy="731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Category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57031" y="2071116"/>
            <a:ext cx="1554480" cy="731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Condition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857232" y="2071116"/>
            <a:ext cx="1097280" cy="731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Action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137392" y="2071116"/>
            <a:ext cx="201168" cy="731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967728" y="2304288"/>
            <a:ext cx="4480560" cy="329184"/>
          </a:xfrm>
          <a:prstGeom prst="rect">
            <a:avLst/>
          </a:prstGeom>
          <a:solidFill>
            <a:srgbClr val="FFFFFF"/>
          </a:solidFill>
          <a:ln w="4445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022592" y="2377440"/>
            <a:ext cx="301752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530" b="1">
                <a:solidFill>
                  <a:srgbClr val="002060"/>
                </a:solidFill>
                <a:latin typeface="Arial"/>
              </a:rPr>
              <a:t>R01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60920" y="2377440"/>
            <a:ext cx="86868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515" b="1">
                <a:solidFill>
                  <a:srgbClr val="1487A0"/>
                </a:solidFill>
                <a:latin typeface="Arial"/>
              </a:rPr>
              <a:t>Required Link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29600" y="2359152"/>
            <a:ext cx="1664208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455" b="0">
                <a:solidFill>
                  <a:srgbClr val="232A34"/>
                </a:solidFill>
                <a:latin typeface="Arial"/>
              </a:rPr>
              <a:t>L2 Feature has no Requirement/Owner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921240" y="2359152"/>
            <a:ext cx="1307592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455" b="0">
                <a:solidFill>
                  <a:srgbClr val="232A34"/>
                </a:solidFill>
                <a:latin typeface="Arial"/>
              </a:rPr>
              <a:t>Block release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265408" y="2377440"/>
            <a:ext cx="20116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455" b="1">
                <a:solidFill>
                  <a:srgbClr val="C44141"/>
                </a:solidFill>
                <a:latin typeface="Arial"/>
              </a:rPr>
              <a:t>B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967728" y="2660904"/>
            <a:ext cx="4480560" cy="329184"/>
          </a:xfrm>
          <a:prstGeom prst="rect">
            <a:avLst/>
          </a:prstGeom>
          <a:solidFill>
            <a:srgbClr val="FAFCFF"/>
          </a:solidFill>
          <a:ln w="4445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022592" y="2734056"/>
            <a:ext cx="301752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530" b="1">
                <a:solidFill>
                  <a:srgbClr val="002060"/>
                </a:solidFill>
                <a:latin typeface="Arial"/>
              </a:rPr>
              <a:t>R02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360920" y="2734056"/>
            <a:ext cx="86868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515" b="1">
                <a:solidFill>
                  <a:srgbClr val="1487A0"/>
                </a:solidFill>
                <a:latin typeface="Arial"/>
              </a:rPr>
              <a:t>Evidence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229600" y="2715768"/>
            <a:ext cx="1664208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455" b="0">
                <a:solidFill>
                  <a:srgbClr val="232A34"/>
                </a:solidFill>
                <a:latin typeface="Arial"/>
              </a:rPr>
              <a:t>Released Feature missing Test Evidence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921240" y="2715768"/>
            <a:ext cx="1307592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455" b="0">
                <a:solidFill>
                  <a:srgbClr val="232A34"/>
                </a:solidFill>
                <a:latin typeface="Arial"/>
              </a:rPr>
              <a:t>Block release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265408" y="2734056"/>
            <a:ext cx="20116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455" b="1">
                <a:solidFill>
                  <a:srgbClr val="C44141"/>
                </a:solidFill>
                <a:latin typeface="Arial"/>
              </a:rPr>
              <a:t>B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967728" y="3017520"/>
            <a:ext cx="4480560" cy="329184"/>
          </a:xfrm>
          <a:prstGeom prst="rect">
            <a:avLst/>
          </a:prstGeom>
          <a:solidFill>
            <a:srgbClr val="FFFFFF"/>
          </a:solidFill>
          <a:ln w="4445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022592" y="3090672"/>
            <a:ext cx="301752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530" b="1">
                <a:solidFill>
                  <a:srgbClr val="002060"/>
                </a:solidFill>
                <a:latin typeface="Arial"/>
              </a:rPr>
              <a:t>R03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360920" y="3090672"/>
            <a:ext cx="86868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515" b="1">
                <a:solidFill>
                  <a:srgbClr val="1487A0"/>
                </a:solidFill>
                <a:latin typeface="Arial"/>
              </a:rPr>
              <a:t>Runtime Control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229600" y="3072384"/>
            <a:ext cx="1664208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455" b="0">
                <a:solidFill>
                  <a:srgbClr val="232A34"/>
                </a:solidFill>
                <a:latin typeface="Arial"/>
              </a:rPr>
              <a:t>ControlPoint exists but Safe Default/Rollback missing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921240" y="3072384"/>
            <a:ext cx="1307592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455" b="0">
                <a:solidFill>
                  <a:srgbClr val="232A34"/>
                </a:solidFill>
                <a:latin typeface="Arial"/>
              </a:rPr>
              <a:t>Block deploy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265408" y="3090672"/>
            <a:ext cx="20116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455" b="1">
                <a:solidFill>
                  <a:srgbClr val="C44141"/>
                </a:solidFill>
                <a:latin typeface="Arial"/>
              </a:rPr>
              <a:t>B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967728" y="3374136"/>
            <a:ext cx="4480560" cy="329184"/>
          </a:xfrm>
          <a:prstGeom prst="rect">
            <a:avLst/>
          </a:prstGeom>
          <a:solidFill>
            <a:srgbClr val="FAFCFF"/>
          </a:solidFill>
          <a:ln w="4445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022592" y="3447288"/>
            <a:ext cx="301752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530" b="1">
                <a:solidFill>
                  <a:srgbClr val="002060"/>
                </a:solidFill>
                <a:latin typeface="Arial"/>
              </a:rPr>
              <a:t>R04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360920" y="3447288"/>
            <a:ext cx="86868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515" b="1">
                <a:solidFill>
                  <a:srgbClr val="1487A0"/>
                </a:solidFill>
                <a:latin typeface="Arial"/>
              </a:rPr>
              <a:t>Variant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229600" y="3429000"/>
            <a:ext cx="1664208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455" b="0">
                <a:solidFill>
                  <a:srgbClr val="232A34"/>
                </a:solidFill>
                <a:latin typeface="Arial"/>
              </a:rPr>
              <a:t>VariantRule missing for Production target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921240" y="3429000"/>
            <a:ext cx="1307592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455" b="0">
                <a:solidFill>
                  <a:srgbClr val="232A34"/>
                </a:solidFill>
                <a:latin typeface="Arial"/>
              </a:rPr>
              <a:t>Block activation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265408" y="3447288"/>
            <a:ext cx="20116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455" b="1">
                <a:solidFill>
                  <a:srgbClr val="C44141"/>
                </a:solidFill>
                <a:latin typeface="Arial"/>
              </a:rPr>
              <a:t>B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967728" y="3730752"/>
            <a:ext cx="4480560" cy="329184"/>
          </a:xfrm>
          <a:prstGeom prst="rect">
            <a:avLst/>
          </a:prstGeom>
          <a:solidFill>
            <a:srgbClr val="FFFFFF"/>
          </a:solidFill>
          <a:ln w="4445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022592" y="3803904"/>
            <a:ext cx="301752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530" b="1">
                <a:solidFill>
                  <a:srgbClr val="002060"/>
                </a:solidFill>
                <a:latin typeface="Arial"/>
              </a:rPr>
              <a:t>R05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360920" y="3803904"/>
            <a:ext cx="86868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515" b="1">
                <a:solidFill>
                  <a:srgbClr val="1487A0"/>
                </a:solidFill>
                <a:latin typeface="Arial"/>
              </a:rPr>
              <a:t>Safety/Sec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229600" y="3785615"/>
            <a:ext cx="1664208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455" b="0">
                <a:solidFill>
                  <a:srgbClr val="232A34"/>
                </a:solidFill>
                <a:latin typeface="Arial"/>
              </a:rPr>
              <a:t>Safety/Security impact flag = true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921240" y="3785615"/>
            <a:ext cx="1307592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455" b="0">
                <a:solidFill>
                  <a:srgbClr val="232A34"/>
                </a:solidFill>
                <a:latin typeface="Arial"/>
              </a:rPr>
              <a:t>Require gate evidence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265408" y="3803904"/>
            <a:ext cx="20116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455" b="1">
                <a:solidFill>
                  <a:srgbClr val="C44141"/>
                </a:solidFill>
                <a:latin typeface="Arial"/>
              </a:rPr>
              <a:t>B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967728" y="4087368"/>
            <a:ext cx="4480560" cy="329184"/>
          </a:xfrm>
          <a:prstGeom prst="rect">
            <a:avLst/>
          </a:prstGeom>
          <a:solidFill>
            <a:srgbClr val="FAFCFF"/>
          </a:solidFill>
          <a:ln w="4445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022592" y="4160520"/>
            <a:ext cx="301752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530" b="1">
                <a:solidFill>
                  <a:srgbClr val="002060"/>
                </a:solidFill>
                <a:latin typeface="Arial"/>
              </a:rPr>
              <a:t>R06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360920" y="4160520"/>
            <a:ext cx="86868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515" b="1">
                <a:solidFill>
                  <a:srgbClr val="1487A0"/>
                </a:solidFill>
                <a:latin typeface="Arial"/>
              </a:rPr>
              <a:t>Supplier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229600" y="4142231"/>
            <a:ext cx="1664208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455" b="0">
                <a:solidFill>
                  <a:srgbClr val="232A34"/>
                </a:solidFill>
                <a:latin typeface="Arial"/>
              </a:rPr>
              <a:t>Supplier SWC/API used without SupplierFunction ID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921240" y="4142231"/>
            <a:ext cx="1307592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455" b="0">
                <a:solidFill>
                  <a:srgbClr val="232A34"/>
                </a:solidFill>
                <a:latin typeface="Arial"/>
              </a:rPr>
              <a:t>Warn / block package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1265408" y="4160520"/>
            <a:ext cx="20116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455" b="1">
                <a:solidFill>
                  <a:srgbClr val="E87E26"/>
                </a:solidFill>
                <a:latin typeface="Arial"/>
              </a:rPr>
              <a:t>W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967728" y="4443983"/>
            <a:ext cx="4480560" cy="329184"/>
          </a:xfrm>
          <a:prstGeom prst="rect">
            <a:avLst/>
          </a:prstGeom>
          <a:solidFill>
            <a:srgbClr val="FFFFFF"/>
          </a:solidFill>
          <a:ln w="4445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022592" y="4517136"/>
            <a:ext cx="301752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530" b="1">
                <a:solidFill>
                  <a:srgbClr val="002060"/>
                </a:solidFill>
                <a:latin typeface="Arial"/>
              </a:rPr>
              <a:t>R07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360920" y="4517136"/>
            <a:ext cx="86868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515" b="1">
                <a:solidFill>
                  <a:srgbClr val="1487A0"/>
                </a:solidFill>
                <a:latin typeface="Arial"/>
              </a:rPr>
              <a:t>Lifecycle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229600" y="4498847"/>
            <a:ext cx="1664208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455" b="0">
                <a:solidFill>
                  <a:srgbClr val="232A34"/>
                </a:solidFill>
                <a:latin typeface="Arial"/>
              </a:rPr>
              <a:t>Deprecated Feature has new ControlPoint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921240" y="4498847"/>
            <a:ext cx="1307592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455" b="0">
                <a:solidFill>
                  <a:srgbClr val="232A34"/>
                </a:solidFill>
                <a:latin typeface="Arial"/>
              </a:rPr>
              <a:t>Block creation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1265408" y="4517136"/>
            <a:ext cx="20116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455" b="1">
                <a:solidFill>
                  <a:srgbClr val="C44141"/>
                </a:solidFill>
                <a:latin typeface="Arial"/>
              </a:rPr>
              <a:t>B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967728" y="4800599"/>
            <a:ext cx="4480560" cy="329184"/>
          </a:xfrm>
          <a:prstGeom prst="rect">
            <a:avLst/>
          </a:prstGeom>
          <a:solidFill>
            <a:srgbClr val="FAFCFF"/>
          </a:solidFill>
          <a:ln w="4445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022592" y="4873751"/>
            <a:ext cx="301752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530" b="1">
                <a:solidFill>
                  <a:srgbClr val="002060"/>
                </a:solidFill>
                <a:latin typeface="Arial"/>
              </a:rPr>
              <a:t>R08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360920" y="4873751"/>
            <a:ext cx="86868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515" b="1">
                <a:solidFill>
                  <a:srgbClr val="1487A0"/>
                </a:solidFill>
                <a:latin typeface="Arial"/>
              </a:rPr>
              <a:t>Change Impact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229600" y="4855463"/>
            <a:ext cx="1664208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455" b="0">
                <a:solidFill>
                  <a:srgbClr val="232A34"/>
                </a:solidFill>
                <a:latin typeface="Arial"/>
              </a:rPr>
              <a:t>API/BOM Baseline changed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921240" y="4855463"/>
            <a:ext cx="1307592" cy="2560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455" b="0">
                <a:solidFill>
                  <a:srgbClr val="232A34"/>
                </a:solidFill>
                <a:latin typeface="Arial"/>
              </a:rPr>
              <a:t>Trigger Impact + ChangeSet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1265408" y="4873751"/>
            <a:ext cx="201168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455" b="1">
                <a:solidFill>
                  <a:srgbClr val="008060"/>
                </a:solidFill>
                <a:latin typeface="Arial"/>
              </a:rPr>
              <a:t>I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967728" y="5239512"/>
            <a:ext cx="4480560" cy="164592"/>
          </a:xfrm>
          <a:prstGeom prst="roundRect">
            <a:avLst/>
          </a:prstGeom>
          <a:solidFill>
            <a:srgbClr val="E0E8F4"/>
          </a:solidFill>
          <a:ln w="381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077456" y="5271516"/>
            <a:ext cx="4270248" cy="548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475" b="1">
                <a:solidFill>
                  <a:srgbClr val="002060"/>
                </a:solidFill>
                <a:latin typeface="Arial"/>
              </a:rPr>
              <a:t>BDC-001 예시: Verification Gate 미완 → Release Readiness = 8/9 PASS, Production 활성화는 OTA Rollback Test 완료 후 허용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502920" y="5669280"/>
            <a:ext cx="11155680" cy="384048"/>
          </a:xfrm>
          <a:prstGeom prst="roundRect">
            <a:avLst/>
          </a:prstGeom>
          <a:solidFill>
            <a:srgbClr val="ECF4FC"/>
          </a:solidFill>
          <a:ln w="508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85800" y="5742432"/>
            <a:ext cx="1280160" cy="1097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610" b="1">
                <a:solidFill>
                  <a:srgbClr val="002060"/>
                </a:solidFill>
                <a:latin typeface="Arial"/>
              </a:rPr>
              <a:t>Rule 설계 기준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783080" y="5742432"/>
            <a:ext cx="9646920" cy="1097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565" b="0">
                <a:solidFill>
                  <a:srgbClr val="232A34"/>
                </a:solidFill>
                <a:latin typeface="Arial"/>
              </a:rPr>
              <a:t>Rule은 사람이 읽는 체크리스트가 아니라, Registry 저장·수정·승인·배포 시점에 실행되는 데이터 품질 Gate로 구현한다.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783080" y="5897880"/>
            <a:ext cx="9646920" cy="914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555" b="0">
                <a:solidFill>
                  <a:srgbClr val="232A34"/>
                </a:solidFill>
                <a:latin typeface="Arial"/>
              </a:rPr>
              <a:t>모든 Rule 결과는 Feature ID, Baseline ID, ChangeSet ID, actor, timestamp와 함께 Audit/Decision Evidence로 보존한다.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502920" y="6199632"/>
            <a:ext cx="11201400" cy="39319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31520" y="6281928"/>
            <a:ext cx="10789920" cy="1463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775" b="1">
                <a:solidFill>
                  <a:srgbClr val="FFFFFF"/>
                </a:solidFill>
                <a:latin typeface="Arial"/>
              </a:rPr>
              <a:t>핵심: 통합 메타모델의 품질은 Entity 개수보다 “필수 관계와 증적을 자동 검증하는 Consistency Rule”로 결정된다.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02920" y="6656832"/>
            <a:ext cx="10881360" cy="914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475" b="0">
                <a:solidFill>
                  <a:srgbClr val="707070"/>
                </a:solidFill>
                <a:latin typeface="Arial"/>
              </a:rPr>
              <a:t>출처 / 근거 / 참조 : ISO/IEC/IEEE 29148:2018 요구사항 정보 항목·추적성 원칙; OMG ReqIF 1.2; OMG SysML 2.0; ASPICE traceability/work product 관점; Mutuus Lab Feature Topology 내부 설계.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1503152" y="6126480"/>
            <a:ext cx="73152" cy="39319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1622024" y="6272784"/>
            <a:ext cx="73152" cy="24688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1740896" y="6382512"/>
            <a:ext cx="73152" cy="13716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8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6459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68AAD"/>
                </a:solidFill>
                <a:latin typeface="NanumSquare"/>
              </a:rPr>
              <a:t>04-1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18872"/>
            <a:ext cx="10012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80" b="1">
                <a:solidFill>
                  <a:srgbClr val="0B1F3A"/>
                </a:solidFill>
                <a:latin typeface="NanumSquare"/>
              </a:rPr>
              <a:t>Variant Management &amp; Runtime Control — 적용 가능성과 활성화 판단 분리 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" b="0">
                <a:solidFill>
                  <a:srgbClr val="2A323C"/>
                </a:solidFill>
                <a:latin typeface="NanumSquare"/>
              </a:rPr>
              <a:t>Variant는 “이 차량이 구조적으로 Feature를 지원 가능한가”를, Control은 “현재 조건에서 Feature를 활성화해도 되는가”를 판단한다. 이 분리가 Policy-only 운영과 안전한 Runtime 제어의 전제이다.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024128"/>
            <a:ext cx="11109960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19" b="1">
                <a:solidFill>
                  <a:srgbClr val="0B1F3A"/>
                </a:solidFill>
                <a:latin typeface="NanumSquare"/>
              </a:rPr>
              <a:t>1. Feature Activation Decision Model — Structural Applicability × Runtime Control × Execution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271016"/>
            <a:ext cx="11109960" cy="16459"/>
          </a:xfrm>
          <a:prstGeom prst="rect">
            <a:avLst/>
          </a:prstGeom>
          <a:solidFill>
            <a:srgbClr val="168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371600"/>
            <a:ext cx="2788920" cy="1261872"/>
          </a:xfrm>
          <a:prstGeom prst="roundRect">
            <a:avLst/>
          </a:prstGeom>
          <a:solidFill>
            <a:srgbClr val="E8F4FA"/>
          </a:solidFill>
          <a:ln w="9525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7512" y="1472184"/>
            <a:ext cx="274320" cy="164592"/>
          </a:xfrm>
          <a:prstGeom prst="roundRect">
            <a:avLst/>
          </a:prstGeom>
          <a:solidFill>
            <a:srgbClr val="168AAD"/>
          </a:solidFill>
          <a:ln w="9525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495044"/>
            <a:ext cx="274320" cy="1152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NanumSquare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463040"/>
            <a:ext cx="225856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1">
                <a:solidFill>
                  <a:srgbClr val="0B1F3A"/>
                </a:solidFill>
                <a:latin typeface="NanumSquare"/>
              </a:rPr>
              <a:t>Variant Filter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645920"/>
            <a:ext cx="2258568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" b="1">
                <a:solidFill>
                  <a:srgbClr val="168AAD"/>
                </a:solidFill>
                <a:latin typeface="NanumSquare"/>
              </a:rPr>
              <a:t>적용 가능한 차량인가?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828800"/>
            <a:ext cx="2468879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9" b="0">
                <a:solidFill>
                  <a:srgbClr val="2A323C"/>
                </a:solidFill>
                <a:latin typeface="NanumSquare"/>
              </a:rPr>
              <a:t>• Platform / 차종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1965960"/>
            <a:ext cx="2468879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9" b="0">
                <a:solidFill>
                  <a:srgbClr val="2A323C"/>
                </a:solidFill>
                <a:latin typeface="NanumSquare"/>
              </a:rPr>
              <a:t>• Region / Market / Regulation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103120"/>
            <a:ext cx="2468879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9" b="0">
                <a:solidFill>
                  <a:srgbClr val="2A323C"/>
                </a:solidFill>
                <a:latin typeface="NanumSquare"/>
              </a:rPr>
              <a:t>• Model Year / Trim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240279"/>
            <a:ext cx="2468879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9" b="0">
                <a:solidFill>
                  <a:srgbClr val="2A323C"/>
                </a:solidFill>
                <a:latin typeface="NanumSquare"/>
              </a:rPr>
              <a:t>• HW Gen / ECU Capability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377439"/>
            <a:ext cx="2468879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9" b="0">
                <a:solidFill>
                  <a:srgbClr val="2A323C"/>
                </a:solidFill>
                <a:latin typeface="NanumSquare"/>
              </a:rPr>
              <a:t>• SW Version / Dependency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55848" y="2002536"/>
            <a:ext cx="109728" cy="0"/>
          </a:xfrm>
          <a:prstGeom prst="line">
            <a:avLst/>
          </a:prstGeom>
          <a:ln w="12700">
            <a:solidFill>
              <a:srgbClr val="667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465576" y="1371600"/>
            <a:ext cx="2788920" cy="1261872"/>
          </a:xfrm>
          <a:prstGeom prst="roundRect">
            <a:avLst/>
          </a:prstGeom>
          <a:solidFill>
            <a:srgbClr val="FDF3E7"/>
          </a:solidFill>
          <a:ln w="9525">
            <a:solidFill>
              <a:srgbClr val="E88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66160" y="1472184"/>
            <a:ext cx="274320" cy="164592"/>
          </a:xfrm>
          <a:prstGeom prst="roundRect">
            <a:avLst/>
          </a:prstGeom>
          <a:solidFill>
            <a:srgbClr val="E88C30"/>
          </a:solidFill>
          <a:ln w="9525">
            <a:solidFill>
              <a:srgbClr val="E88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0" y="1495044"/>
            <a:ext cx="274320" cy="1152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NanumSquare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04487" y="1463040"/>
            <a:ext cx="225856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1">
                <a:solidFill>
                  <a:srgbClr val="0B1F3A"/>
                </a:solidFill>
                <a:latin typeface="NanumSquare"/>
              </a:rPr>
              <a:t>Control 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04487" y="1645920"/>
            <a:ext cx="2258568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" b="1">
                <a:solidFill>
                  <a:srgbClr val="E88C30"/>
                </a:solidFill>
                <a:latin typeface="NanumSquare"/>
              </a:rPr>
              <a:t>지금 활성화할 것인가?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48456" y="1828800"/>
            <a:ext cx="2468879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9" b="0">
                <a:solidFill>
                  <a:srgbClr val="2A323C"/>
                </a:solidFill>
                <a:latin typeface="NanumSquare"/>
              </a:rPr>
              <a:t>• Policy Rule / Targeting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48456" y="1965960"/>
            <a:ext cx="2468879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9" b="0">
                <a:solidFill>
                  <a:srgbClr val="2A323C"/>
                </a:solidFill>
                <a:latin typeface="NanumSquare"/>
              </a:rPr>
              <a:t>• Rollout % / Cohort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48456" y="2103120"/>
            <a:ext cx="2468879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9" b="0">
                <a:solidFill>
                  <a:srgbClr val="2A323C"/>
                </a:solidFill>
                <a:latin typeface="NanumSquare"/>
              </a:rPr>
              <a:t>• Entitlement / Auth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48456" y="2240279"/>
            <a:ext cx="2468879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9" b="0">
                <a:solidFill>
                  <a:srgbClr val="2A323C"/>
                </a:solidFill>
                <a:latin typeface="NanumSquare"/>
              </a:rPr>
              <a:t>• Kill-switch / Safe Default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48456" y="2377439"/>
            <a:ext cx="2468879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9" b="0">
                <a:solidFill>
                  <a:srgbClr val="2A323C"/>
                </a:solidFill>
                <a:latin typeface="NanumSquare"/>
              </a:rPr>
              <a:t>• Rollback Plan / TTL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254496" y="2002536"/>
            <a:ext cx="109728" cy="0"/>
          </a:xfrm>
          <a:prstGeom prst="line">
            <a:avLst/>
          </a:prstGeom>
          <a:ln w="12700">
            <a:solidFill>
              <a:srgbClr val="667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364224" y="1371600"/>
            <a:ext cx="2788920" cy="1261872"/>
          </a:xfrm>
          <a:prstGeom prst="roundRect">
            <a:avLst/>
          </a:prstGeom>
          <a:solidFill>
            <a:srgbClr val="EBF7F1"/>
          </a:solidFill>
          <a:ln w="9525">
            <a:solidFill>
              <a:srgbClr val="2F9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64808" y="1472184"/>
            <a:ext cx="274320" cy="164592"/>
          </a:xfrm>
          <a:prstGeom prst="roundRect">
            <a:avLst/>
          </a:prstGeom>
          <a:solidFill>
            <a:srgbClr val="2F9A6C"/>
          </a:solidFill>
          <a:ln w="9525">
            <a:solidFill>
              <a:srgbClr val="2F9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64808" y="1495044"/>
            <a:ext cx="274320" cy="1152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NanumSquare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03136" y="1463040"/>
            <a:ext cx="225856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1">
                <a:solidFill>
                  <a:srgbClr val="0B1F3A"/>
                </a:solidFill>
                <a:latin typeface="NanumSquare"/>
              </a:rPr>
              <a:t>Runtime Evaluation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03136" y="1645920"/>
            <a:ext cx="2258568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" b="1">
                <a:solidFill>
                  <a:srgbClr val="2F9A6C"/>
                </a:solidFill>
                <a:latin typeface="NanumSquare"/>
              </a:rPr>
              <a:t>실차에서 어떻게 판단했는가?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7104" y="1828800"/>
            <a:ext cx="2468879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9" b="0">
                <a:solidFill>
                  <a:srgbClr val="2A323C"/>
                </a:solidFill>
                <a:latin typeface="NanumSquare"/>
              </a:rPr>
              <a:t>• Local Policy Cache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47104" y="1965960"/>
            <a:ext cx="2468879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9" b="0">
                <a:solidFill>
                  <a:srgbClr val="2A323C"/>
                </a:solidFill>
                <a:latin typeface="NanumSquare"/>
              </a:rPr>
              <a:t>• Evaluation Context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7104" y="2103120"/>
            <a:ext cx="2468879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9" b="0">
                <a:solidFill>
                  <a:srgbClr val="2A323C"/>
                </a:solidFill>
                <a:latin typeface="NanumSquare"/>
              </a:rPr>
              <a:t>• Flag Evaluation Result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47104" y="2240279"/>
            <a:ext cx="2468879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9" b="0">
                <a:solidFill>
                  <a:srgbClr val="2A323C"/>
                </a:solidFill>
                <a:latin typeface="NanumSquare"/>
              </a:rPr>
              <a:t>• Fallback / Error 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47104" y="2377439"/>
            <a:ext cx="2468879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9" b="0">
                <a:solidFill>
                  <a:srgbClr val="2A323C"/>
                </a:solidFill>
                <a:latin typeface="NanumSquare"/>
              </a:rPr>
              <a:t>• Telemetry / Audit Event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53144" y="2002536"/>
            <a:ext cx="109728" cy="0"/>
          </a:xfrm>
          <a:prstGeom prst="line">
            <a:avLst/>
          </a:prstGeom>
          <a:ln w="12700">
            <a:solidFill>
              <a:srgbClr val="667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262872" y="1371600"/>
            <a:ext cx="2788920" cy="1261872"/>
          </a:xfrm>
          <a:prstGeom prst="roundRect">
            <a:avLst/>
          </a:prstGeom>
          <a:solidFill>
            <a:srgbClr val="F2EFFA"/>
          </a:solidFill>
          <a:ln w="9525">
            <a:solidFill>
              <a:srgbClr val="7462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363455" y="1472184"/>
            <a:ext cx="274320" cy="164592"/>
          </a:xfrm>
          <a:prstGeom prst="roundRect">
            <a:avLst/>
          </a:prstGeom>
          <a:solidFill>
            <a:srgbClr val="7462A9"/>
          </a:solidFill>
          <a:ln w="9525">
            <a:solidFill>
              <a:srgbClr val="7462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63455" y="1495044"/>
            <a:ext cx="274320" cy="1152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NanumSquare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01784" y="1463040"/>
            <a:ext cx="225856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1">
                <a:solidFill>
                  <a:srgbClr val="0B1F3A"/>
                </a:solidFill>
                <a:latin typeface="NanumSquare"/>
              </a:rPr>
              <a:t>Feature State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01784" y="1645920"/>
            <a:ext cx="2258568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" b="1">
                <a:solidFill>
                  <a:srgbClr val="7462A9"/>
                </a:solidFill>
                <a:latin typeface="NanumSquare"/>
              </a:rPr>
              <a:t>최종 상태와 증적은?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45751" y="1828800"/>
            <a:ext cx="2468879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9" b="0">
                <a:solidFill>
                  <a:srgbClr val="2A323C"/>
                </a:solidFill>
                <a:latin typeface="NanumSquare"/>
              </a:rPr>
              <a:t>• enabled / disabled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45751" y="1965960"/>
            <a:ext cx="2468879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9" b="0">
                <a:solidFill>
                  <a:srgbClr val="2A323C"/>
                </a:solidFill>
                <a:latin typeface="NanumSquare"/>
              </a:rPr>
              <a:t>• degraded / blocked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45751" y="2103120"/>
            <a:ext cx="2468879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9" b="0">
                <a:solidFill>
                  <a:srgbClr val="2A323C"/>
                </a:solidFill>
                <a:latin typeface="NanumSquare"/>
              </a:rPr>
              <a:t>• safe_default_applied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45751" y="2240279"/>
            <a:ext cx="2468879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9" b="0">
                <a:solidFill>
                  <a:srgbClr val="2A323C"/>
                </a:solidFill>
                <a:latin typeface="NanumSquare"/>
              </a:rPr>
              <a:t>• rollback_required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45751" y="2377439"/>
            <a:ext cx="2468879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9" b="0">
                <a:solidFill>
                  <a:srgbClr val="2A323C"/>
                </a:solidFill>
                <a:latin typeface="NanumSquare"/>
              </a:rPr>
              <a:t>• evidence stored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6928" y="2798064"/>
            <a:ext cx="11155680" cy="384048"/>
          </a:xfrm>
          <a:prstGeom prst="roundRect">
            <a:avLst/>
          </a:prstGeom>
          <a:solidFill>
            <a:srgbClr val="EAF4FA"/>
          </a:solidFill>
          <a:ln w="9525">
            <a:solidFill>
              <a:srgbClr val="AA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8952" y="2907792"/>
            <a:ext cx="10789920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60" b="1">
                <a:solidFill>
                  <a:srgbClr val="0B1F3A"/>
                </a:solidFill>
                <a:latin typeface="NanumSquare"/>
              </a:rPr>
              <a:t>Activation Rule: IF Variant=PASS AND Control=ALLOW AND RuntimeContext=VALID AND KillSwitch=OFF → Feature=ON; ELSE → OFF / BLOCKED / SAFE_DEFAULT / ROLLBACK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" y="3456432"/>
            <a:ext cx="5468112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19" b="1">
                <a:solidFill>
                  <a:srgbClr val="0B1F3A"/>
                </a:solidFill>
                <a:latin typeface="NanumSquare"/>
              </a:rPr>
              <a:t>2. VariantRule / ControlPoint Data Contract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0352" y="3703320"/>
            <a:ext cx="5468112" cy="16459"/>
          </a:xfrm>
          <a:prstGeom prst="rect">
            <a:avLst/>
          </a:prstGeom>
          <a:solidFill>
            <a:srgbClr val="168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30352" y="3803904"/>
            <a:ext cx="5468112" cy="178308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3232" y="3913632"/>
            <a:ext cx="2395728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" b="1">
                <a:solidFill>
                  <a:srgbClr val="168AAD"/>
                </a:solidFill>
                <a:latin typeface="NanumSquare"/>
              </a:rPr>
              <a:t>VariantRule Schema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3232" y="4123944"/>
            <a:ext cx="2395728" cy="210312"/>
          </a:xfrm>
          <a:prstGeom prst="rect">
            <a:avLst/>
          </a:prstGeom>
          <a:solidFill>
            <a:srgbClr val="0B1F3A"/>
          </a:solidFill>
          <a:ln w="9525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0664" y="4178807"/>
            <a:ext cx="759683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20" b="1">
                <a:solidFill>
                  <a:srgbClr val="FFFFFF"/>
                </a:solidFill>
                <a:latin typeface="NanumSquare"/>
              </a:rPr>
              <a:t>Field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55211" y="4178807"/>
            <a:ext cx="152631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20" b="1">
                <a:solidFill>
                  <a:srgbClr val="FFFFFF"/>
                </a:solidFill>
                <a:latin typeface="NanumSquare"/>
              </a:rPr>
              <a:t>Required Content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3232" y="4334256"/>
            <a:ext cx="814547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0664" y="4379976"/>
            <a:ext cx="759683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50" b="1">
                <a:solidFill>
                  <a:srgbClr val="0B1F3A"/>
                </a:solidFill>
                <a:latin typeface="NanumSquare"/>
              </a:rPr>
              <a:t>featureId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527779" y="4334256"/>
            <a:ext cx="158118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555211" y="4379976"/>
            <a:ext cx="152631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50" b="0">
                <a:solidFill>
                  <a:srgbClr val="2A323C"/>
                </a:solidFill>
                <a:latin typeface="NanumSquare"/>
              </a:rPr>
              <a:t>FEAT-BDC-001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3232" y="4535424"/>
            <a:ext cx="814547" cy="201168"/>
          </a:xfrm>
          <a:prstGeom prst="rect">
            <a:avLst/>
          </a:prstGeom>
          <a:solidFill>
            <a:srgbClr val="F7FAFD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0664" y="4581144"/>
            <a:ext cx="759683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50" b="1">
                <a:solidFill>
                  <a:srgbClr val="0B1F3A"/>
                </a:solidFill>
                <a:latin typeface="NanumSquare"/>
              </a:rPr>
              <a:t>vehicleCondition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527779" y="4535424"/>
            <a:ext cx="1581180" cy="201168"/>
          </a:xfrm>
          <a:prstGeom prst="rect">
            <a:avLst/>
          </a:prstGeom>
          <a:solidFill>
            <a:srgbClr val="F7FAFD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555211" y="4581144"/>
            <a:ext cx="152631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50" b="0">
                <a:solidFill>
                  <a:srgbClr val="2A323C"/>
                </a:solidFill>
                <a:latin typeface="NanumSquare"/>
              </a:rPr>
              <a:t>platform, region, MY, trim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13232" y="4736592"/>
            <a:ext cx="814547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40664" y="4782312"/>
            <a:ext cx="759683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50" b="1">
                <a:solidFill>
                  <a:srgbClr val="0B1F3A"/>
                </a:solidFill>
                <a:latin typeface="NanumSquare"/>
              </a:rPr>
              <a:t>capability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527779" y="4736592"/>
            <a:ext cx="158118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555211" y="4782312"/>
            <a:ext cx="152631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50" b="0">
                <a:solidFill>
                  <a:srgbClr val="2A323C"/>
                </a:solidFill>
                <a:latin typeface="NanumSquare"/>
              </a:rPr>
              <a:t>hwGen, swVersion, ECU capability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13232" y="4937760"/>
            <a:ext cx="814547" cy="201168"/>
          </a:xfrm>
          <a:prstGeom prst="rect">
            <a:avLst/>
          </a:prstGeom>
          <a:solidFill>
            <a:srgbClr val="F7FAFD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40664" y="4983480"/>
            <a:ext cx="759683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50" b="1">
                <a:solidFill>
                  <a:srgbClr val="0B1F3A"/>
                </a:solidFill>
                <a:latin typeface="NanumSquare"/>
              </a:rPr>
              <a:t>applicability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527779" y="4937760"/>
            <a:ext cx="1581180" cy="201168"/>
          </a:xfrm>
          <a:prstGeom prst="rect">
            <a:avLst/>
          </a:prstGeom>
          <a:solidFill>
            <a:srgbClr val="F7FAFD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555211" y="4983480"/>
            <a:ext cx="152631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50" b="0">
                <a:solidFill>
                  <a:srgbClr val="2A323C"/>
                </a:solidFill>
                <a:latin typeface="NanumSquare"/>
              </a:rPr>
              <a:t>allowed / blocked / review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13232" y="5138928"/>
            <a:ext cx="814547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40664" y="5184648"/>
            <a:ext cx="759683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50" b="1">
                <a:solidFill>
                  <a:srgbClr val="0B1F3A"/>
                </a:solidFill>
                <a:latin typeface="NanumSquare"/>
              </a:rPr>
              <a:t>effectiveRange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527779" y="5138928"/>
            <a:ext cx="158118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555211" y="5184648"/>
            <a:ext cx="152631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50" b="0">
                <a:solidFill>
                  <a:srgbClr val="2A323C"/>
                </a:solidFill>
                <a:latin typeface="NanumSquare"/>
              </a:rPr>
              <a:t>from / to / market scope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328416" y="3913632"/>
            <a:ext cx="2395728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" b="1">
                <a:solidFill>
                  <a:srgbClr val="E88C30"/>
                </a:solidFill>
                <a:latin typeface="NanumSquare"/>
              </a:rPr>
              <a:t>ControlPoint Schema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328416" y="4123944"/>
            <a:ext cx="2395728" cy="210312"/>
          </a:xfrm>
          <a:prstGeom prst="rect">
            <a:avLst/>
          </a:prstGeom>
          <a:solidFill>
            <a:srgbClr val="0B1F3A"/>
          </a:solidFill>
          <a:ln w="9525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355848" y="4178807"/>
            <a:ext cx="759683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20" b="1">
                <a:solidFill>
                  <a:srgbClr val="FFFFFF"/>
                </a:solidFill>
                <a:latin typeface="NanumSquare"/>
              </a:rPr>
              <a:t>Field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70395" y="4178807"/>
            <a:ext cx="152631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20" b="1">
                <a:solidFill>
                  <a:srgbClr val="FFFFFF"/>
                </a:solidFill>
                <a:latin typeface="NanumSquare"/>
              </a:rPr>
              <a:t>Required Content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328416" y="4334256"/>
            <a:ext cx="814547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355848" y="4379976"/>
            <a:ext cx="759683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50" b="1">
                <a:solidFill>
                  <a:srgbClr val="0B1F3A"/>
                </a:solidFill>
                <a:latin typeface="NanumSquare"/>
              </a:rPr>
              <a:t>policyId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142963" y="4334256"/>
            <a:ext cx="158118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170395" y="4379976"/>
            <a:ext cx="152631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50" b="0">
                <a:solidFill>
                  <a:srgbClr val="2A323C"/>
                </a:solidFill>
                <a:latin typeface="NanumSquare"/>
              </a:rPr>
              <a:t>POLICY-BDC-ENABLE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328416" y="4535424"/>
            <a:ext cx="814547" cy="201168"/>
          </a:xfrm>
          <a:prstGeom prst="rect">
            <a:avLst/>
          </a:prstGeom>
          <a:solidFill>
            <a:srgbClr val="F7FAFD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355848" y="4581144"/>
            <a:ext cx="759683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50" b="1">
                <a:solidFill>
                  <a:srgbClr val="0B1F3A"/>
                </a:solidFill>
                <a:latin typeface="NanumSquare"/>
              </a:rPr>
              <a:t>flagKey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142963" y="4535424"/>
            <a:ext cx="1581180" cy="201168"/>
          </a:xfrm>
          <a:prstGeom prst="rect">
            <a:avLst/>
          </a:prstGeom>
          <a:solidFill>
            <a:srgbClr val="F7FAFD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170395" y="4581144"/>
            <a:ext cx="152631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50" b="0">
                <a:solidFill>
                  <a:srgbClr val="2A323C"/>
                </a:solidFill>
                <a:latin typeface="NanumSquare"/>
              </a:rPr>
              <a:t>bdc.door_lock.remote_enable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328416" y="4736592"/>
            <a:ext cx="814547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355848" y="4782312"/>
            <a:ext cx="759683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50" b="1">
                <a:solidFill>
                  <a:srgbClr val="0B1F3A"/>
                </a:solidFill>
                <a:latin typeface="NanumSquare"/>
              </a:rPr>
              <a:t>strategy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142963" y="4736592"/>
            <a:ext cx="158118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170395" y="4782312"/>
            <a:ext cx="152631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50" b="0">
                <a:solidFill>
                  <a:srgbClr val="2A323C"/>
                </a:solidFill>
                <a:latin typeface="NanumSquare"/>
              </a:rPr>
              <a:t>targeting, rollout, entitlement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328416" y="4937760"/>
            <a:ext cx="814547" cy="201168"/>
          </a:xfrm>
          <a:prstGeom prst="rect">
            <a:avLst/>
          </a:prstGeom>
          <a:solidFill>
            <a:srgbClr val="F7FAFD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355848" y="4983480"/>
            <a:ext cx="759683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50" b="1">
                <a:solidFill>
                  <a:srgbClr val="0B1F3A"/>
                </a:solidFill>
                <a:latin typeface="NanumSquare"/>
              </a:rPr>
              <a:t>safetyControl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142963" y="4937760"/>
            <a:ext cx="1581180" cy="201168"/>
          </a:xfrm>
          <a:prstGeom prst="rect">
            <a:avLst/>
          </a:prstGeom>
          <a:solidFill>
            <a:srgbClr val="F7FAFD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170395" y="4983480"/>
            <a:ext cx="152631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50" b="0">
                <a:solidFill>
                  <a:srgbClr val="2A323C"/>
                </a:solidFill>
                <a:latin typeface="NanumSquare"/>
              </a:rPr>
              <a:t>killSwitch, safeDefault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328416" y="5138928"/>
            <a:ext cx="814547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355848" y="5184648"/>
            <a:ext cx="759683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50" b="1">
                <a:solidFill>
                  <a:srgbClr val="0B1F3A"/>
                </a:solidFill>
                <a:latin typeface="NanumSquare"/>
              </a:rPr>
              <a:t>rollback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142963" y="5138928"/>
            <a:ext cx="158118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170395" y="5184648"/>
            <a:ext cx="152631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50" b="0">
                <a:solidFill>
                  <a:srgbClr val="2A323C"/>
                </a:solidFill>
                <a:latin typeface="NanumSquare"/>
              </a:rPr>
              <a:t>previous stable, auditRequired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236208" y="3456432"/>
            <a:ext cx="5394960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19" b="1">
                <a:solidFill>
                  <a:srgbClr val="0B1F3A"/>
                </a:solidFill>
                <a:latin typeface="NanumSquare"/>
              </a:rPr>
              <a:t>3. Vehicle Runtime Evaluation Flow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236208" y="3703320"/>
            <a:ext cx="5394960" cy="16459"/>
          </a:xfrm>
          <a:prstGeom prst="rect">
            <a:avLst/>
          </a:prstGeom>
          <a:solidFill>
            <a:srgbClr val="168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6236208" y="3803904"/>
            <a:ext cx="5394960" cy="178308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6437376" y="4069080"/>
            <a:ext cx="749808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6675120" y="4151376"/>
            <a:ext cx="274320" cy="146304"/>
          </a:xfrm>
          <a:prstGeom prst="roundRect">
            <a:avLst/>
          </a:prstGeom>
          <a:solidFill>
            <a:srgbClr val="168AAD"/>
          </a:solidFill>
          <a:ln w="9525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675120" y="4174236"/>
            <a:ext cx="274320" cy="1024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50" b="1">
                <a:solidFill>
                  <a:srgbClr val="FFFFFF"/>
                </a:solidFill>
                <a:latin typeface="NanumSquare"/>
              </a:rPr>
              <a:t>1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473952" y="4361688"/>
            <a:ext cx="676656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90" b="1">
                <a:solidFill>
                  <a:srgbClr val="0B1F3A"/>
                </a:solidFill>
                <a:latin typeface="NanumSquare"/>
              </a:rPr>
              <a:t>Policy Cache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483096" y="4526280"/>
            <a:ext cx="658368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" b="0">
                <a:solidFill>
                  <a:srgbClr val="66717D"/>
                </a:solidFill>
                <a:latin typeface="NanumSquare"/>
              </a:rPr>
              <a:t>signature·TTL check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7187184" y="4425696"/>
            <a:ext cx="96012" cy="0"/>
          </a:xfrm>
          <a:prstGeom prst="line">
            <a:avLst/>
          </a:prstGeom>
          <a:ln w="8890">
            <a:solidFill>
              <a:srgbClr val="667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Rounded Rectangle 113"/>
          <p:cNvSpPr/>
          <p:nvPr/>
        </p:nvSpPr>
        <p:spPr>
          <a:xfrm>
            <a:off x="7283196" y="4069080"/>
            <a:ext cx="749808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7520940" y="4151376"/>
            <a:ext cx="274320" cy="146304"/>
          </a:xfrm>
          <a:prstGeom prst="round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520940" y="4174236"/>
            <a:ext cx="274320" cy="1024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50" b="1">
                <a:solidFill>
                  <a:srgbClr val="FFFFFF"/>
                </a:solidFill>
                <a:latin typeface="NanumSquare"/>
              </a:rP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319771" y="4361688"/>
            <a:ext cx="676656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90" b="1">
                <a:solidFill>
                  <a:srgbClr val="0B1F3A"/>
                </a:solidFill>
                <a:latin typeface="NanumSquare"/>
              </a:rPr>
              <a:t>Context Build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328916" y="4526280"/>
            <a:ext cx="658368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" b="0">
                <a:solidFill>
                  <a:srgbClr val="66717D"/>
                </a:solidFill>
                <a:latin typeface="NanumSquare"/>
              </a:rPr>
              <a:t>VIN·region·capability·state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8033004" y="4425696"/>
            <a:ext cx="96012" cy="0"/>
          </a:xfrm>
          <a:prstGeom prst="line">
            <a:avLst/>
          </a:prstGeom>
          <a:ln w="8890">
            <a:solidFill>
              <a:srgbClr val="667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ounded Rectangle 119"/>
          <p:cNvSpPr/>
          <p:nvPr/>
        </p:nvSpPr>
        <p:spPr>
          <a:xfrm>
            <a:off x="8129016" y="4069080"/>
            <a:ext cx="749808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8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8366760" y="4151376"/>
            <a:ext cx="274320" cy="146304"/>
          </a:xfrm>
          <a:prstGeom prst="roundRect">
            <a:avLst/>
          </a:prstGeom>
          <a:solidFill>
            <a:srgbClr val="E88C30"/>
          </a:solidFill>
          <a:ln w="9525">
            <a:solidFill>
              <a:srgbClr val="E88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366760" y="4174236"/>
            <a:ext cx="274320" cy="1024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50" b="1">
                <a:solidFill>
                  <a:srgbClr val="FFFFFF"/>
                </a:solidFill>
                <a:latin typeface="NanumSquare"/>
              </a:rPr>
              <a:t>3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165592" y="4361688"/>
            <a:ext cx="676656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90" b="1">
                <a:solidFill>
                  <a:srgbClr val="0B1F3A"/>
                </a:solidFill>
                <a:latin typeface="NanumSquare"/>
              </a:rPr>
              <a:t>Applicability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174736" y="4526280"/>
            <a:ext cx="658368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" b="0">
                <a:solidFill>
                  <a:srgbClr val="66717D"/>
                </a:solidFill>
                <a:latin typeface="NanumSquare"/>
              </a:rPr>
              <a:t>variant/capability pass?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8878824" y="4425696"/>
            <a:ext cx="96012" cy="0"/>
          </a:xfrm>
          <a:prstGeom prst="line">
            <a:avLst/>
          </a:prstGeom>
          <a:ln w="8890">
            <a:solidFill>
              <a:srgbClr val="667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ounded Rectangle 125"/>
          <p:cNvSpPr/>
          <p:nvPr/>
        </p:nvSpPr>
        <p:spPr>
          <a:xfrm>
            <a:off x="8974836" y="4069080"/>
            <a:ext cx="749808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F9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9212580" y="4151376"/>
            <a:ext cx="274320" cy="146304"/>
          </a:xfrm>
          <a:prstGeom prst="roundRect">
            <a:avLst/>
          </a:prstGeom>
          <a:solidFill>
            <a:srgbClr val="2F9A6C"/>
          </a:solidFill>
          <a:ln w="9525">
            <a:solidFill>
              <a:srgbClr val="2F9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212580" y="4174236"/>
            <a:ext cx="274320" cy="1024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50" b="1">
                <a:solidFill>
                  <a:srgbClr val="FFFFFF"/>
                </a:solidFill>
                <a:latin typeface="NanumSquare"/>
              </a:rPr>
              <a:t>4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011411" y="4361688"/>
            <a:ext cx="676656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90" b="1">
                <a:solidFill>
                  <a:srgbClr val="0B1F3A"/>
                </a:solidFill>
                <a:latin typeface="NanumSquare"/>
              </a:rPr>
              <a:t>Evaluate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020556" y="4526280"/>
            <a:ext cx="658368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" b="0">
                <a:solidFill>
                  <a:srgbClr val="66717D"/>
                </a:solidFill>
                <a:latin typeface="NanumSquare"/>
              </a:rPr>
              <a:t>strategy·constraint·rollout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9724644" y="4425696"/>
            <a:ext cx="96012" cy="0"/>
          </a:xfrm>
          <a:prstGeom prst="line">
            <a:avLst/>
          </a:prstGeom>
          <a:ln w="8890">
            <a:solidFill>
              <a:srgbClr val="667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Rounded Rectangle 131"/>
          <p:cNvSpPr/>
          <p:nvPr/>
        </p:nvSpPr>
        <p:spPr>
          <a:xfrm>
            <a:off x="9820656" y="4069080"/>
            <a:ext cx="749808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462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10058400" y="4151376"/>
            <a:ext cx="274320" cy="146304"/>
          </a:xfrm>
          <a:prstGeom prst="roundRect">
            <a:avLst/>
          </a:prstGeom>
          <a:solidFill>
            <a:srgbClr val="7462A9"/>
          </a:solidFill>
          <a:ln w="9525">
            <a:solidFill>
              <a:srgbClr val="7462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058400" y="4174236"/>
            <a:ext cx="274320" cy="1024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50" b="1">
                <a:solidFill>
                  <a:srgbClr val="FFFFFF"/>
                </a:solidFill>
                <a:latin typeface="NanumSquare"/>
              </a:rPr>
              <a:t>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857232" y="4361688"/>
            <a:ext cx="676656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90" b="1">
                <a:solidFill>
                  <a:srgbClr val="0B1F3A"/>
                </a:solidFill>
                <a:latin typeface="NanumSquare"/>
              </a:rPr>
              <a:t>Apply Result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866376" y="4526280"/>
            <a:ext cx="658368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" b="0">
                <a:solidFill>
                  <a:srgbClr val="66717D"/>
                </a:solidFill>
                <a:latin typeface="NanumSquare"/>
              </a:rPr>
              <a:t>ON/OFF/Safe Default</a:t>
            </a:r>
          </a:p>
        </p:txBody>
      </p:sp>
      <p:cxnSp>
        <p:nvCxnSpPr>
          <p:cNvPr id="137" name="Connector 136"/>
          <p:cNvCxnSpPr/>
          <p:nvPr/>
        </p:nvCxnSpPr>
        <p:spPr>
          <a:xfrm>
            <a:off x="10570464" y="4425696"/>
            <a:ext cx="96012" cy="0"/>
          </a:xfrm>
          <a:prstGeom prst="line">
            <a:avLst/>
          </a:prstGeom>
          <a:ln w="8890">
            <a:solidFill>
              <a:srgbClr val="667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Rounded Rectangle 137"/>
          <p:cNvSpPr/>
          <p:nvPr/>
        </p:nvSpPr>
        <p:spPr>
          <a:xfrm>
            <a:off x="10666476" y="4069080"/>
            <a:ext cx="749808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0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10904219" y="4151376"/>
            <a:ext cx="274320" cy="146304"/>
          </a:xfrm>
          <a:prstGeom prst="roundRect">
            <a:avLst/>
          </a:prstGeom>
          <a:solidFill>
            <a:srgbClr val="C04848"/>
          </a:solidFill>
          <a:ln w="9525">
            <a:solidFill>
              <a:srgbClr val="C0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904219" y="4174236"/>
            <a:ext cx="274320" cy="1024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50" b="1">
                <a:solidFill>
                  <a:srgbClr val="FFFFFF"/>
                </a:solidFill>
                <a:latin typeface="NanumSquare"/>
              </a:rPr>
              <a:t>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703051" y="4361688"/>
            <a:ext cx="676656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90" b="1">
                <a:solidFill>
                  <a:srgbClr val="0B1F3A"/>
                </a:solidFill>
                <a:latin typeface="NanumSquare"/>
              </a:rPr>
              <a:t>Emit Evidence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712196" y="4526280"/>
            <a:ext cx="658368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" b="0">
                <a:solidFill>
                  <a:srgbClr val="66717D"/>
                </a:solidFill>
                <a:latin typeface="NanumSquare"/>
              </a:rPr>
              <a:t>telemetry·audit·diagnostic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6492240" y="5010912"/>
            <a:ext cx="484632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620256" y="5102352"/>
            <a:ext cx="4617720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59" b="0">
                <a:solidFill>
                  <a:srgbClr val="2A323C"/>
                </a:solidFill>
                <a:latin typeface="NanumSquare"/>
              </a:rPr>
              <a:t>BDC-001 예: Variant(KR/EU · MY2027+ · Premium · Gen3 · SW≥3.2)=PASS → Control(POLICY-BDC-ENABLE, Rollout 100%, KillSwitch=OFF)=ALLOW → Feature ON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530352" y="5879592"/>
            <a:ext cx="11109960" cy="310896"/>
          </a:xfrm>
          <a:prstGeom prst="roundRect">
            <a:avLst/>
          </a:prstGeom>
          <a:solidFill>
            <a:srgbClr val="EAF4FA"/>
          </a:solidFill>
          <a:ln w="9525">
            <a:solidFill>
              <a:srgbClr val="AA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68096" y="5952744"/>
            <a:ext cx="10625328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80" b="1">
                <a:solidFill>
                  <a:srgbClr val="0B1F3A"/>
                </a:solidFill>
                <a:latin typeface="NanumSquare"/>
              </a:rPr>
              <a:t>핵심: Variant는 “구조적 적용 가능성”, Control은 “운영 시점 활성화”, Runtime은 “실차 평가 결과와 증적”이다. 세 모델을 분리해야 정책만으로 안전하게 기능을 제어할 수 있다.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01168" y="6565392"/>
            <a:ext cx="1179576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5" b="0">
                <a:solidFill>
                  <a:srgbClr val="66717D"/>
                </a:solidFill>
                <a:latin typeface="NanumSquare"/>
              </a:rPr>
              <a:t>출처/근거/참조: OpenFeature Specification — Evaluation API/Provider/Evaluation Context/Events/Tracking; Unleash Activation Strategies &amp; Constraints; Mutuus Lab Variant/Runtime Control model.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8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6459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68AAD"/>
                </a:solidFill>
                <a:latin typeface="NanumSquare"/>
              </a:rPr>
              <a:t>04-2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18872"/>
            <a:ext cx="10378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20" b="1">
                <a:solidFill>
                  <a:srgbClr val="0B1F3A"/>
                </a:solidFill>
                <a:latin typeface="NanumSquare"/>
              </a:rPr>
              <a:t>Deployment Decision &amp; Verification — 배포경로 판단과 검증범위 산출 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11109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0">
                <a:solidFill>
                  <a:srgbClr val="2A323C"/>
                </a:solidFill>
                <a:latin typeface="NanumSquare"/>
              </a:rPr>
              <a:t>변경 대상이 SWC·API·Policy·Variant·Calibration 중 무엇인지 분류하고, Feature 조건을 조합해 배포 방식·필수 검증·Release Gate 입력을 자동 산출한다.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005840"/>
            <a:ext cx="11155680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B1F3A"/>
                </a:solidFill>
                <a:latin typeface="NanumSquare"/>
              </a:rPr>
              <a:t>1. Decision Pipeline — Change Classification → Deployment Path → Verification Scope → Gate Output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261872"/>
            <a:ext cx="11155680" cy="16459"/>
          </a:xfrm>
          <a:prstGeom prst="rect">
            <a:avLst/>
          </a:prstGeom>
          <a:solidFill>
            <a:srgbClr val="168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" y="1353312"/>
            <a:ext cx="1993392" cy="640080"/>
          </a:xfrm>
          <a:prstGeom prst="roundRect">
            <a:avLst/>
          </a:prstGeom>
          <a:solidFill>
            <a:srgbClr val="E8F4FA"/>
          </a:solidFill>
          <a:ln w="9525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4944" y="1435608"/>
            <a:ext cx="274320" cy="146304"/>
          </a:xfrm>
          <a:prstGeom prst="roundRect">
            <a:avLst/>
          </a:prstGeom>
          <a:solidFill>
            <a:srgbClr val="168AAD"/>
          </a:solidFill>
          <a:ln w="9525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457553"/>
            <a:ext cx="274320" cy="1024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" b="1">
                <a:solidFill>
                  <a:srgbClr val="FFFFFF"/>
                </a:solidFill>
                <a:latin typeface="NanumSquare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426464"/>
            <a:ext cx="1554480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30" b="1">
                <a:solidFill>
                  <a:srgbClr val="0B1F3A"/>
                </a:solidFill>
                <a:latin typeface="NanumSquare"/>
              </a:rPr>
              <a:t>Change 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664208"/>
            <a:ext cx="1810512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9" b="0">
                <a:solidFill>
                  <a:srgbClr val="2A323C"/>
                </a:solidFill>
                <a:latin typeface="NanumSquare"/>
              </a:rPr>
              <a:t>Feature / SWC / API / Policy 변경 요청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15184" y="1673352"/>
            <a:ext cx="210312" cy="0"/>
          </a:xfrm>
          <a:prstGeom prst="line">
            <a:avLst/>
          </a:prstGeom>
          <a:ln w="11430">
            <a:solidFill>
              <a:srgbClr val="667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25496" y="1353312"/>
            <a:ext cx="1993392" cy="640080"/>
          </a:xfrm>
          <a:prstGeom prst="roundRect">
            <a:avLst/>
          </a:prstGeom>
          <a:solidFill>
            <a:srgbClr val="F2EFFA"/>
          </a:solidFill>
          <a:ln w="9525">
            <a:solidFill>
              <a:srgbClr val="7462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98648" y="1435608"/>
            <a:ext cx="274320" cy="146304"/>
          </a:xfrm>
          <a:prstGeom prst="roundRect">
            <a:avLst/>
          </a:prstGeom>
          <a:solidFill>
            <a:srgbClr val="7462A9"/>
          </a:solidFill>
          <a:ln w="9525">
            <a:solidFill>
              <a:srgbClr val="7462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8648" y="1457553"/>
            <a:ext cx="274320" cy="1024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" b="1">
                <a:solidFill>
                  <a:srgbClr val="FFFFFF"/>
                </a:solidFill>
                <a:latin typeface="NanumSquare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9544" y="1426464"/>
            <a:ext cx="1554480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30" b="1">
                <a:solidFill>
                  <a:srgbClr val="0B1F3A"/>
                </a:solidFill>
                <a:latin typeface="NanumSquare"/>
              </a:rPr>
              <a:t>Change Classifier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16936" y="1664208"/>
            <a:ext cx="1810512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9" b="0">
                <a:solidFill>
                  <a:srgbClr val="2A323C"/>
                </a:solidFill>
                <a:latin typeface="NanumSquare"/>
              </a:rPr>
              <a:t>변경 Artifact와 Risk Attribute 분류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18888" y="1673352"/>
            <a:ext cx="210312" cy="0"/>
          </a:xfrm>
          <a:prstGeom prst="line">
            <a:avLst/>
          </a:prstGeom>
          <a:ln w="11430">
            <a:solidFill>
              <a:srgbClr val="667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9200" y="1353312"/>
            <a:ext cx="1993392" cy="640080"/>
          </a:xfrm>
          <a:prstGeom prst="roundRect">
            <a:avLst/>
          </a:prstGeom>
          <a:solidFill>
            <a:srgbClr val="FDF3E7"/>
          </a:solidFill>
          <a:ln w="9525">
            <a:solidFill>
              <a:srgbClr val="E88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102352" y="1435608"/>
            <a:ext cx="274320" cy="146304"/>
          </a:xfrm>
          <a:prstGeom prst="roundRect">
            <a:avLst/>
          </a:prstGeom>
          <a:solidFill>
            <a:srgbClr val="E88C30"/>
          </a:solidFill>
          <a:ln w="9525">
            <a:solidFill>
              <a:srgbClr val="E88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02352" y="1457553"/>
            <a:ext cx="274320" cy="1024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" b="1">
                <a:solidFill>
                  <a:srgbClr val="FFFFFF"/>
                </a:solidFill>
                <a:latin typeface="NanumSquare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13248" y="1426464"/>
            <a:ext cx="1554480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30" b="1">
                <a:solidFill>
                  <a:srgbClr val="0B1F3A"/>
                </a:solidFill>
                <a:latin typeface="NanumSquare"/>
              </a:rPr>
              <a:t>Deployment Path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1664208"/>
            <a:ext cx="1810512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9" b="0">
                <a:solidFill>
                  <a:srgbClr val="2A323C"/>
                </a:solidFill>
                <a:latin typeface="NanumSquare"/>
              </a:rPr>
              <a:t>Binary OTA / Policy-only / Config / Cal 판단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22592" y="1673352"/>
            <a:ext cx="210312" cy="0"/>
          </a:xfrm>
          <a:prstGeom prst="line">
            <a:avLst/>
          </a:prstGeom>
          <a:ln w="11430">
            <a:solidFill>
              <a:srgbClr val="667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232904" y="1353312"/>
            <a:ext cx="1993392" cy="640080"/>
          </a:xfrm>
          <a:prstGeom prst="roundRect">
            <a:avLst/>
          </a:prstGeom>
          <a:solidFill>
            <a:srgbClr val="EBF7F1"/>
          </a:solidFill>
          <a:ln w="9525">
            <a:solidFill>
              <a:srgbClr val="2F9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06056" y="1435608"/>
            <a:ext cx="274320" cy="146304"/>
          </a:xfrm>
          <a:prstGeom prst="roundRect">
            <a:avLst/>
          </a:prstGeom>
          <a:solidFill>
            <a:srgbClr val="2F9A6C"/>
          </a:solidFill>
          <a:ln w="9525">
            <a:solidFill>
              <a:srgbClr val="2F9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06056" y="1457553"/>
            <a:ext cx="274320" cy="1024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" b="1">
                <a:solidFill>
                  <a:srgbClr val="FFFFFF"/>
                </a:solidFill>
                <a:latin typeface="NanumSquare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16952" y="1426464"/>
            <a:ext cx="1554480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30" b="1">
                <a:solidFill>
                  <a:srgbClr val="0B1F3A"/>
                </a:solidFill>
                <a:latin typeface="NanumSquare"/>
              </a:rPr>
              <a:t>Verification Scope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24344" y="1664208"/>
            <a:ext cx="1810512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9" b="0">
                <a:solidFill>
                  <a:srgbClr val="2A323C"/>
                </a:solidFill>
                <a:latin typeface="NanumSquare"/>
              </a:rPr>
              <a:t>Feature 조건별 필수 Test·Evidence 도출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26296" y="1673352"/>
            <a:ext cx="210312" cy="0"/>
          </a:xfrm>
          <a:prstGeom prst="line">
            <a:avLst/>
          </a:prstGeom>
          <a:ln w="11430">
            <a:solidFill>
              <a:srgbClr val="667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436608" y="1353312"/>
            <a:ext cx="1993392" cy="640080"/>
          </a:xfrm>
          <a:prstGeom prst="roundRect">
            <a:avLst/>
          </a:prstGeom>
          <a:solidFill>
            <a:srgbClr val="FCEEEE"/>
          </a:solidFill>
          <a:ln w="9525">
            <a:solidFill>
              <a:srgbClr val="C0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509760" y="1435608"/>
            <a:ext cx="274320" cy="146304"/>
          </a:xfrm>
          <a:prstGeom prst="roundRect">
            <a:avLst/>
          </a:prstGeom>
          <a:solidFill>
            <a:srgbClr val="C04848"/>
          </a:solidFill>
          <a:ln w="9525">
            <a:solidFill>
              <a:srgbClr val="C0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0" y="1457553"/>
            <a:ext cx="274320" cy="1024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" b="1">
                <a:solidFill>
                  <a:srgbClr val="FFFFFF"/>
                </a:solidFill>
                <a:latin typeface="NanumSquare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0656" y="1426464"/>
            <a:ext cx="1554480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30" b="1">
                <a:solidFill>
                  <a:srgbClr val="0B1F3A"/>
                </a:solidFill>
                <a:latin typeface="NanumSquare"/>
              </a:rPr>
              <a:t>Release Gate 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28048" y="1664208"/>
            <a:ext cx="1810512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9" b="0">
                <a:solidFill>
                  <a:srgbClr val="2A323C"/>
                </a:solidFill>
                <a:latin typeface="NanumSquare"/>
              </a:rPr>
              <a:t>Blocker·Approver·Rollback·Audit 확정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" y="2258568"/>
            <a:ext cx="5468112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B1F3A"/>
                </a:solidFill>
                <a:latin typeface="NanumSquare"/>
              </a:rPr>
              <a:t>2. Deployment Decision Matrix — 변경 유형별 배포 경로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0352" y="2514600"/>
            <a:ext cx="5468112" cy="16459"/>
          </a:xfrm>
          <a:prstGeom prst="rect">
            <a:avLst/>
          </a:prstGeom>
          <a:solidFill>
            <a:srgbClr val="168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30352" y="2615184"/>
            <a:ext cx="5468112" cy="2121408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76656" y="2788920"/>
            <a:ext cx="5175504" cy="219456"/>
          </a:xfrm>
          <a:prstGeom prst="rect">
            <a:avLst/>
          </a:prstGeom>
          <a:solidFill>
            <a:srgbClr val="0B1F3A"/>
          </a:solidFill>
          <a:ln w="9525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" y="2843784"/>
            <a:ext cx="1394277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90" b="1">
                <a:solidFill>
                  <a:srgbClr val="FFFFFF"/>
                </a:solidFill>
                <a:latin typeface="NanumSquare"/>
              </a:rPr>
              <a:t>Change Class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53229" y="2843784"/>
            <a:ext cx="1342522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90" b="1">
                <a:solidFill>
                  <a:srgbClr val="FFFFFF"/>
                </a:solidFill>
                <a:latin typeface="NanumSquare"/>
              </a:rPr>
              <a:t>Deployment Path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50615" y="2843784"/>
            <a:ext cx="1239012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90" b="1">
                <a:solidFill>
                  <a:srgbClr val="FFFFFF"/>
                </a:solidFill>
                <a:latin typeface="NanumSquare"/>
              </a:rPr>
              <a:t>Mandatory Gate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4491" y="2843784"/>
            <a:ext cx="98023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90" b="1">
                <a:solidFill>
                  <a:srgbClr val="FFFFFF"/>
                </a:solidFill>
                <a:latin typeface="NanumSquare"/>
              </a:rPr>
              <a:t>Evidence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6656" y="3008376"/>
            <a:ext cx="1449141" cy="2514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8660" y="3051352"/>
            <a:ext cx="1385133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b="1">
                <a:solidFill>
                  <a:srgbClr val="0B1F3A"/>
                </a:solidFill>
                <a:latin typeface="NanumSquare"/>
              </a:rPr>
              <a:t>SWC / ECU 코드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25797" y="3008376"/>
            <a:ext cx="1397386" cy="2514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57801" y="3051352"/>
            <a:ext cx="1333378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b="1">
                <a:solidFill>
                  <a:srgbClr val="2A323C"/>
                </a:solidFill>
                <a:latin typeface="NanumSquare"/>
              </a:rPr>
              <a:t>Binary OTA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23183" y="3008376"/>
            <a:ext cx="1293876" cy="2514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55187" y="3051352"/>
            <a:ext cx="1229868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b="0">
                <a:solidFill>
                  <a:srgbClr val="2A323C"/>
                </a:solidFill>
                <a:latin typeface="NanumSquare"/>
              </a:rPr>
              <a:t>SW 통합 · OTA · Safety/Sec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17059" y="3008376"/>
            <a:ext cx="1035100" cy="2514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49063" y="3051352"/>
            <a:ext cx="971092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b="0">
                <a:solidFill>
                  <a:srgbClr val="2A323C"/>
                </a:solidFill>
                <a:latin typeface="NanumSquare"/>
              </a:rPr>
              <a:t>Build ID, Test Report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6656" y="3259836"/>
            <a:ext cx="1449141" cy="251460"/>
          </a:xfrm>
          <a:prstGeom prst="rect">
            <a:avLst/>
          </a:prstGeom>
          <a:solidFill>
            <a:srgbClr val="F7FAFD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8660" y="3302812"/>
            <a:ext cx="1385133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b="1">
                <a:solidFill>
                  <a:srgbClr val="0B1F3A"/>
                </a:solidFill>
                <a:latin typeface="NanumSquare"/>
              </a:rPr>
              <a:t>API / Signal / DTC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125797" y="3259836"/>
            <a:ext cx="1397386" cy="251460"/>
          </a:xfrm>
          <a:prstGeom prst="rect">
            <a:avLst/>
          </a:prstGeom>
          <a:solidFill>
            <a:srgbClr val="F7FAFD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57801" y="3302812"/>
            <a:ext cx="1333378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b="1">
                <a:solidFill>
                  <a:srgbClr val="2A323C"/>
                </a:solidFill>
                <a:latin typeface="NanumSquare"/>
              </a:rPr>
              <a:t>Binary OTA + Supplier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23183" y="3259836"/>
            <a:ext cx="1293876" cy="251460"/>
          </a:xfrm>
          <a:prstGeom prst="rect">
            <a:avLst/>
          </a:prstGeom>
          <a:solidFill>
            <a:srgbClr val="F7FAFD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555187" y="3302812"/>
            <a:ext cx="1229868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b="0">
                <a:solidFill>
                  <a:srgbClr val="2A323C"/>
                </a:solidFill>
                <a:latin typeface="NanumSquare"/>
              </a:rPr>
              <a:t>Contract Diff · Integration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17059" y="3259836"/>
            <a:ext cx="1035100" cy="251460"/>
          </a:xfrm>
          <a:prstGeom prst="rect">
            <a:avLst/>
          </a:prstGeom>
          <a:solidFill>
            <a:srgbClr val="F7FAFD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849063" y="3302812"/>
            <a:ext cx="971092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b="0">
                <a:solidFill>
                  <a:srgbClr val="2A323C"/>
                </a:solidFill>
                <a:latin typeface="NanumSquare"/>
              </a:rPr>
              <a:t>API Spec, Supplier TC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6656" y="3511296"/>
            <a:ext cx="1449141" cy="2514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08660" y="3554272"/>
            <a:ext cx="1385133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b="1">
                <a:solidFill>
                  <a:srgbClr val="0B1F3A"/>
                </a:solidFill>
                <a:latin typeface="NanumSquare"/>
              </a:rPr>
              <a:t>Policy / Targeting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125797" y="3511296"/>
            <a:ext cx="1397386" cy="2514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157801" y="3554272"/>
            <a:ext cx="1333378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b="1">
                <a:solidFill>
                  <a:srgbClr val="2A323C"/>
                </a:solidFill>
                <a:latin typeface="NanumSquare"/>
              </a:rPr>
              <a:t>Policy-only Deploy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523183" y="3511296"/>
            <a:ext cx="1293876" cy="2514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555187" y="3554272"/>
            <a:ext cx="1229868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b="0">
                <a:solidFill>
                  <a:srgbClr val="2A323C"/>
                </a:solidFill>
                <a:latin typeface="NanumSquare"/>
              </a:rPr>
              <a:t>Policy Approval · Rollback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817059" y="3511296"/>
            <a:ext cx="1035100" cy="2514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849063" y="3554272"/>
            <a:ext cx="971092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b="0">
                <a:solidFill>
                  <a:srgbClr val="2A323C"/>
                </a:solidFill>
                <a:latin typeface="NanumSquare"/>
              </a:rPr>
              <a:t>Policy Ver., Rule Review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76656" y="3762756"/>
            <a:ext cx="1449141" cy="251460"/>
          </a:xfrm>
          <a:prstGeom prst="rect">
            <a:avLst/>
          </a:prstGeom>
          <a:solidFill>
            <a:srgbClr val="F7FAFD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08660" y="3805732"/>
            <a:ext cx="1385133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b="1">
                <a:solidFill>
                  <a:srgbClr val="0B1F3A"/>
                </a:solidFill>
                <a:latin typeface="NanumSquare"/>
              </a:rPr>
              <a:t>Variant / Capability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125797" y="3762756"/>
            <a:ext cx="1397386" cy="251460"/>
          </a:xfrm>
          <a:prstGeom prst="rect">
            <a:avLst/>
          </a:prstGeom>
          <a:solidFill>
            <a:srgbClr val="F7FAFD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57801" y="3805732"/>
            <a:ext cx="1333378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b="1">
                <a:solidFill>
                  <a:srgbClr val="2A323C"/>
                </a:solidFill>
                <a:latin typeface="NanumSquare"/>
              </a:rPr>
              <a:t>Config / Policy-only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523183" y="3762756"/>
            <a:ext cx="1293876" cy="251460"/>
          </a:xfrm>
          <a:prstGeom prst="rect">
            <a:avLst/>
          </a:prstGeom>
          <a:solidFill>
            <a:srgbClr val="F7FAFD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555187" y="3805732"/>
            <a:ext cx="1229868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b="0">
                <a:solidFill>
                  <a:srgbClr val="2A323C"/>
                </a:solidFill>
                <a:latin typeface="NanumSquare"/>
              </a:rPr>
              <a:t>Applicability · Cohort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817059" y="3762756"/>
            <a:ext cx="1035100" cy="251460"/>
          </a:xfrm>
          <a:prstGeom prst="rect">
            <a:avLst/>
          </a:prstGeom>
          <a:solidFill>
            <a:srgbClr val="F7FAFD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849063" y="3805732"/>
            <a:ext cx="971092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b="0">
                <a:solidFill>
                  <a:srgbClr val="2A323C"/>
                </a:solidFill>
                <a:latin typeface="NanumSquare"/>
              </a:rPr>
              <a:t>Rule Test, Preview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76656" y="4014216"/>
            <a:ext cx="1449141" cy="2514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08660" y="4057192"/>
            <a:ext cx="1385133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b="1">
                <a:solidFill>
                  <a:srgbClr val="0B1F3A"/>
                </a:solidFill>
                <a:latin typeface="NanumSquare"/>
              </a:rPr>
              <a:t>Calibration / Parameter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125797" y="4014216"/>
            <a:ext cx="1397386" cy="2514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57801" y="4057192"/>
            <a:ext cx="1333378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b="1">
                <a:solidFill>
                  <a:srgbClr val="2A323C"/>
                </a:solidFill>
                <a:latin typeface="NanumSquare"/>
              </a:rPr>
              <a:t>Calibration Update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523183" y="4014216"/>
            <a:ext cx="1293876" cy="2514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555187" y="4057192"/>
            <a:ext cx="1229868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b="0">
                <a:solidFill>
                  <a:srgbClr val="2A323C"/>
                </a:solidFill>
                <a:latin typeface="NanumSquare"/>
              </a:rPr>
              <a:t>Range · Compatibility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817059" y="4014216"/>
            <a:ext cx="1035100" cy="2514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849063" y="4057192"/>
            <a:ext cx="971092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b="0">
                <a:solidFill>
                  <a:srgbClr val="2A323C"/>
                </a:solidFill>
                <a:latin typeface="NanumSquare"/>
              </a:rPr>
              <a:t>Cal Package, Cal Test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76656" y="4265676"/>
            <a:ext cx="1449141" cy="251460"/>
          </a:xfrm>
          <a:prstGeom prst="rect">
            <a:avLst/>
          </a:prstGeom>
          <a:solidFill>
            <a:srgbClr val="F7FAFD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08660" y="4308652"/>
            <a:ext cx="1385133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b="1">
                <a:solidFill>
                  <a:srgbClr val="0B1F3A"/>
                </a:solidFill>
                <a:latin typeface="NanumSquare"/>
              </a:rPr>
              <a:t>Emergency Disable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125797" y="4265676"/>
            <a:ext cx="1397386" cy="251460"/>
          </a:xfrm>
          <a:prstGeom prst="rect">
            <a:avLst/>
          </a:prstGeom>
          <a:solidFill>
            <a:srgbClr val="F7FAFD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157801" y="4308652"/>
            <a:ext cx="1333378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b="1">
                <a:solidFill>
                  <a:srgbClr val="2A323C"/>
                </a:solidFill>
                <a:latin typeface="NanumSquare"/>
              </a:rPr>
              <a:t>Policy-only Emergency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523183" y="4265676"/>
            <a:ext cx="1293876" cy="251460"/>
          </a:xfrm>
          <a:prstGeom prst="rect">
            <a:avLst/>
          </a:prstGeom>
          <a:solidFill>
            <a:srgbClr val="F7FAFD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555187" y="4308652"/>
            <a:ext cx="1229868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b="0">
                <a:solidFill>
                  <a:srgbClr val="2A323C"/>
                </a:solidFill>
                <a:latin typeface="NanumSquare"/>
              </a:rPr>
              <a:t>Emergency Approval · Audit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817059" y="4265676"/>
            <a:ext cx="1035100" cy="251460"/>
          </a:xfrm>
          <a:prstGeom prst="rect">
            <a:avLst/>
          </a:prstGeom>
          <a:solidFill>
            <a:srgbClr val="F7FAFD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849063" y="4308652"/>
            <a:ext cx="971092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b="0">
                <a:solidFill>
                  <a:srgbClr val="2A323C"/>
                </a:solidFill>
                <a:latin typeface="NanumSquare"/>
              </a:rPr>
              <a:t>Kill-switch Log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36208" y="2258568"/>
            <a:ext cx="5394960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B1F3A"/>
                </a:solidFill>
                <a:latin typeface="NanumSquare"/>
              </a:rPr>
              <a:t>3. Verification Scope Derivation — Feature 조건별 검증범위 자동 산출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236208" y="2514600"/>
            <a:ext cx="5394960" cy="16459"/>
          </a:xfrm>
          <a:prstGeom prst="rect">
            <a:avLst/>
          </a:prstGeom>
          <a:solidFill>
            <a:srgbClr val="168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6236208" y="2615184"/>
            <a:ext cx="5394960" cy="2121408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6419088" y="2761488"/>
            <a:ext cx="5029200" cy="310896"/>
          </a:xfrm>
          <a:prstGeom prst="roundRect">
            <a:avLst/>
          </a:prstGeom>
          <a:solidFill>
            <a:srgbClr val="EAF4FA"/>
          </a:solidFill>
          <a:ln w="9525">
            <a:solidFill>
              <a:srgbClr val="AA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547104" y="2843784"/>
            <a:ext cx="4773168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95" b="1">
                <a:solidFill>
                  <a:srgbClr val="0B1F3A"/>
                </a:solidFill>
                <a:latin typeface="NanumSquare"/>
              </a:rPr>
              <a:t>Required Scope = Base Feature Tests + Changed Artifact Tests + Conditional Gates + Missing Evidence Closure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428232" y="3264408"/>
            <a:ext cx="1197864" cy="320040"/>
          </a:xfrm>
          <a:prstGeom prst="roundRect">
            <a:avLst/>
          </a:prstGeom>
          <a:solidFill>
            <a:srgbClr val="E8F4FA"/>
          </a:solidFill>
          <a:ln w="9525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473952" y="3328415"/>
            <a:ext cx="1106424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75" b="1">
                <a:solidFill>
                  <a:srgbClr val="168AAD"/>
                </a:solidFill>
                <a:latin typeface="NanumSquare"/>
              </a:rPr>
              <a:t>Runtime Control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473952" y="3456432"/>
            <a:ext cx="1106424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" b="0">
                <a:solidFill>
                  <a:srgbClr val="2A323C"/>
                </a:solidFill>
                <a:latin typeface="NanumSquare"/>
              </a:rPr>
              <a:t>Apply / Fail / Rollback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7699248" y="3264408"/>
            <a:ext cx="1197864" cy="320040"/>
          </a:xfrm>
          <a:prstGeom prst="roundRect">
            <a:avLst/>
          </a:prstGeom>
          <a:solidFill>
            <a:srgbClr val="E8F4FA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744968" y="3328415"/>
            <a:ext cx="1106424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75" b="1">
                <a:solidFill>
                  <a:srgbClr val="1F4E79"/>
                </a:solidFill>
                <a:latin typeface="NanumSquare"/>
              </a:rPr>
              <a:t>Variant Rule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744968" y="3456432"/>
            <a:ext cx="1106424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" b="0">
                <a:solidFill>
                  <a:srgbClr val="2A323C"/>
                </a:solidFill>
                <a:latin typeface="NanumSquare"/>
              </a:rPr>
              <a:t>Allowed / Blocked 차량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970264" y="3264408"/>
            <a:ext cx="1197864" cy="320040"/>
          </a:xfrm>
          <a:prstGeom prst="roundRect">
            <a:avLst/>
          </a:prstGeom>
          <a:solidFill>
            <a:srgbClr val="F2EFFA"/>
          </a:solidFill>
          <a:ln w="9525">
            <a:solidFill>
              <a:srgbClr val="7462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015984" y="3328415"/>
            <a:ext cx="1106424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75" b="1">
                <a:solidFill>
                  <a:srgbClr val="7462A9"/>
                </a:solidFill>
                <a:latin typeface="NanumSquare"/>
              </a:rPr>
              <a:t>Supplier Function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015984" y="3456432"/>
            <a:ext cx="1106424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" b="0">
                <a:solidFill>
                  <a:srgbClr val="2A323C"/>
                </a:solidFill>
                <a:latin typeface="NanumSquare"/>
              </a:rPr>
              <a:t>Supplier Integration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0241280" y="3264408"/>
            <a:ext cx="1197864" cy="320040"/>
          </a:xfrm>
          <a:prstGeom prst="roundRect">
            <a:avLst/>
          </a:prstGeom>
          <a:solidFill>
            <a:srgbClr val="FCEEEE"/>
          </a:solidFill>
          <a:ln w="9525">
            <a:solidFill>
              <a:srgbClr val="C0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287000" y="3328415"/>
            <a:ext cx="1106424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75" b="1">
                <a:solidFill>
                  <a:srgbClr val="C04848"/>
                </a:solidFill>
                <a:latin typeface="NanumSquare"/>
              </a:rPr>
              <a:t>Safety Impact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287000" y="3456432"/>
            <a:ext cx="1106424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" b="0">
                <a:solidFill>
                  <a:srgbClr val="2A323C"/>
                </a:solidFill>
                <a:latin typeface="NanumSquare"/>
              </a:rPr>
              <a:t>Safe Default / Degraded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428232" y="3703320"/>
            <a:ext cx="1197864" cy="320040"/>
          </a:xfrm>
          <a:prstGeom prst="roundRect">
            <a:avLst/>
          </a:prstGeom>
          <a:solidFill>
            <a:srgbClr val="FDF3E7"/>
          </a:solidFill>
          <a:ln w="9525">
            <a:solidFill>
              <a:srgbClr val="E88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473952" y="3767328"/>
            <a:ext cx="1106424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75" b="1">
                <a:solidFill>
                  <a:srgbClr val="E88C30"/>
                </a:solidFill>
                <a:latin typeface="NanumSquare"/>
              </a:rPr>
              <a:t>Security Impact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473952" y="3895344"/>
            <a:ext cx="1106424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" b="0">
                <a:solidFill>
                  <a:srgbClr val="2A323C"/>
                </a:solidFill>
                <a:latin typeface="NanumSquare"/>
              </a:rPr>
              <a:t>Auth / Integrity / Signing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7699248" y="3703320"/>
            <a:ext cx="1197864" cy="320040"/>
          </a:xfrm>
          <a:prstGeom prst="roundRect">
            <a:avLst/>
          </a:prstGeom>
          <a:solidFill>
            <a:srgbClr val="EBF7F1"/>
          </a:solidFill>
          <a:ln w="9525">
            <a:solidFill>
              <a:srgbClr val="2F9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744968" y="3767328"/>
            <a:ext cx="1106424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75" b="1">
                <a:solidFill>
                  <a:srgbClr val="2F9A6C"/>
                </a:solidFill>
                <a:latin typeface="NanumSquare"/>
              </a:rPr>
              <a:t>OTA Impact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744968" y="3895344"/>
            <a:ext cx="1106424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" b="0">
                <a:solidFill>
                  <a:srgbClr val="2A323C"/>
                </a:solidFill>
                <a:latin typeface="NanumSquare"/>
              </a:rPr>
              <a:t>Update / Rollback / Version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8970264" y="3703320"/>
            <a:ext cx="1197864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67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015984" y="3767328"/>
            <a:ext cx="1106424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75" b="1">
                <a:solidFill>
                  <a:srgbClr val="66717D"/>
                </a:solidFill>
                <a:latin typeface="NanumSquare"/>
              </a:rPr>
              <a:t>Telemetry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015984" y="3895344"/>
            <a:ext cx="1106424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" b="0">
                <a:solidFill>
                  <a:srgbClr val="2A323C"/>
                </a:solidFill>
                <a:latin typeface="NanumSquare"/>
              </a:rPr>
              <a:t>Event / Audit / DTC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10241280" y="3703320"/>
            <a:ext cx="1197864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A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287000" y="3767328"/>
            <a:ext cx="1106424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75" b="1">
                <a:solidFill>
                  <a:srgbClr val="2A323C"/>
                </a:solidFill>
                <a:latin typeface="NanumSquare"/>
              </a:rPr>
              <a:t>Missing Evidence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287000" y="3895344"/>
            <a:ext cx="1106424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" b="0">
                <a:solidFill>
                  <a:srgbClr val="2A323C"/>
                </a:solidFill>
                <a:latin typeface="NanumSquare"/>
              </a:rPr>
              <a:t>Blocker / Waiver / Owner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6419088" y="4233672"/>
            <a:ext cx="5029200" cy="3291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565392" y="4325112"/>
            <a:ext cx="4736592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70" b="1">
                <a:solidFill>
                  <a:srgbClr val="2A323C"/>
                </a:solidFill>
                <a:latin typeface="NanumSquare"/>
              </a:rPr>
              <a:t>Gate Output: RequiredTests · MissingEvidence · BlockingIssues · Approver · RollbackPlan · AuditRecord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30352" y="4965192"/>
            <a:ext cx="11155680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B1F3A"/>
                </a:solidFill>
                <a:latin typeface="NanumSquare"/>
              </a:rPr>
              <a:t>4. Decision Output Contract — Registry에 저장되는 판단 결과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30352" y="5221224"/>
            <a:ext cx="11155680" cy="16459"/>
          </a:xfrm>
          <a:prstGeom prst="rect">
            <a:avLst/>
          </a:prstGeom>
          <a:solidFill>
            <a:srgbClr val="168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530352" y="5321808"/>
            <a:ext cx="11155680" cy="640080"/>
          </a:xfrm>
          <a:prstGeom prst="roundRect">
            <a:avLst/>
          </a:prstGeom>
          <a:solidFill>
            <a:srgbClr val="FAFCFE"/>
          </a:solidFill>
          <a:ln w="9525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713232" y="5449824"/>
            <a:ext cx="1719072" cy="3108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8952" y="5513832"/>
            <a:ext cx="1627631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" b="1">
                <a:solidFill>
                  <a:srgbClr val="168AAD"/>
                </a:solidFill>
                <a:latin typeface="NanumSquare"/>
              </a:rPr>
              <a:t>deploymentDecision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58952" y="5632704"/>
            <a:ext cx="1627631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35" b="0">
                <a:solidFill>
                  <a:srgbClr val="2A323C"/>
                </a:solidFill>
                <a:latin typeface="NanumSquare"/>
              </a:rPr>
              <a:t>BinaryOTA | PolicyOnly | Config | CalUpdate | ManualReview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2542032" y="5449824"/>
            <a:ext cx="1719072" cy="3108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2587752" y="5513832"/>
            <a:ext cx="1627631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" b="1">
                <a:solidFill>
                  <a:srgbClr val="1F4E79"/>
                </a:solidFill>
                <a:latin typeface="NanumSquare"/>
              </a:rPr>
              <a:t>confidence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587752" y="5632704"/>
            <a:ext cx="1627631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35" b="0">
                <a:solidFill>
                  <a:srgbClr val="2A323C"/>
                </a:solidFill>
                <a:latin typeface="NanumSquare"/>
              </a:rPr>
              <a:t>High | Medium | Low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4370832" y="5449824"/>
            <a:ext cx="1719072" cy="3108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8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416552" y="5513832"/>
            <a:ext cx="1627631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" b="1">
                <a:solidFill>
                  <a:srgbClr val="E88C30"/>
                </a:solidFill>
                <a:latin typeface="NanumSquare"/>
              </a:rPr>
              <a:t>requiredGates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416552" y="5632704"/>
            <a:ext cx="1627631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35" b="0">
                <a:solidFill>
                  <a:srgbClr val="2A323C"/>
                </a:solidFill>
                <a:latin typeface="NanumSquare"/>
              </a:rPr>
              <a:t>Policy · Variant · Verification · Safety · Security · OTA · Ops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6199632" y="5449824"/>
            <a:ext cx="1719072" cy="3108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F9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245352" y="5513832"/>
            <a:ext cx="1627631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" b="1">
                <a:solidFill>
                  <a:srgbClr val="2F9A6C"/>
                </a:solidFill>
                <a:latin typeface="NanumSquare"/>
              </a:rPr>
              <a:t>requiredTests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245352" y="5632704"/>
            <a:ext cx="1627631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35" b="0">
                <a:solidFill>
                  <a:srgbClr val="2A323C"/>
                </a:solidFill>
                <a:latin typeface="NanumSquare"/>
              </a:rPr>
              <a:t>TC IDs + evidence owner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8028431" y="5449824"/>
            <a:ext cx="1719072" cy="3108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0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8074152" y="5513832"/>
            <a:ext cx="1627631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" b="1">
                <a:solidFill>
                  <a:srgbClr val="C04848"/>
                </a:solidFill>
                <a:latin typeface="NanumSquare"/>
              </a:rPr>
              <a:t>blockingIssues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074152" y="5632704"/>
            <a:ext cx="1627631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35" b="0">
                <a:solidFill>
                  <a:srgbClr val="2A323C"/>
                </a:solidFill>
                <a:latin typeface="NanumSquare"/>
              </a:rPr>
              <a:t>missing evidence / rule conflict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9857232" y="5449824"/>
            <a:ext cx="1719072" cy="3108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462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9902952" y="5513832"/>
            <a:ext cx="1627631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" b="1">
                <a:solidFill>
                  <a:srgbClr val="7462A9"/>
                </a:solidFill>
                <a:latin typeface="NanumSquare"/>
              </a:rPr>
              <a:t>rollbackPlan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902952" y="5632704"/>
            <a:ext cx="1627631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35" b="0">
                <a:solidFill>
                  <a:srgbClr val="2A323C"/>
                </a:solidFill>
                <a:latin typeface="NanumSquare"/>
              </a:rPr>
              <a:t>previous stable / safe default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530352" y="6035040"/>
            <a:ext cx="11155680" cy="329184"/>
          </a:xfrm>
          <a:prstGeom prst="roundRect">
            <a:avLst/>
          </a:prstGeom>
          <a:solidFill>
            <a:srgbClr val="EAF4FA"/>
          </a:solidFill>
          <a:ln w="9525">
            <a:solidFill>
              <a:srgbClr val="AA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31520" y="6117336"/>
            <a:ext cx="10753344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" b="1">
                <a:solidFill>
                  <a:srgbClr val="168AAD"/>
                </a:solidFill>
                <a:latin typeface="NanumSquare"/>
              </a:rPr>
              <a:t>BDC-001 예시: </a:t>
            </a:r>
            <a:r>
              <a:rPr sz="540" b="0">
                <a:solidFill>
                  <a:srgbClr val="2A323C"/>
                </a:solidFill>
                <a:latin typeface="NanumSquare"/>
              </a:rPr>
              <a:t>Targeting Rule 변경 → </a:t>
            </a:r>
            <a:r>
              <a:rPr sz="540" b="1">
                <a:solidFill>
                  <a:srgbClr val="E88C30"/>
                </a:solidFill>
                <a:latin typeface="NanumSquare"/>
              </a:rPr>
              <a:t>Policy-only Deploy</a:t>
            </a:r>
            <a:r>
              <a:rPr sz="540" b="0">
                <a:solidFill>
                  <a:srgbClr val="2A323C"/>
                </a:solidFill>
                <a:latin typeface="NanumSquare"/>
              </a:rPr>
              <a:t>; Required Gates = Policy Approval · Variant Review · Rollback Test · Telemetry Validation; SWC/API 변경 없음 → Binary OTA 불필요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530352" y="6419088"/>
            <a:ext cx="11155680" cy="164592"/>
          </a:xfrm>
          <a:prstGeom prst="rect">
            <a:avLst/>
          </a:prstGeom>
          <a:solidFill>
            <a:srgbClr val="0B1F3A"/>
          </a:solidFill>
          <a:ln w="9525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713232" y="6460236"/>
            <a:ext cx="10789920" cy="64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00" b="1">
                <a:solidFill>
                  <a:srgbClr val="FFFFFF"/>
                </a:solidFill>
                <a:latin typeface="NanumSquare"/>
              </a:rPr>
              <a:t>핵심: 배포 방식 판단과 검증범위 도출은 분리하되, Release Readiness Gate에서 결합되어 Production 적용 가능 여부를 결정한다.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01168" y="6656832"/>
            <a:ext cx="1179576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5" b="0">
                <a:solidFill>
                  <a:srgbClr val="66717D"/>
                </a:solidFill>
                <a:latin typeface="NanumSquare"/>
              </a:rPr>
              <a:t>출처/근거/참조: ISO 24089:2023 Software update engineering; ISO 26262:2018 Functional safety; ISO/SAE 21434:2021 Cybersecurity engineering; OpenFeature Specification; Mutuus Lab Deployment Decision model.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8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64592"/>
            <a:ext cx="530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68AAD"/>
                </a:solidFill>
                <a:latin typeface="NanumSquare"/>
              </a:rPr>
              <a:t>04-3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18872"/>
            <a:ext cx="106070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10" b="1">
                <a:solidFill>
                  <a:srgbClr val="0B1F3A"/>
                </a:solidFill>
                <a:latin typeface="NanumSquare"/>
              </a:rPr>
              <a:t>Operations / Telemetry / Audit — 실차 운영 이벤트와 복구 액션 상세 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1109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0">
                <a:solidFill>
                  <a:srgbClr val="2A323C"/>
                </a:solidFill>
                <a:latin typeface="NanumSquare"/>
              </a:rPr>
              <a:t>운영 데이터는 단순 모니터링 지표가 아니라 Feature ID 기준 증적 데이터이며, Release 이후 Topology·Incident·Rollback·Gate 보완으로 환류된다.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87552"/>
            <a:ext cx="11155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" b="1">
                <a:solidFill>
                  <a:srgbClr val="0B1F3A"/>
                </a:solidFill>
                <a:latin typeface="NanumSquare"/>
              </a:rPr>
              <a:t>1. Event-to-Evidence Pipeline — Runtime Event를 증적·복구·Topology Update로 연결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234440"/>
            <a:ext cx="11155680" cy="16459"/>
          </a:xfrm>
          <a:prstGeom prst="rect">
            <a:avLst/>
          </a:prstGeom>
          <a:solidFill>
            <a:srgbClr val="168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3504" y="1316736"/>
            <a:ext cx="1627632" cy="566928"/>
          </a:xfrm>
          <a:prstGeom prst="roundRect">
            <a:avLst/>
          </a:prstGeom>
          <a:solidFill>
            <a:srgbClr val="E8F4FA"/>
          </a:solidFill>
          <a:ln w="9525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7512" y="1389888"/>
            <a:ext cx="256032" cy="146304"/>
          </a:xfrm>
          <a:prstGeom prst="roundRect">
            <a:avLst/>
          </a:prstGeom>
          <a:solidFill>
            <a:srgbClr val="168AAD"/>
          </a:solidFill>
          <a:ln w="9525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412748"/>
            <a:ext cx="256032" cy="5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" b="1">
                <a:solidFill>
                  <a:srgbClr val="FFFFFF"/>
                </a:solidFill>
                <a:latin typeface="NanumSquare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1385316"/>
            <a:ext cx="1197864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4" b="1">
                <a:solidFill>
                  <a:srgbClr val="0B1F3A"/>
                </a:solidFill>
                <a:latin typeface="NanumSquare"/>
              </a:rPr>
              <a:t>Evaluate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1609344"/>
            <a:ext cx="1444752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5" b="0">
                <a:solidFill>
                  <a:srgbClr val="2A323C"/>
                </a:solidFill>
                <a:latin typeface="NanumSquare"/>
              </a:rPr>
              <a:t>차량 내 Policy/Flag 평가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31136" y="1600200"/>
            <a:ext cx="201168" cy="0"/>
          </a:xfrm>
          <a:prstGeom prst="line">
            <a:avLst/>
          </a:prstGeom>
          <a:ln w="9525">
            <a:solidFill>
              <a:srgbClr val="667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32304" y="1316736"/>
            <a:ext cx="1627632" cy="566928"/>
          </a:xfrm>
          <a:prstGeom prst="roundRect">
            <a:avLst/>
          </a:prstGeom>
          <a:solidFill>
            <a:srgbClr val="F2EFFA"/>
          </a:solidFill>
          <a:ln w="9525">
            <a:solidFill>
              <a:srgbClr val="7462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496312" y="1389888"/>
            <a:ext cx="256032" cy="146304"/>
          </a:xfrm>
          <a:prstGeom prst="roundRect">
            <a:avLst/>
          </a:prstGeom>
          <a:solidFill>
            <a:srgbClr val="7462A9"/>
          </a:solidFill>
          <a:ln w="9525">
            <a:solidFill>
              <a:srgbClr val="7462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96312" y="1412748"/>
            <a:ext cx="256032" cy="5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" b="1">
                <a:solidFill>
                  <a:srgbClr val="FFFFFF"/>
                </a:solidFill>
                <a:latin typeface="NanumSquare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98064" y="1385316"/>
            <a:ext cx="1197864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4" b="1">
                <a:solidFill>
                  <a:srgbClr val="0B1F3A"/>
                </a:solidFill>
                <a:latin typeface="NanumSquare"/>
              </a:rPr>
              <a:t>Emit Event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23744" y="1609344"/>
            <a:ext cx="1444752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5" b="0">
                <a:solidFill>
                  <a:srgbClr val="2A323C"/>
                </a:solidFill>
                <a:latin typeface="NanumSquare"/>
              </a:rPr>
              <a:t>featureId·policyVersion 포함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59936" y="1600200"/>
            <a:ext cx="201168" cy="0"/>
          </a:xfrm>
          <a:prstGeom prst="line">
            <a:avLst/>
          </a:prstGeom>
          <a:ln w="9525">
            <a:solidFill>
              <a:srgbClr val="667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261104" y="1316736"/>
            <a:ext cx="1627632" cy="566928"/>
          </a:xfrm>
          <a:prstGeom prst="roundRect">
            <a:avLst/>
          </a:prstGeom>
          <a:solidFill>
            <a:srgbClr val="FDF3E7"/>
          </a:solidFill>
          <a:ln w="9525">
            <a:solidFill>
              <a:srgbClr val="E88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25112" y="1389888"/>
            <a:ext cx="256032" cy="146304"/>
          </a:xfrm>
          <a:prstGeom prst="roundRect">
            <a:avLst/>
          </a:prstGeom>
          <a:solidFill>
            <a:srgbClr val="E88C30"/>
          </a:solidFill>
          <a:ln w="9525">
            <a:solidFill>
              <a:srgbClr val="E88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25112" y="1412748"/>
            <a:ext cx="256032" cy="5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" b="1">
                <a:solidFill>
                  <a:srgbClr val="FFFFFF"/>
                </a:solidFill>
                <a:latin typeface="NanumSquare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1385316"/>
            <a:ext cx="1197864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4" b="1">
                <a:solidFill>
                  <a:srgbClr val="0B1F3A"/>
                </a:solidFill>
                <a:latin typeface="NanumSquare"/>
              </a:rPr>
              <a:t>Ingest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52544" y="1609344"/>
            <a:ext cx="1444752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5" b="0">
                <a:solidFill>
                  <a:srgbClr val="2A323C"/>
                </a:solidFill>
                <a:latin typeface="NanumSquare"/>
              </a:rPr>
              <a:t>수집·정규화·중복 제거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888736" y="1600200"/>
            <a:ext cx="201168" cy="0"/>
          </a:xfrm>
          <a:prstGeom prst="line">
            <a:avLst/>
          </a:prstGeom>
          <a:ln w="9525">
            <a:solidFill>
              <a:srgbClr val="667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089904" y="1316736"/>
            <a:ext cx="1627632" cy="566928"/>
          </a:xfrm>
          <a:prstGeom prst="roundRect">
            <a:avLst/>
          </a:prstGeom>
          <a:solidFill>
            <a:srgbClr val="EBF7F1"/>
          </a:solidFill>
          <a:ln w="9525">
            <a:solidFill>
              <a:srgbClr val="2F9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53912" y="1389888"/>
            <a:ext cx="256032" cy="146304"/>
          </a:xfrm>
          <a:prstGeom prst="roundRect">
            <a:avLst/>
          </a:prstGeom>
          <a:solidFill>
            <a:srgbClr val="2F9A6C"/>
          </a:solidFill>
          <a:ln w="9525">
            <a:solidFill>
              <a:srgbClr val="2F9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53912" y="1412748"/>
            <a:ext cx="256032" cy="5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" b="1">
                <a:solidFill>
                  <a:srgbClr val="FFFFFF"/>
                </a:solidFill>
                <a:latin typeface="NanumSquare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1385316"/>
            <a:ext cx="1197864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4" b="1">
                <a:solidFill>
                  <a:srgbClr val="0B1F3A"/>
                </a:solidFill>
                <a:latin typeface="NanumSquare"/>
              </a:rPr>
              <a:t>Correlate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81344" y="1609344"/>
            <a:ext cx="1444752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5" b="0">
                <a:solidFill>
                  <a:srgbClr val="2A323C"/>
                </a:solidFill>
                <a:latin typeface="NanumSquare"/>
              </a:rPr>
              <a:t>Feature Topology와 연결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717536" y="1600200"/>
            <a:ext cx="201168" cy="0"/>
          </a:xfrm>
          <a:prstGeom prst="line">
            <a:avLst/>
          </a:prstGeom>
          <a:ln w="9525">
            <a:solidFill>
              <a:srgbClr val="667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918704" y="1316736"/>
            <a:ext cx="1627632" cy="566928"/>
          </a:xfrm>
          <a:prstGeom prst="roundRect">
            <a:avLst/>
          </a:prstGeom>
          <a:solidFill>
            <a:srgbClr val="FCEEEE"/>
          </a:solidFill>
          <a:ln w="9525">
            <a:solidFill>
              <a:srgbClr val="C0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982712" y="1389888"/>
            <a:ext cx="256032" cy="146304"/>
          </a:xfrm>
          <a:prstGeom prst="roundRect">
            <a:avLst/>
          </a:prstGeom>
          <a:solidFill>
            <a:srgbClr val="C04848"/>
          </a:solidFill>
          <a:ln w="9525">
            <a:solidFill>
              <a:srgbClr val="C0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82712" y="1412748"/>
            <a:ext cx="256032" cy="5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" b="1">
                <a:solidFill>
                  <a:srgbClr val="FFFFFF"/>
                </a:solidFill>
                <a:latin typeface="NanumSquare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4464" y="1385316"/>
            <a:ext cx="1197864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4" b="1">
                <a:solidFill>
                  <a:srgbClr val="0B1F3A"/>
                </a:solidFill>
                <a:latin typeface="NanumSquare"/>
              </a:rPr>
              <a:t>Detect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10144" y="1609344"/>
            <a:ext cx="1444752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5" b="0">
                <a:solidFill>
                  <a:srgbClr val="2A323C"/>
                </a:solidFill>
                <a:latin typeface="NanumSquare"/>
              </a:rPr>
              <a:t>Rule/Threshold 기반 이상 탐지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546336" y="1600200"/>
            <a:ext cx="201168" cy="0"/>
          </a:xfrm>
          <a:prstGeom prst="line">
            <a:avLst/>
          </a:prstGeom>
          <a:ln w="9525">
            <a:solidFill>
              <a:srgbClr val="667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747504" y="1316736"/>
            <a:ext cx="1627632" cy="566928"/>
          </a:xfrm>
          <a:prstGeom prst="roundRect">
            <a:avLst/>
          </a:prstGeom>
          <a:solidFill>
            <a:srgbClr val="EEF4FB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811512" y="1389888"/>
            <a:ext cx="256032" cy="146304"/>
          </a:xfrm>
          <a:prstGeom prst="round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11512" y="1412748"/>
            <a:ext cx="256032" cy="5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" b="1">
                <a:solidFill>
                  <a:srgbClr val="FFFFFF"/>
                </a:solidFill>
                <a:latin typeface="NanumSquare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13264" y="1385316"/>
            <a:ext cx="1197864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4" b="1">
                <a:solidFill>
                  <a:srgbClr val="0B1F3A"/>
                </a:solidFill>
                <a:latin typeface="NanumSquare"/>
              </a:rPr>
              <a:t>Act &amp; Evidence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38944" y="1609344"/>
            <a:ext cx="1444752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5" b="0">
                <a:solidFill>
                  <a:srgbClr val="2A323C"/>
                </a:solidFill>
                <a:latin typeface="NanumSquare"/>
              </a:rPr>
              <a:t>Incident·Rollback·Audit 저장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352" y="2139696"/>
            <a:ext cx="55595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" b="1">
                <a:solidFill>
                  <a:srgbClr val="0B1F3A"/>
                </a:solidFill>
                <a:latin typeface="NanumSquare"/>
              </a:rPr>
              <a:t>2. Operations Data Contract — Feature ID 기준 이벤트 스키마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0352" y="2386584"/>
            <a:ext cx="5559552" cy="16459"/>
          </a:xfrm>
          <a:prstGeom prst="rect">
            <a:avLst/>
          </a:prstGeom>
          <a:solidFill>
            <a:srgbClr val="168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30352" y="2487168"/>
            <a:ext cx="5559552" cy="201168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76656" y="2679192"/>
            <a:ext cx="5266944" cy="210312"/>
          </a:xfrm>
          <a:prstGeom prst="rect">
            <a:avLst/>
          </a:prstGeom>
          <a:solidFill>
            <a:srgbClr val="0B1F3A"/>
          </a:solidFill>
          <a:ln w="9525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9516" y="2729484"/>
            <a:ext cx="1113007" cy="64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5" b="1">
                <a:solidFill>
                  <a:srgbClr val="FFFFFF"/>
                </a:solidFill>
                <a:latin typeface="NanumSquare"/>
              </a:rPr>
              <a:t>Object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58243" y="2729484"/>
            <a:ext cx="2482413" cy="64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5" b="1">
                <a:solidFill>
                  <a:srgbClr val="FFFFFF"/>
                </a:solidFill>
                <a:latin typeface="NanumSquare"/>
              </a:rPr>
              <a:t>Required Fields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6376" y="2729484"/>
            <a:ext cx="1534363" cy="64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5" b="1">
                <a:solidFill>
                  <a:srgbClr val="FFFFFF"/>
                </a:solidFill>
                <a:latin typeface="NanumSquare"/>
              </a:rPr>
              <a:t>Usage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6656" y="2889504"/>
            <a:ext cx="1158727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4088" y="2939796"/>
            <a:ext cx="1103863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5" b="1">
                <a:solidFill>
                  <a:srgbClr val="0B1F3A"/>
                </a:solidFill>
                <a:latin typeface="NanumSquare"/>
              </a:rPr>
              <a:t>RuntimeEvent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35383" y="2889504"/>
            <a:ext cx="2528133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862815" y="2939796"/>
            <a:ext cx="2473269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5" b="0">
                <a:solidFill>
                  <a:srgbClr val="2A323C"/>
                </a:solidFill>
                <a:latin typeface="NanumSquare"/>
              </a:rPr>
              <a:t>featureId, policyId, policyVersion, variantRuleId, vinHash/cohort, runtimeState, decision, reasonCode, timestamp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63516" y="2889504"/>
            <a:ext cx="1580083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90948" y="2939796"/>
            <a:ext cx="1525219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5" b="0">
                <a:solidFill>
                  <a:srgbClr val="2A323C"/>
                </a:solidFill>
                <a:latin typeface="NanumSquare"/>
              </a:rPr>
              <a:t>활성화 결과와 실패 원인 추적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6656" y="3255264"/>
            <a:ext cx="1158727" cy="365760"/>
          </a:xfrm>
          <a:prstGeom prst="rect">
            <a:avLst/>
          </a:prstGeom>
          <a:solidFill>
            <a:srgbClr val="F7FAFD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4088" y="3305556"/>
            <a:ext cx="1103863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5" b="1">
                <a:solidFill>
                  <a:srgbClr val="0B1F3A"/>
                </a:solidFill>
                <a:latin typeface="NanumSquare"/>
              </a:rPr>
              <a:t>TelemetryMetric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835383" y="3255264"/>
            <a:ext cx="2528133" cy="365760"/>
          </a:xfrm>
          <a:prstGeom prst="rect">
            <a:avLst/>
          </a:prstGeom>
          <a:solidFill>
            <a:srgbClr val="F7FAFD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862815" y="3305556"/>
            <a:ext cx="2473269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5" b="0">
                <a:solidFill>
                  <a:srgbClr val="2A323C"/>
                </a:solidFill>
                <a:latin typeface="NanumSquare"/>
              </a:rPr>
              <a:t>activationSuccessRate, policyApplyFailureRate, p95Latency, rollbackCount, staleCacheCount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63516" y="3255264"/>
            <a:ext cx="1580083" cy="365760"/>
          </a:xfrm>
          <a:prstGeom prst="rect">
            <a:avLst/>
          </a:prstGeom>
          <a:solidFill>
            <a:srgbClr val="F7FAFD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90948" y="3305556"/>
            <a:ext cx="1525219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5" b="0">
                <a:solidFill>
                  <a:srgbClr val="2A323C"/>
                </a:solidFill>
                <a:latin typeface="NanumSquare"/>
              </a:rPr>
              <a:t>Rollout 확대/중단 판단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6656" y="3621024"/>
            <a:ext cx="1158727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4088" y="3671315"/>
            <a:ext cx="1103863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5" b="1">
                <a:solidFill>
                  <a:srgbClr val="0B1F3A"/>
                </a:solidFill>
                <a:latin typeface="NanumSquare"/>
              </a:rPr>
              <a:t>AuditRecord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835383" y="3621024"/>
            <a:ext cx="2528133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862815" y="3671315"/>
            <a:ext cx="2473269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5" b="0">
                <a:solidFill>
                  <a:srgbClr val="2A323C"/>
                </a:solidFill>
                <a:latin typeface="NanumSquare"/>
              </a:rPr>
              <a:t>actor, action, changeSetId, approvalId, before/after, policyVersion, timestamp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363516" y="3621024"/>
            <a:ext cx="1580083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390948" y="3671315"/>
            <a:ext cx="1525219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5" b="0">
                <a:solidFill>
                  <a:srgbClr val="2A323C"/>
                </a:solidFill>
                <a:latin typeface="NanumSquare"/>
              </a:rPr>
              <a:t>승인·변경·배포 이력 증적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76656" y="3986784"/>
            <a:ext cx="1158727" cy="365760"/>
          </a:xfrm>
          <a:prstGeom prst="rect">
            <a:avLst/>
          </a:prstGeom>
          <a:solidFill>
            <a:srgbClr val="F7FAFD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04088" y="4037076"/>
            <a:ext cx="1103863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5" b="1">
                <a:solidFill>
                  <a:srgbClr val="0B1F3A"/>
                </a:solidFill>
                <a:latin typeface="NanumSquare"/>
              </a:rPr>
              <a:t>Incident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835383" y="3986784"/>
            <a:ext cx="2528133" cy="365760"/>
          </a:xfrm>
          <a:prstGeom prst="rect">
            <a:avLst/>
          </a:prstGeom>
          <a:solidFill>
            <a:srgbClr val="F7FAFD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862815" y="4037076"/>
            <a:ext cx="2473269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5" b="0">
                <a:solidFill>
                  <a:srgbClr val="2A323C"/>
                </a:solidFill>
                <a:latin typeface="NanumSquare"/>
              </a:rPr>
              <a:t>severity, triggerRuleId, impactedFeatureIds, owner, actionTaken, closureEvidence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363516" y="3986784"/>
            <a:ext cx="1580083" cy="365760"/>
          </a:xfrm>
          <a:prstGeom prst="rect">
            <a:avLst/>
          </a:prstGeom>
          <a:solidFill>
            <a:srgbClr val="F7FAFD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90948" y="4037076"/>
            <a:ext cx="1525219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5" b="0">
                <a:solidFill>
                  <a:srgbClr val="2A323C"/>
                </a:solidFill>
                <a:latin typeface="NanumSquare"/>
              </a:rPr>
              <a:t>장애 대응과 후속 검증 연결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72784" y="2139696"/>
            <a:ext cx="53583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" b="1">
                <a:solidFill>
                  <a:srgbClr val="0B1F3A"/>
                </a:solidFill>
                <a:latin typeface="NanumSquare"/>
              </a:rPr>
              <a:t>3. Trigger Rule &amp; Action Mapping — 이상 탐지 시 복구 액션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72784" y="2386584"/>
            <a:ext cx="5358384" cy="16459"/>
          </a:xfrm>
          <a:prstGeom prst="rect">
            <a:avLst/>
          </a:prstGeom>
          <a:solidFill>
            <a:srgbClr val="168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6272784" y="2487168"/>
            <a:ext cx="5358384" cy="201168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446520" y="2670048"/>
            <a:ext cx="1481328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92240" y="2734056"/>
            <a:ext cx="1389888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" b="1">
                <a:solidFill>
                  <a:srgbClr val="2F9A6C"/>
                </a:solidFill>
                <a:latin typeface="NanumSquare"/>
              </a:rPr>
              <a:t>Activation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92240" y="2889504"/>
            <a:ext cx="1389888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F9A6C"/>
                </a:solidFill>
                <a:latin typeface="NanumSquare"/>
              </a:rPr>
              <a:t>98.7%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92240" y="3099815"/>
            <a:ext cx="1389888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" b="0">
                <a:solidFill>
                  <a:srgbClr val="2A323C"/>
                </a:solidFill>
                <a:latin typeface="NanumSquare"/>
              </a:rPr>
              <a:t>success rate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065008" y="2670048"/>
            <a:ext cx="1481328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110728" y="2734056"/>
            <a:ext cx="1389888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" b="1">
                <a:solidFill>
                  <a:srgbClr val="E88C30"/>
                </a:solidFill>
                <a:latin typeface="NanumSquare"/>
              </a:rPr>
              <a:t>Apply Fail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110728" y="2889504"/>
            <a:ext cx="1389888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E88C30"/>
                </a:solidFill>
                <a:latin typeface="NanumSquare"/>
              </a:rPr>
              <a:t>12/10K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110728" y="3099815"/>
            <a:ext cx="1389888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" b="0">
                <a:solidFill>
                  <a:srgbClr val="2A323C"/>
                </a:solidFill>
                <a:latin typeface="NanumSquare"/>
              </a:rPr>
              <a:t>failures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683496" y="2670048"/>
            <a:ext cx="1481328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729216" y="2734056"/>
            <a:ext cx="1389888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" b="1">
                <a:solidFill>
                  <a:srgbClr val="C04848"/>
                </a:solidFill>
                <a:latin typeface="NanumSquare"/>
              </a:rPr>
              <a:t>Rollback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29216" y="2889504"/>
            <a:ext cx="1389888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C04848"/>
                </a:solidFill>
                <a:latin typeface="NanumSquare"/>
              </a:rPr>
              <a:t>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729216" y="3099815"/>
            <a:ext cx="1389888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" b="0">
                <a:solidFill>
                  <a:srgbClr val="2A323C"/>
                </a:solidFill>
                <a:latin typeface="NanumSquare"/>
              </a:rPr>
              <a:t>count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446520" y="3419856"/>
            <a:ext cx="4828032" cy="292608"/>
          </a:xfrm>
          <a:prstGeom prst="roundRect">
            <a:avLst/>
          </a:prstGeom>
          <a:solidFill>
            <a:srgbClr val="FDF3E7"/>
          </a:solidFill>
          <a:ln w="9525">
            <a:solidFill>
              <a:srgbClr val="E88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483096" y="3479292"/>
            <a:ext cx="58521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9" b="1">
                <a:solidFill>
                  <a:srgbClr val="E88C30"/>
                </a:solidFill>
                <a:latin typeface="NanumSquare"/>
              </a:rPr>
              <a:t>WARN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141464" y="3471976"/>
            <a:ext cx="2220894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55" b="0">
                <a:solidFill>
                  <a:srgbClr val="2A323C"/>
                </a:solidFill>
                <a:latin typeface="NanumSquare"/>
              </a:rPr>
              <a:t>failureRate &gt; threshold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246778" y="3471976"/>
            <a:ext cx="1834652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55" b="1">
                <a:solidFill>
                  <a:srgbClr val="0B1F3A"/>
                </a:solidFill>
                <a:latin typeface="NanumSquare"/>
              </a:rPr>
              <a:t>Open Incident + freeze rollout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446520" y="3749040"/>
            <a:ext cx="4828032" cy="292608"/>
          </a:xfrm>
          <a:prstGeom prst="roundRect">
            <a:avLst/>
          </a:prstGeom>
          <a:solidFill>
            <a:srgbClr val="FCEEEE"/>
          </a:solidFill>
          <a:ln w="9525">
            <a:solidFill>
              <a:srgbClr val="C0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483096" y="3808476"/>
            <a:ext cx="58521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9" b="1">
                <a:solidFill>
                  <a:srgbClr val="C04848"/>
                </a:solidFill>
                <a:latin typeface="NanumSquare"/>
              </a:rPr>
              <a:t>BLOCK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141464" y="3801160"/>
            <a:ext cx="2220894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55" b="0">
                <a:solidFill>
                  <a:srgbClr val="2A323C"/>
                </a:solidFill>
                <a:latin typeface="NanumSquare"/>
              </a:rPr>
              <a:t>Kill-switch ON or Safety Gate fail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246778" y="3801160"/>
            <a:ext cx="1834652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55" b="1">
                <a:solidFill>
                  <a:srgbClr val="0B1F3A"/>
                </a:solidFill>
                <a:latin typeface="NanumSquare"/>
              </a:rPr>
              <a:t>Feature blocked + Safe Default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446520" y="4078224"/>
            <a:ext cx="4828032" cy="292608"/>
          </a:xfrm>
          <a:prstGeom prst="roundRect">
            <a:avLst/>
          </a:prstGeom>
          <a:solidFill>
            <a:srgbClr val="F2EFFA"/>
          </a:solidFill>
          <a:ln w="9525">
            <a:solidFill>
              <a:srgbClr val="7462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483096" y="4137660"/>
            <a:ext cx="58521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9" b="1">
                <a:solidFill>
                  <a:srgbClr val="7462A9"/>
                </a:solidFill>
                <a:latin typeface="NanumSquare"/>
              </a:rPr>
              <a:t>ROLLBACK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141464" y="4130344"/>
            <a:ext cx="2220894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55" b="0">
                <a:solidFill>
                  <a:srgbClr val="2A323C"/>
                </a:solidFill>
                <a:latin typeface="NanumSquare"/>
              </a:rPr>
              <a:t>rollback spike / policy regression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246778" y="4130344"/>
            <a:ext cx="1834652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55" b="1">
                <a:solidFill>
                  <a:srgbClr val="0B1F3A"/>
                </a:solidFill>
                <a:latin typeface="NanumSquare"/>
              </a:rPr>
              <a:t>Rollback Policy + Impact Analysis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446520" y="4407408"/>
            <a:ext cx="4828032" cy="292608"/>
          </a:xfrm>
          <a:prstGeom prst="roundRect">
            <a:avLst/>
          </a:prstGeom>
          <a:solidFill>
            <a:srgbClr val="E8F4FA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483096" y="4466844"/>
            <a:ext cx="58521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9" b="1">
                <a:solidFill>
                  <a:srgbClr val="1F4E79"/>
                </a:solidFill>
                <a:latin typeface="NanumSquare"/>
              </a:rPr>
              <a:t>GATE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141464" y="4459528"/>
            <a:ext cx="2220894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55" b="0">
                <a:solidFill>
                  <a:srgbClr val="2A323C"/>
                </a:solidFill>
                <a:latin typeface="NanumSquare"/>
              </a:rPr>
              <a:t>missing telemetry or audit gap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246778" y="4459528"/>
            <a:ext cx="1834652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55" b="1">
                <a:solidFill>
                  <a:srgbClr val="0B1F3A"/>
                </a:solidFill>
                <a:latin typeface="NanumSquare"/>
              </a:rPr>
              <a:t>Ops Gate pending + instrumentation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30352" y="4718304"/>
            <a:ext cx="11155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" b="1">
                <a:solidFill>
                  <a:srgbClr val="0B1F3A"/>
                </a:solidFill>
                <a:latin typeface="NanumSquare"/>
              </a:rPr>
              <a:t>4. Closed-loop Evidence Linkage — 운영 데이터가 Feature Topology를 갱신하는 방식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30352" y="4965192"/>
            <a:ext cx="11155680" cy="16459"/>
          </a:xfrm>
          <a:prstGeom prst="rect">
            <a:avLst/>
          </a:prstGeom>
          <a:solidFill>
            <a:srgbClr val="168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530352" y="5065776"/>
            <a:ext cx="11155680" cy="768096"/>
          </a:xfrm>
          <a:prstGeom prst="roundRect">
            <a:avLst/>
          </a:prstGeom>
          <a:solidFill>
            <a:srgbClr val="FAFCFE"/>
          </a:solidFill>
          <a:ln w="9525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749808" y="5257800"/>
            <a:ext cx="1572768" cy="347472"/>
          </a:xfrm>
          <a:prstGeom prst="roundRect">
            <a:avLst/>
          </a:prstGeom>
          <a:solidFill>
            <a:srgbClr val="E8F4FA"/>
          </a:solidFill>
          <a:ln w="9525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86384" y="5312664"/>
            <a:ext cx="149961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5" b="1">
                <a:solidFill>
                  <a:srgbClr val="168AAD"/>
                </a:solidFill>
                <a:latin typeface="NanumSquare"/>
              </a:rPr>
              <a:t>Feature ID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86384" y="5449824"/>
            <a:ext cx="149961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35" b="0">
                <a:solidFill>
                  <a:srgbClr val="2A323C"/>
                </a:solidFill>
                <a:latin typeface="NanumSquare"/>
              </a:rPr>
              <a:t>FEAT-BDC-001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2322576" y="5431536"/>
            <a:ext cx="256032" cy="0"/>
          </a:xfrm>
          <a:prstGeom prst="line">
            <a:avLst/>
          </a:prstGeom>
          <a:ln w="8890">
            <a:solidFill>
              <a:srgbClr val="667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ounded Rectangle 112"/>
          <p:cNvSpPr/>
          <p:nvPr/>
        </p:nvSpPr>
        <p:spPr>
          <a:xfrm>
            <a:off x="2578608" y="5257800"/>
            <a:ext cx="1572768" cy="347472"/>
          </a:xfrm>
          <a:prstGeom prst="roundRect">
            <a:avLst/>
          </a:prstGeom>
          <a:solidFill>
            <a:srgbClr val="FDF3E7"/>
          </a:solidFill>
          <a:ln w="9525">
            <a:solidFill>
              <a:srgbClr val="E88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615184" y="5312664"/>
            <a:ext cx="149961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5" b="1">
                <a:solidFill>
                  <a:srgbClr val="E88C30"/>
                </a:solidFill>
                <a:latin typeface="NanumSquare"/>
              </a:rPr>
              <a:t>Runtime Event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615184" y="5449824"/>
            <a:ext cx="149961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35" b="0">
                <a:solidFill>
                  <a:srgbClr val="2A323C"/>
                </a:solidFill>
                <a:latin typeface="NanumSquare"/>
              </a:rPr>
              <a:t>POLICY_APPLY_FAIL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4151376" y="5431536"/>
            <a:ext cx="256032" cy="0"/>
          </a:xfrm>
          <a:prstGeom prst="line">
            <a:avLst/>
          </a:prstGeom>
          <a:ln w="8890">
            <a:solidFill>
              <a:srgbClr val="667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ounded Rectangle 116"/>
          <p:cNvSpPr/>
          <p:nvPr/>
        </p:nvSpPr>
        <p:spPr>
          <a:xfrm>
            <a:off x="4407408" y="5257800"/>
            <a:ext cx="1572768" cy="347472"/>
          </a:xfrm>
          <a:prstGeom prst="roundRect">
            <a:avLst/>
          </a:prstGeom>
          <a:solidFill>
            <a:srgbClr val="FCEEEE"/>
          </a:solidFill>
          <a:ln w="9525">
            <a:solidFill>
              <a:srgbClr val="C0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443984" y="5312664"/>
            <a:ext cx="149961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5" b="1">
                <a:solidFill>
                  <a:srgbClr val="C04848"/>
                </a:solidFill>
                <a:latin typeface="NanumSquare"/>
              </a:rPr>
              <a:t>Incident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443984" y="5449824"/>
            <a:ext cx="149961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35" b="0">
                <a:solidFill>
                  <a:srgbClr val="2A323C"/>
                </a:solidFill>
                <a:latin typeface="NanumSquare"/>
              </a:rPr>
              <a:t>INC-BDC-2026-001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5980176" y="5431536"/>
            <a:ext cx="256032" cy="0"/>
          </a:xfrm>
          <a:prstGeom prst="line">
            <a:avLst/>
          </a:prstGeom>
          <a:ln w="8890">
            <a:solidFill>
              <a:srgbClr val="667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ounded Rectangle 120"/>
          <p:cNvSpPr/>
          <p:nvPr/>
        </p:nvSpPr>
        <p:spPr>
          <a:xfrm>
            <a:off x="6236208" y="5257800"/>
            <a:ext cx="1572768" cy="347472"/>
          </a:xfrm>
          <a:prstGeom prst="roundRect">
            <a:avLst/>
          </a:prstGeom>
          <a:solidFill>
            <a:srgbClr val="F2EFFA"/>
          </a:solidFill>
          <a:ln w="9525">
            <a:solidFill>
              <a:srgbClr val="7462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272784" y="5312664"/>
            <a:ext cx="149961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5" b="1">
                <a:solidFill>
                  <a:srgbClr val="7462A9"/>
                </a:solidFill>
                <a:latin typeface="NanumSquare"/>
              </a:rPr>
              <a:t>Action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272784" y="5449824"/>
            <a:ext cx="149961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35" b="0">
                <a:solidFill>
                  <a:srgbClr val="2A323C"/>
                </a:solidFill>
                <a:latin typeface="NanumSquare"/>
              </a:rPr>
              <a:t>Rollback Policy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7808976" y="5431536"/>
            <a:ext cx="256032" cy="0"/>
          </a:xfrm>
          <a:prstGeom prst="line">
            <a:avLst/>
          </a:prstGeom>
          <a:ln w="8890">
            <a:solidFill>
              <a:srgbClr val="667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ounded Rectangle 124"/>
          <p:cNvSpPr/>
          <p:nvPr/>
        </p:nvSpPr>
        <p:spPr>
          <a:xfrm>
            <a:off x="8065008" y="5257800"/>
            <a:ext cx="1572768" cy="347472"/>
          </a:xfrm>
          <a:prstGeom prst="roundRect">
            <a:avLst/>
          </a:prstGeom>
          <a:solidFill>
            <a:srgbClr val="EBF7F1"/>
          </a:solidFill>
          <a:ln w="9525">
            <a:solidFill>
              <a:srgbClr val="2F9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101583" y="5312664"/>
            <a:ext cx="149961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5" b="1">
                <a:solidFill>
                  <a:srgbClr val="2F9A6C"/>
                </a:solidFill>
                <a:latin typeface="NanumSquare"/>
              </a:rPr>
              <a:t>Evidence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101583" y="5449824"/>
            <a:ext cx="149961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35" b="0">
                <a:solidFill>
                  <a:srgbClr val="2A323C"/>
                </a:solidFill>
                <a:latin typeface="NanumSquare"/>
              </a:rPr>
              <a:t>Audit + Telemetry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9637776" y="5431536"/>
            <a:ext cx="256032" cy="0"/>
          </a:xfrm>
          <a:prstGeom prst="line">
            <a:avLst/>
          </a:prstGeom>
          <a:ln w="8890">
            <a:solidFill>
              <a:srgbClr val="667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Rounded Rectangle 128"/>
          <p:cNvSpPr/>
          <p:nvPr/>
        </p:nvSpPr>
        <p:spPr>
          <a:xfrm>
            <a:off x="9893808" y="5257800"/>
            <a:ext cx="1572768" cy="347472"/>
          </a:xfrm>
          <a:prstGeom prst="roundRect">
            <a:avLst/>
          </a:prstGeom>
          <a:solidFill>
            <a:srgbClr val="EEF4FB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930384" y="5312664"/>
            <a:ext cx="149961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5" b="1">
                <a:solidFill>
                  <a:srgbClr val="1F4E79"/>
                </a:solidFill>
                <a:latin typeface="NanumSquare"/>
              </a:rPr>
              <a:t>Topology Update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930384" y="5449824"/>
            <a:ext cx="149961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35" b="0">
                <a:solidFill>
                  <a:srgbClr val="2A323C"/>
                </a:solidFill>
                <a:latin typeface="NanumSquare"/>
              </a:rPr>
              <a:t>ECU version mismatch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530352" y="5925312"/>
            <a:ext cx="11155680" cy="256032"/>
          </a:xfrm>
          <a:prstGeom prst="roundRect">
            <a:avLst/>
          </a:prstGeom>
          <a:solidFill>
            <a:srgbClr val="EAF4FA"/>
          </a:solidFill>
          <a:ln w="9525">
            <a:solidFill>
              <a:srgbClr val="AA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13232" y="5993892"/>
            <a:ext cx="10808208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84" b="1">
                <a:solidFill>
                  <a:srgbClr val="168AAD"/>
                </a:solidFill>
                <a:latin typeface="NanumSquare"/>
              </a:rPr>
              <a:t>운영 설계 원칙: </a:t>
            </a:r>
            <a:r>
              <a:rPr sz="484" b="0">
                <a:solidFill>
                  <a:srgbClr val="2A323C"/>
                </a:solidFill>
                <a:latin typeface="NanumSquare"/>
              </a:rPr>
              <a:t>Telemetry·Audit·Incident는 Feature ID, Policy Version, Variant Rule, Runtime State와 연결되어야 하며, </a:t>
            </a:r>
            <a:r>
              <a:rPr sz="484" b="1">
                <a:solidFill>
                  <a:srgbClr val="0B1F3A"/>
                </a:solidFill>
                <a:latin typeface="NanumSquare"/>
              </a:rPr>
              <a:t>Release 이후에도 검증 증적과 변경 영향도를 재계산할 수 있어야 한다.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530352" y="6327648"/>
            <a:ext cx="11155680" cy="182880"/>
          </a:xfrm>
          <a:prstGeom prst="rect">
            <a:avLst/>
          </a:prstGeom>
          <a:solidFill>
            <a:srgbClr val="0B1F3A"/>
          </a:solidFill>
          <a:ln w="9525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13232" y="6371539"/>
            <a:ext cx="10789920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75" b="1">
                <a:solidFill>
                  <a:srgbClr val="FFFFFF"/>
                </a:solidFill>
                <a:latin typeface="NanumSquare"/>
              </a:rPr>
              <a:t>핵심: 운영 데이터는 Feature Topology를 업데이트하는 피드백 루프이며, Rollback·Kill Switch·Gate 보완을 트리거하는 증적 데이터로 관리해야 한다.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01168" y="6656832"/>
            <a:ext cx="1179576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5" b="0">
                <a:solidFill>
                  <a:srgbClr val="66717D"/>
                </a:solidFill>
                <a:latin typeface="NanumSquare"/>
              </a:rPr>
              <a:t>출처/근거/참조: OpenFeature Specification(Events/Tracking/Observability); Unleash Metrics &amp; Monitoring Docs; ISO 24089:2023 Software update engineering; ISO/SAE 21434:2021 Cybersecurity engineering; Mutuus Lab Operations Data Model.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8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64592"/>
            <a:ext cx="6035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8AAD"/>
                </a:solidFill>
                <a:latin typeface="NanumSquare"/>
              </a:rPr>
              <a:t>05-1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18872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B1F3A"/>
                </a:solidFill>
                <a:latin typeface="NanumSquare"/>
              </a:rPr>
              <a:t>Decision Engines — 실행 계약과 판단 근거 패키지 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2A323C"/>
                </a:solidFill>
                <a:latin typeface="NanumSquare"/>
              </a:rPr>
              <a:t>Decision Engine은 Feature Topology Graph Snapshot과 변경 요청을 입력으로 받아 영향도·검증범위·배포방식·협력사 책임을 동일한 근거 체계로 산출한다.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87552"/>
            <a:ext cx="111739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B1F3A"/>
                </a:solidFill>
                <a:latin typeface="NanumSquare"/>
              </a:rPr>
              <a:t>1. Execution Contract — 변경 요청을 재현 가능한 Decision Package로 변환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207008"/>
            <a:ext cx="11173968" cy="12801"/>
          </a:xfrm>
          <a:prstGeom prst="rect">
            <a:avLst/>
          </a:prstGeom>
          <a:solidFill>
            <a:srgbClr val="168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1307592"/>
            <a:ext cx="1975104" cy="557784"/>
          </a:xfrm>
          <a:prstGeom prst="roundRect">
            <a:avLst/>
          </a:prstGeom>
          <a:solidFill>
            <a:srgbClr val="E8F4FA"/>
          </a:solidFill>
          <a:ln w="9525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380744"/>
            <a:ext cx="246888" cy="137160"/>
          </a:xfrm>
          <a:prstGeom prst="roundRect">
            <a:avLst/>
          </a:prstGeom>
          <a:solidFill>
            <a:srgbClr val="168AAD"/>
          </a:solidFill>
          <a:ln w="9525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02689"/>
            <a:ext cx="246888" cy="905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09" b="1">
                <a:solidFill>
                  <a:srgbClr val="FFFFFF"/>
                </a:solidFill>
                <a:latin typeface="NanumSquare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380744"/>
            <a:ext cx="1545336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520" b="1">
                <a:solidFill>
                  <a:srgbClr val="0B1F3A"/>
                </a:solidFill>
                <a:latin typeface="NanumSquare"/>
              </a:rPr>
              <a:t>Change 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600200"/>
            <a:ext cx="17922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00" b="0">
                <a:solidFill>
                  <a:srgbClr val="2A323C"/>
                </a:solidFill>
                <a:latin typeface="NanumSquare"/>
              </a:rPr>
              <a:t>target · change type · scope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88336" y="1586484"/>
            <a:ext cx="201168" cy="0"/>
          </a:xfrm>
          <a:prstGeom prst="line">
            <a:avLst/>
          </a:prstGeom>
          <a:ln w="10795">
            <a:solidFill>
              <a:srgbClr val="667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9504" y="1307592"/>
            <a:ext cx="1975104" cy="557784"/>
          </a:xfrm>
          <a:prstGeom prst="roundRect">
            <a:avLst/>
          </a:prstGeom>
          <a:solidFill>
            <a:srgbClr val="F2EFFA"/>
          </a:solidFill>
          <a:ln w="9525">
            <a:solidFill>
              <a:srgbClr val="7462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953512" y="1380744"/>
            <a:ext cx="246888" cy="137160"/>
          </a:xfrm>
          <a:prstGeom prst="roundRect">
            <a:avLst/>
          </a:prstGeom>
          <a:solidFill>
            <a:srgbClr val="7462A9"/>
          </a:solidFill>
          <a:ln w="9525">
            <a:solidFill>
              <a:srgbClr val="7462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53512" y="1402689"/>
            <a:ext cx="246888" cy="905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09" b="1">
                <a:solidFill>
                  <a:srgbClr val="FFFFFF"/>
                </a:solidFill>
                <a:latin typeface="NanumSquare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55264" y="1380744"/>
            <a:ext cx="1545336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520" b="1">
                <a:solidFill>
                  <a:srgbClr val="0B1F3A"/>
                </a:solidFill>
                <a:latin typeface="NanumSquare"/>
              </a:rPr>
              <a:t>Graph Snapshot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80944" y="1600200"/>
            <a:ext cx="17922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00" b="0">
                <a:solidFill>
                  <a:srgbClr val="2A323C"/>
                </a:solidFill>
                <a:latin typeface="NanumSquare"/>
              </a:rPr>
              <a:t>baseline · version · edge set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64608" y="1586484"/>
            <a:ext cx="201168" cy="0"/>
          </a:xfrm>
          <a:prstGeom prst="line">
            <a:avLst/>
          </a:prstGeom>
          <a:ln w="10795">
            <a:solidFill>
              <a:srgbClr val="667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65776" y="1307592"/>
            <a:ext cx="1975104" cy="557784"/>
          </a:xfrm>
          <a:prstGeom prst="roundRect">
            <a:avLst/>
          </a:prstGeom>
          <a:solidFill>
            <a:srgbClr val="FDF3E7"/>
          </a:solidFill>
          <a:ln w="9525">
            <a:solidFill>
              <a:srgbClr val="E88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129784" y="1380744"/>
            <a:ext cx="246888" cy="137160"/>
          </a:xfrm>
          <a:prstGeom prst="roundRect">
            <a:avLst/>
          </a:prstGeom>
          <a:solidFill>
            <a:srgbClr val="E88C30"/>
          </a:solidFill>
          <a:ln w="9525">
            <a:solidFill>
              <a:srgbClr val="E88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9784" y="1402689"/>
            <a:ext cx="246888" cy="905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09" b="1">
                <a:solidFill>
                  <a:srgbClr val="FFFFFF"/>
                </a:solidFill>
                <a:latin typeface="NanumSquare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31536" y="1380744"/>
            <a:ext cx="1545336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520" b="1">
                <a:solidFill>
                  <a:srgbClr val="0B1F3A"/>
                </a:solidFill>
                <a:latin typeface="NanumSquare"/>
              </a:rPr>
              <a:t>Engine Orchestrator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7216" y="1600200"/>
            <a:ext cx="17922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00" b="0">
                <a:solidFill>
                  <a:srgbClr val="2A323C"/>
                </a:solidFill>
                <a:latin typeface="NanumSquare"/>
              </a:rPr>
              <a:t>rule version · run order · policy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40880" y="1586484"/>
            <a:ext cx="201168" cy="0"/>
          </a:xfrm>
          <a:prstGeom prst="line">
            <a:avLst/>
          </a:prstGeom>
          <a:ln w="10795">
            <a:solidFill>
              <a:srgbClr val="667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242048" y="1307592"/>
            <a:ext cx="1975104" cy="557784"/>
          </a:xfrm>
          <a:prstGeom prst="roundRect">
            <a:avLst/>
          </a:prstGeom>
          <a:solidFill>
            <a:srgbClr val="EBF7F1"/>
          </a:solidFill>
          <a:ln w="9525">
            <a:solidFill>
              <a:srgbClr val="2F9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06056" y="1380744"/>
            <a:ext cx="246888" cy="137160"/>
          </a:xfrm>
          <a:prstGeom prst="roundRect">
            <a:avLst/>
          </a:prstGeom>
          <a:solidFill>
            <a:srgbClr val="2F9A6C"/>
          </a:solidFill>
          <a:ln w="9525">
            <a:solidFill>
              <a:srgbClr val="2F9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06056" y="1402689"/>
            <a:ext cx="246888" cy="905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09" b="1">
                <a:solidFill>
                  <a:srgbClr val="FFFFFF"/>
                </a:solidFill>
                <a:latin typeface="NanumSquare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1380744"/>
            <a:ext cx="1545336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520" b="1">
                <a:solidFill>
                  <a:srgbClr val="0B1F3A"/>
                </a:solidFill>
                <a:latin typeface="NanumSquare"/>
              </a:rPr>
              <a:t>Engine Execution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33488" y="1600200"/>
            <a:ext cx="17922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00" b="0">
                <a:solidFill>
                  <a:srgbClr val="2A323C"/>
                </a:solidFill>
                <a:latin typeface="NanumSquare"/>
              </a:rPr>
              <a:t>Impact · Verification · Deploy · Supplier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17152" y="1586484"/>
            <a:ext cx="201168" cy="0"/>
          </a:xfrm>
          <a:prstGeom prst="line">
            <a:avLst/>
          </a:prstGeom>
          <a:ln w="10795">
            <a:solidFill>
              <a:srgbClr val="667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418320" y="1307592"/>
            <a:ext cx="1975104" cy="557784"/>
          </a:xfrm>
          <a:prstGeom prst="roundRect">
            <a:avLst/>
          </a:prstGeom>
          <a:solidFill>
            <a:srgbClr val="FCEEEE"/>
          </a:solidFill>
          <a:ln w="9525">
            <a:solidFill>
              <a:srgbClr val="C0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482328" y="1380744"/>
            <a:ext cx="246888" cy="137160"/>
          </a:xfrm>
          <a:prstGeom prst="roundRect">
            <a:avLst/>
          </a:prstGeom>
          <a:solidFill>
            <a:srgbClr val="C04848"/>
          </a:solidFill>
          <a:ln w="9525">
            <a:solidFill>
              <a:srgbClr val="C0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82328" y="1402689"/>
            <a:ext cx="246888" cy="905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09" b="1">
                <a:solidFill>
                  <a:srgbClr val="FFFFFF"/>
                </a:solidFill>
                <a:latin typeface="NanumSquare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1380744"/>
            <a:ext cx="1545336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520" b="1">
                <a:solidFill>
                  <a:srgbClr val="0B1F3A"/>
                </a:solidFill>
                <a:latin typeface="NanumSquare"/>
              </a:rPr>
              <a:t>Decision Package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1600200"/>
            <a:ext cx="17922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00" b="0">
                <a:solidFill>
                  <a:srgbClr val="2A323C"/>
                </a:solidFill>
                <a:latin typeface="NanumSquare"/>
              </a:rPr>
              <a:t>report · reason code · evidence links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" y="2139696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B1F3A"/>
                </a:solidFill>
                <a:latin typeface="NanumSquare"/>
              </a:rPr>
              <a:t>2. 4개 Engine I/O Contract — 입력·판단·출력의 책임 분리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0352" y="2359152"/>
            <a:ext cx="6629400" cy="12801"/>
          </a:xfrm>
          <a:prstGeom prst="rect">
            <a:avLst/>
          </a:prstGeom>
          <a:solidFill>
            <a:srgbClr val="168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30352" y="2487168"/>
            <a:ext cx="6629400" cy="256032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13232" y="2679192"/>
            <a:ext cx="6263640" cy="228600"/>
          </a:xfrm>
          <a:prstGeom prst="rect">
            <a:avLst/>
          </a:prstGeom>
          <a:solidFill>
            <a:srgbClr val="0B1F3A"/>
          </a:solidFill>
          <a:ln w="9525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2734056"/>
            <a:ext cx="1216152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55" b="1">
                <a:solidFill>
                  <a:srgbClr val="FFFFFF"/>
                </a:solidFill>
                <a:latin typeface="NanumSquare"/>
              </a:rPr>
              <a:t>Engine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84248" y="2734056"/>
            <a:ext cx="1591970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55" b="1">
                <a:solidFill>
                  <a:srgbClr val="FFFFFF"/>
                </a:solidFill>
                <a:latin typeface="NanumSquare"/>
              </a:rPr>
              <a:t>Primary Input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12794" y="2734056"/>
            <a:ext cx="1842515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55" b="1">
                <a:solidFill>
                  <a:srgbClr val="FFFFFF"/>
                </a:solidFill>
                <a:latin typeface="NanumSquare"/>
              </a:rPr>
              <a:t>Decision Logic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91886" y="2734056"/>
            <a:ext cx="1466697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55" b="1">
                <a:solidFill>
                  <a:srgbClr val="FFFFFF"/>
                </a:solidFill>
                <a:latin typeface="NanumSquare"/>
              </a:rPr>
              <a:t>Output Artifact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3232" y="2907792"/>
            <a:ext cx="125272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5236" y="2951683"/>
            <a:ext cx="1188720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55" b="1">
                <a:solidFill>
                  <a:srgbClr val="0B1F3A"/>
                </a:solidFill>
                <a:latin typeface="NanumSquare"/>
              </a:rPr>
              <a:t>Impact Analysis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65960" y="2907792"/>
            <a:ext cx="162854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997964" y="2951683"/>
            <a:ext cx="1564538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55" b="0">
                <a:solidFill>
                  <a:srgbClr val="2A323C"/>
                </a:solidFill>
                <a:latin typeface="NanumSquare"/>
              </a:rPr>
              <a:t>change_target, graph_snapshot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94506" y="2907792"/>
            <a:ext cx="1879091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26510" y="2951683"/>
            <a:ext cx="1815083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55" b="0">
                <a:solidFill>
                  <a:srgbClr val="2A323C"/>
                </a:solidFill>
                <a:latin typeface="NanumSquare"/>
              </a:rPr>
              <a:t>typed-edge traversal
requires/excludes/deploy edges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73598" y="2907792"/>
            <a:ext cx="1503273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05602" y="2951683"/>
            <a:ext cx="1439265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55" b="0">
                <a:solidFill>
                  <a:srgbClr val="2A323C"/>
                </a:solidFill>
                <a:latin typeface="NanumSquare"/>
              </a:rPr>
              <a:t>impacted nodes, path evidence, risk flags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3232" y="3319272"/>
            <a:ext cx="1252728" cy="411480"/>
          </a:xfrm>
          <a:prstGeom prst="rect">
            <a:avLst/>
          </a:prstGeom>
          <a:solidFill>
            <a:srgbClr val="F7FAFD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5236" y="3363163"/>
            <a:ext cx="1188720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55" b="1">
                <a:solidFill>
                  <a:srgbClr val="0B1F3A"/>
                </a:solidFill>
                <a:latin typeface="NanumSquare"/>
              </a:rPr>
              <a:t>Verification Scope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65960" y="3319272"/>
            <a:ext cx="1628546" cy="411480"/>
          </a:xfrm>
          <a:prstGeom prst="rect">
            <a:avLst/>
          </a:prstGeom>
          <a:solidFill>
            <a:srgbClr val="F7FAFD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997964" y="3363163"/>
            <a:ext cx="1564538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55" b="0">
                <a:solidFill>
                  <a:srgbClr val="2A323C"/>
                </a:solidFill>
                <a:latin typeface="NanumSquare"/>
              </a:rPr>
              <a:t>impacted features, feature conditions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94506" y="3319272"/>
            <a:ext cx="1879091" cy="411480"/>
          </a:xfrm>
          <a:prstGeom prst="rect">
            <a:avLst/>
          </a:prstGeom>
          <a:solidFill>
            <a:srgbClr val="F7FAFD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26510" y="3363163"/>
            <a:ext cx="1815083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55" b="0">
                <a:solidFill>
                  <a:srgbClr val="2A323C"/>
                </a:solidFill>
                <a:latin typeface="NanumSquare"/>
              </a:rPr>
              <a:t>coverage rule + gate rule
variant/control/safety mapping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73598" y="3319272"/>
            <a:ext cx="1503273" cy="411480"/>
          </a:xfrm>
          <a:prstGeom prst="rect">
            <a:avLst/>
          </a:prstGeom>
          <a:solidFill>
            <a:srgbClr val="F7FAFD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05602" y="3363163"/>
            <a:ext cx="1439265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55" b="0">
                <a:solidFill>
                  <a:srgbClr val="2A323C"/>
                </a:solidFill>
                <a:latin typeface="NanumSquare"/>
              </a:rPr>
              <a:t>mandatory tests, missing evidence, gate status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3232" y="3730752"/>
            <a:ext cx="125272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5236" y="3774643"/>
            <a:ext cx="1188720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55" b="1">
                <a:solidFill>
                  <a:srgbClr val="0B1F3A"/>
                </a:solidFill>
                <a:latin typeface="NanumSquare"/>
              </a:rPr>
              <a:t>Deploy Decision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965960" y="3730752"/>
            <a:ext cx="1628546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997964" y="3774643"/>
            <a:ext cx="1564538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55" b="0">
                <a:solidFill>
                  <a:srgbClr val="2A323C"/>
                </a:solidFill>
                <a:latin typeface="NanumSquare"/>
              </a:rPr>
              <a:t>changed artifact type, deploy unit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594506" y="3730752"/>
            <a:ext cx="1879091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26510" y="3774643"/>
            <a:ext cx="1815083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55" b="0">
                <a:solidFill>
                  <a:srgbClr val="2A323C"/>
                </a:solidFill>
                <a:latin typeface="NanumSquare"/>
              </a:rPr>
              <a:t>decision table
SWC/API/Policy/Variant/Calib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73598" y="3730752"/>
            <a:ext cx="1503273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505602" y="3774643"/>
            <a:ext cx="1439265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55" b="0">
                <a:solidFill>
                  <a:srgbClr val="2A323C"/>
                </a:solidFill>
                <a:latin typeface="NanumSquare"/>
              </a:rPr>
              <a:t>Binary OTA / Policy-only / Cal Update / Review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13232" y="4142232"/>
            <a:ext cx="1252728" cy="411480"/>
          </a:xfrm>
          <a:prstGeom prst="rect">
            <a:avLst/>
          </a:prstGeom>
          <a:solidFill>
            <a:srgbClr val="F7FAFD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45236" y="4186123"/>
            <a:ext cx="1188720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55" b="1">
                <a:solidFill>
                  <a:srgbClr val="0B1F3A"/>
                </a:solidFill>
                <a:latin typeface="NanumSquare"/>
              </a:rPr>
              <a:t>Supplier Scope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965960" y="4142232"/>
            <a:ext cx="1628546" cy="411480"/>
          </a:xfrm>
          <a:prstGeom prst="rect">
            <a:avLst/>
          </a:prstGeom>
          <a:solidFill>
            <a:srgbClr val="F7FAFD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997964" y="4186123"/>
            <a:ext cx="1564538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55" b="0">
                <a:solidFill>
                  <a:srgbClr val="2A323C"/>
                </a:solidFill>
                <a:latin typeface="NanumSquare"/>
              </a:rPr>
              <a:t>supplier function, API/DTC map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594506" y="4142232"/>
            <a:ext cx="1879091" cy="411480"/>
          </a:xfrm>
          <a:prstGeom prst="rect">
            <a:avLst/>
          </a:prstGeom>
          <a:solidFill>
            <a:srgbClr val="F7FAFD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26510" y="4186123"/>
            <a:ext cx="1815083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55" b="0">
                <a:solidFill>
                  <a:srgbClr val="2A323C"/>
                </a:solidFill>
                <a:latin typeface="NanumSquare"/>
              </a:rPr>
              <a:t>responsibility path tracing
OEM Feature -&gt; Supplier Function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73598" y="4142232"/>
            <a:ext cx="1503273" cy="411480"/>
          </a:xfrm>
          <a:prstGeom prst="rect">
            <a:avLst/>
          </a:prstGeom>
          <a:solidFill>
            <a:srgbClr val="F7FAFD"/>
          </a:solidFill>
          <a:ln w="9525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505602" y="4186123"/>
            <a:ext cx="1439265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55" b="0">
                <a:solidFill>
                  <a:srgbClr val="2A323C"/>
                </a:solidFill>
                <a:latin typeface="NanumSquare"/>
              </a:rPr>
              <a:t>supplier scope, contract gap, acceptance criteria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58952" y="4791456"/>
            <a:ext cx="6199632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40" b="1">
                <a:solidFill>
                  <a:srgbClr val="0B1F3A"/>
                </a:solidFill>
                <a:latin typeface="NanumSquare"/>
              </a:rPr>
              <a:t>설계 원칙: 각 Engine은 독립 실행 가능해야 하며, 동일 Graph Snapshot과 Rule Version으로 재실행하면 동일 결과가 나와야 한다.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06640" y="2139696"/>
            <a:ext cx="42793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B1F3A"/>
                </a:solidFill>
                <a:latin typeface="NanumSquare"/>
              </a:rPr>
              <a:t>3. Decision Package Schema — 결과가 아니라 근거까지 저장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406640" y="2359152"/>
            <a:ext cx="4279392" cy="12801"/>
          </a:xfrm>
          <a:prstGeom prst="rect">
            <a:avLst/>
          </a:prstGeom>
          <a:solidFill>
            <a:srgbClr val="168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7406640" y="2487168"/>
            <a:ext cx="4279392" cy="256032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7607808" y="2688336"/>
            <a:ext cx="3886200" cy="15727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726679" y="2770632"/>
            <a:ext cx="1143000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" b="1">
                <a:solidFill>
                  <a:srgbClr val="168AAD"/>
                </a:solidFill>
                <a:latin typeface="NanumSquare"/>
              </a:rPr>
              <a:t>decision_id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778240" y="2770632"/>
            <a:ext cx="2578608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" b="0">
                <a:solidFill>
                  <a:srgbClr val="2A323C"/>
                </a:solidFill>
                <a:latin typeface="NanumSquare"/>
              </a:rPr>
              <a:t>DEC-2026-0618-001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26679" y="2967227"/>
            <a:ext cx="1143000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" b="1">
                <a:solidFill>
                  <a:srgbClr val="168AAD"/>
                </a:solidFill>
                <a:latin typeface="NanumSquare"/>
              </a:rPr>
              <a:t>graph_snapshot_id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778240" y="2967227"/>
            <a:ext cx="2578608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" b="0">
                <a:solidFill>
                  <a:srgbClr val="2A323C"/>
                </a:solidFill>
                <a:latin typeface="NanumSquare"/>
              </a:rPr>
              <a:t>GPH-FEAT-v1.4.2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26679" y="3163824"/>
            <a:ext cx="1143000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" b="1">
                <a:solidFill>
                  <a:srgbClr val="168AAD"/>
                </a:solidFill>
                <a:latin typeface="NanumSquare"/>
              </a:rPr>
              <a:t>change_target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778240" y="3163824"/>
            <a:ext cx="2578608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" b="0">
                <a:solidFill>
                  <a:srgbClr val="2A323C"/>
                </a:solidFill>
                <a:latin typeface="NanumSquare"/>
              </a:rPr>
              <a:t>API-BDC-POLICY v1.4 -&gt; v1.5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26679" y="3360420"/>
            <a:ext cx="1143000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" b="1">
                <a:solidFill>
                  <a:srgbClr val="168AAD"/>
                </a:solidFill>
                <a:latin typeface="NanumSquare"/>
              </a:rPr>
              <a:t>deploy_type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778240" y="3360420"/>
            <a:ext cx="2578608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" b="0">
                <a:solidFill>
                  <a:srgbClr val="2A323C"/>
                </a:solidFill>
                <a:latin typeface="NanumSquare"/>
              </a:rPr>
              <a:t>Policy-only / Binary OTA / Review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726679" y="3557015"/>
            <a:ext cx="1143000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" b="1">
                <a:solidFill>
                  <a:srgbClr val="168AAD"/>
                </a:solidFill>
                <a:latin typeface="NanumSquare"/>
              </a:rPr>
              <a:t>required_gates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778240" y="3557015"/>
            <a:ext cx="2578608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" b="0">
                <a:solidFill>
                  <a:srgbClr val="2A323C"/>
                </a:solidFill>
                <a:latin typeface="NanumSquare"/>
              </a:rPr>
              <a:t>Policy, Variant, Rollback, Telemetry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26679" y="3753611"/>
            <a:ext cx="1143000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" b="1">
                <a:solidFill>
                  <a:srgbClr val="168AAD"/>
                </a:solidFill>
                <a:latin typeface="NanumSquare"/>
              </a:rPr>
              <a:t>evidence_links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778240" y="3753611"/>
            <a:ext cx="2578608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" b="0">
                <a:solidFill>
                  <a:srgbClr val="2A323C"/>
                </a:solidFill>
                <a:latin typeface="NanumSquare"/>
              </a:rPr>
              <a:t>Req, Test, Supplier, Audit, ChangeSet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726679" y="3950208"/>
            <a:ext cx="1143000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" b="1">
                <a:solidFill>
                  <a:srgbClr val="168AAD"/>
                </a:solidFill>
                <a:latin typeface="NanumSquare"/>
              </a:rPr>
              <a:t>reason_codes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778240" y="3950208"/>
            <a:ext cx="2578608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" b="0">
                <a:solidFill>
                  <a:srgbClr val="2A323C"/>
                </a:solidFill>
                <a:latin typeface="NanumSquare"/>
              </a:rPr>
              <a:t>NO_SWC_CHANGE, API_COMPATIBLE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607808" y="4407408"/>
            <a:ext cx="3913632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80" b="1">
                <a:solidFill>
                  <a:srgbClr val="0B1F3A"/>
                </a:solidFill>
                <a:latin typeface="NanumSquare"/>
              </a:rPr>
              <a:t>Decision Quality Controls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699248" y="4617720"/>
            <a:ext cx="1719072" cy="146304"/>
          </a:xfrm>
          <a:prstGeom prst="roundRect">
            <a:avLst/>
          </a:prstGeom>
          <a:solidFill>
            <a:srgbClr val="2F9A6C"/>
          </a:solidFill>
          <a:ln w="9525">
            <a:solidFill>
              <a:srgbClr val="2F9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699248" y="4639665"/>
            <a:ext cx="1719072" cy="96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65" b="1">
                <a:solidFill>
                  <a:srgbClr val="FFFFFF"/>
                </a:solidFill>
                <a:latin typeface="NanumSquare"/>
              </a:rPr>
              <a:t>Immutable graph snapshot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601200" y="4617720"/>
            <a:ext cx="1719072" cy="146304"/>
          </a:xfrm>
          <a:prstGeom prst="roundRect">
            <a:avLst/>
          </a:prstGeom>
          <a:solidFill>
            <a:srgbClr val="2F9A6C"/>
          </a:solidFill>
          <a:ln w="9525">
            <a:solidFill>
              <a:srgbClr val="2F9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601200" y="4639665"/>
            <a:ext cx="1719072" cy="96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65" b="1">
                <a:solidFill>
                  <a:srgbClr val="FFFFFF"/>
                </a:solidFill>
                <a:latin typeface="NanumSquare"/>
              </a:rPr>
              <a:t>Rule ID / Version trace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7699248" y="4818888"/>
            <a:ext cx="1719072" cy="146304"/>
          </a:xfrm>
          <a:prstGeom prst="roundRect">
            <a:avLst/>
          </a:prstGeom>
          <a:solidFill>
            <a:srgbClr val="E88C30"/>
          </a:solidFill>
          <a:ln w="9525">
            <a:solidFill>
              <a:srgbClr val="E88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699248" y="4840833"/>
            <a:ext cx="1719072" cy="96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65" b="1">
                <a:solidFill>
                  <a:srgbClr val="FFFFFF"/>
                </a:solidFill>
                <a:latin typeface="NanumSquare"/>
              </a:rPr>
              <a:t>Human approval boundary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9601200" y="4818888"/>
            <a:ext cx="1719072" cy="146304"/>
          </a:xfrm>
          <a:prstGeom prst="roundRect">
            <a:avLst/>
          </a:prstGeom>
          <a:solidFill>
            <a:srgbClr val="E88C30"/>
          </a:solidFill>
          <a:ln w="9525">
            <a:solidFill>
              <a:srgbClr val="E88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601200" y="4840833"/>
            <a:ext cx="1719072" cy="96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65" b="1">
                <a:solidFill>
                  <a:srgbClr val="FFFFFF"/>
                </a:solidFill>
                <a:latin typeface="NanumSquare"/>
              </a:rPr>
              <a:t>Evidence link completeness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30352" y="5285232"/>
            <a:ext cx="11155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0B1F3A"/>
                </a:solidFill>
                <a:latin typeface="NanumSquare"/>
              </a:rPr>
              <a:t>4. FEAT-BDC-001 예시 — Targeting Rule 변경 시 자동 판단 결과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30352" y="5504688"/>
            <a:ext cx="11155680" cy="12801"/>
          </a:xfrm>
          <a:prstGeom prst="rect">
            <a:avLst/>
          </a:prstGeom>
          <a:solidFill>
            <a:srgbClr val="168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530352" y="5605272"/>
            <a:ext cx="11155680" cy="713232"/>
          </a:xfrm>
          <a:prstGeom prst="roundRect">
            <a:avLst/>
          </a:prstGeom>
          <a:solidFill>
            <a:srgbClr val="FAFCFE"/>
          </a:solidFill>
          <a:ln w="9525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731520" y="5715000"/>
            <a:ext cx="1737360" cy="384048"/>
          </a:xfrm>
          <a:prstGeom prst="roundRect">
            <a:avLst/>
          </a:prstGeom>
          <a:solidFill>
            <a:srgbClr val="E8F4FA"/>
          </a:solidFill>
          <a:ln w="9525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04672" y="5760720"/>
            <a:ext cx="159105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20" b="1">
                <a:solidFill>
                  <a:srgbClr val="168AAD"/>
                </a:solidFill>
                <a:latin typeface="NanumSquare"/>
              </a:rPr>
              <a:t>Change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04672" y="5916168"/>
            <a:ext cx="1591056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75" b="0">
                <a:solidFill>
                  <a:srgbClr val="2A323C"/>
                </a:solidFill>
                <a:latin typeface="NanumSquare"/>
              </a:rPr>
              <a:t>Targeting Rule 변경
Policy 조건만 변경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2468880" y="5907024"/>
            <a:ext cx="91440" cy="0"/>
          </a:xfrm>
          <a:prstGeom prst="line">
            <a:avLst/>
          </a:prstGeom>
          <a:ln w="9525">
            <a:solidFill>
              <a:srgbClr val="667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ounded Rectangle 112"/>
          <p:cNvSpPr/>
          <p:nvPr/>
        </p:nvSpPr>
        <p:spPr>
          <a:xfrm>
            <a:off x="2560320" y="5715000"/>
            <a:ext cx="1737360" cy="384048"/>
          </a:xfrm>
          <a:prstGeom prst="roundRect">
            <a:avLst/>
          </a:prstGeom>
          <a:solidFill>
            <a:srgbClr val="E8F4FA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633472" y="5760720"/>
            <a:ext cx="159105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20" b="1">
                <a:solidFill>
                  <a:srgbClr val="1F4E79"/>
                </a:solidFill>
                <a:latin typeface="NanumSquare"/>
              </a:rPr>
              <a:t>Impact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633472" y="5916168"/>
            <a:ext cx="1591056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75" b="0">
                <a:solidFill>
                  <a:srgbClr val="2A323C"/>
                </a:solidFill>
                <a:latin typeface="NanumSquare"/>
              </a:rPr>
              <a:t>2 Features · 1 SWC
1 Supplier · 3 Tests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4297679" y="5907024"/>
            <a:ext cx="91440" cy="0"/>
          </a:xfrm>
          <a:prstGeom prst="line">
            <a:avLst/>
          </a:prstGeom>
          <a:ln w="9525">
            <a:solidFill>
              <a:srgbClr val="667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ounded Rectangle 116"/>
          <p:cNvSpPr/>
          <p:nvPr/>
        </p:nvSpPr>
        <p:spPr>
          <a:xfrm>
            <a:off x="4389120" y="5715000"/>
            <a:ext cx="1737360" cy="384048"/>
          </a:xfrm>
          <a:prstGeom prst="roundRect">
            <a:avLst/>
          </a:prstGeom>
          <a:solidFill>
            <a:srgbClr val="EBF7F1"/>
          </a:solidFill>
          <a:ln w="9525">
            <a:solidFill>
              <a:srgbClr val="2F9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462272" y="5760720"/>
            <a:ext cx="159105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20" b="1">
                <a:solidFill>
                  <a:srgbClr val="2F9A6C"/>
                </a:solidFill>
                <a:latin typeface="NanumSquare"/>
              </a:rPr>
              <a:t>Verification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462272" y="5916168"/>
            <a:ext cx="1591056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75" b="0">
                <a:solidFill>
                  <a:srgbClr val="2A323C"/>
                </a:solidFill>
                <a:latin typeface="NanumSquare"/>
              </a:rPr>
              <a:t>Variant Review
Rollback Test · Telemetry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6126479" y="5907024"/>
            <a:ext cx="91440" cy="0"/>
          </a:xfrm>
          <a:prstGeom prst="line">
            <a:avLst/>
          </a:prstGeom>
          <a:ln w="9525">
            <a:solidFill>
              <a:srgbClr val="667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ounded Rectangle 120"/>
          <p:cNvSpPr/>
          <p:nvPr/>
        </p:nvSpPr>
        <p:spPr>
          <a:xfrm>
            <a:off x="6217920" y="5715000"/>
            <a:ext cx="1737360" cy="384048"/>
          </a:xfrm>
          <a:prstGeom prst="roundRect">
            <a:avLst/>
          </a:prstGeom>
          <a:solidFill>
            <a:srgbClr val="FDF3E7"/>
          </a:solidFill>
          <a:ln w="9525">
            <a:solidFill>
              <a:srgbClr val="E88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291072" y="5760720"/>
            <a:ext cx="159105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20" b="1">
                <a:solidFill>
                  <a:srgbClr val="E88C30"/>
                </a:solidFill>
                <a:latin typeface="NanumSquare"/>
              </a:rPr>
              <a:t>Deploy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291072" y="5916168"/>
            <a:ext cx="1591056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75" b="0">
                <a:solidFill>
                  <a:srgbClr val="2A323C"/>
                </a:solidFill>
                <a:latin typeface="NanumSquare"/>
              </a:rPr>
              <a:t>Policy-only Deploy
Binary OTA 불필요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7955279" y="5907024"/>
            <a:ext cx="91440" cy="0"/>
          </a:xfrm>
          <a:prstGeom prst="line">
            <a:avLst/>
          </a:prstGeom>
          <a:ln w="9525">
            <a:solidFill>
              <a:srgbClr val="667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ounded Rectangle 124"/>
          <p:cNvSpPr/>
          <p:nvPr/>
        </p:nvSpPr>
        <p:spPr>
          <a:xfrm>
            <a:off x="8046720" y="5715000"/>
            <a:ext cx="1737360" cy="384048"/>
          </a:xfrm>
          <a:prstGeom prst="roundRect">
            <a:avLst/>
          </a:prstGeom>
          <a:solidFill>
            <a:srgbClr val="F2EFFA"/>
          </a:solidFill>
          <a:ln w="9525">
            <a:solidFill>
              <a:srgbClr val="7462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119872" y="5760720"/>
            <a:ext cx="159105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20" b="1">
                <a:solidFill>
                  <a:srgbClr val="7462A9"/>
                </a:solidFill>
                <a:latin typeface="NanumSquare"/>
              </a:rPr>
              <a:t>Supplier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119872" y="5916168"/>
            <a:ext cx="1591056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75" b="0">
                <a:solidFill>
                  <a:srgbClr val="2A323C"/>
                </a:solidFill>
                <a:latin typeface="NanumSquare"/>
              </a:rPr>
              <a:t>API Contract 변경 없음
호환성 확인 필요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9784080" y="5907024"/>
            <a:ext cx="91440" cy="0"/>
          </a:xfrm>
          <a:prstGeom prst="line">
            <a:avLst/>
          </a:prstGeom>
          <a:ln w="9525">
            <a:solidFill>
              <a:srgbClr val="667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Rounded Rectangle 128"/>
          <p:cNvSpPr/>
          <p:nvPr/>
        </p:nvSpPr>
        <p:spPr>
          <a:xfrm>
            <a:off x="9875520" y="5715000"/>
            <a:ext cx="1737360" cy="384048"/>
          </a:xfrm>
          <a:prstGeom prst="roundRect">
            <a:avLst/>
          </a:prstGeom>
          <a:solidFill>
            <a:srgbClr val="FCEEEE"/>
          </a:solidFill>
          <a:ln w="9525">
            <a:solidFill>
              <a:srgbClr val="C0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948672" y="5760720"/>
            <a:ext cx="159105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20" b="1">
                <a:solidFill>
                  <a:srgbClr val="C04848"/>
                </a:solidFill>
                <a:latin typeface="NanumSquare"/>
              </a:rPr>
              <a:t>Decision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948672" y="5916168"/>
            <a:ext cx="1591056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75" b="0">
                <a:solidFill>
                  <a:srgbClr val="2A323C"/>
                </a:solidFill>
                <a:latin typeface="NanumSquare"/>
              </a:rPr>
              <a:t>Gate 통과 후 배포
Decision Report 저장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02920" y="6419088"/>
            <a:ext cx="11201400" cy="246888"/>
          </a:xfrm>
          <a:prstGeom prst="rect">
            <a:avLst/>
          </a:prstGeom>
          <a:solidFill>
            <a:srgbClr val="0B1F3A"/>
          </a:solidFill>
          <a:ln w="9525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40080" y="6487668"/>
            <a:ext cx="1092708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35" b="1">
                <a:solidFill>
                  <a:srgbClr val="FFFFFF"/>
                </a:solidFill>
                <a:latin typeface="NanumSquare"/>
              </a:rPr>
              <a:t>핵심: Decision Engine은 “추천 문장”이 아니라 Graph Snapshot · Rule Version · Evidence Link를 포함한 재현 가능한 의사결정 패키지를 생성해야 한다.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66928" y="6702552"/>
            <a:ext cx="1115568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" b="0">
                <a:solidFill>
                  <a:srgbClr val="66717D"/>
                </a:solidFill>
                <a:latin typeface="NanumSquare"/>
              </a:rPr>
              <a:t>출처/근거/참조: OMG DMN(Decision Model and Notation); ISO/IEC/IEEE 29148:2018; OMG SysML 2.0; ISO 24089:2023; ISO 26262:2018; ISO/SAE 21434:2021; Mutuus Lab Feature Topology 설계 기준.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4E79"/>
                </a:solidFill>
                <a:latin typeface="NanumSquare"/>
              </a:rPr>
              <a:t>06-1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18872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NanumSquare"/>
              </a:rPr>
              <a:t>Registry UI — 작업흐름과 화면 IA 상세 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18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2D343D"/>
                </a:solidFill>
                <a:latin typeface="NanumSquare"/>
              </a:rPr>
              <a:t>UI는 Feature 기준정보 입력 · 관계 탐색 · 의사결정 실행 · 배포 준비성 확인을 하나의 Workbench 흐름으로 연결하고, 모든 판단 결과를 Feature ID 기준 증적으로 남긴다.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41832"/>
            <a:ext cx="1113739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70" b="1">
                <a:solidFill>
                  <a:srgbClr val="0B1F3A"/>
                </a:solidFill>
                <a:latin typeface="NanumSquare"/>
              </a:rPr>
              <a:t>1. 사용자 작업 흐름 — Search → Inspect → Model → Decide → Approve → Evidence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143000"/>
            <a:ext cx="11137392" cy="16459"/>
          </a:xfrm>
          <a:prstGeom prst="rect">
            <a:avLst/>
          </a:prstGeom>
          <a:solidFill>
            <a:srgbClr val="168AA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3504" y="1225296"/>
            <a:ext cx="1645920" cy="530352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6656" y="1298448"/>
            <a:ext cx="256032" cy="164592"/>
          </a:xfrm>
          <a:prstGeom prst="round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30452"/>
            <a:ext cx="201168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" b="1">
                <a:solidFill>
                  <a:srgbClr val="FFFFFF"/>
                </a:solidFill>
                <a:latin typeface="NanumSquare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1298448"/>
            <a:ext cx="1207008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70" b="1">
                <a:solidFill>
                  <a:srgbClr val="0B1F3A"/>
                </a:solidFill>
                <a:latin typeface="NanumSquare"/>
              </a:rPr>
              <a:t>Feature
Catalog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545336"/>
            <a:ext cx="1426464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55" b="0">
                <a:solidFill>
                  <a:srgbClr val="2D343D"/>
                </a:solidFill>
                <a:latin typeface="NanumSquare"/>
              </a:rPr>
              <a:t>검색·필터·Health 확인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49424" y="1490472"/>
            <a:ext cx="210312" cy="0"/>
          </a:xfrm>
          <a:prstGeom prst="line">
            <a:avLst/>
          </a:prstGeom>
          <a:ln w="11430">
            <a:solidFill>
              <a:srgbClr val="99A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59736" y="1225296"/>
            <a:ext cx="1645920" cy="530352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299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532888" y="1298448"/>
            <a:ext cx="256032" cy="164592"/>
          </a:xfrm>
          <a:prstGeom prst="roundRect">
            <a:avLst/>
          </a:prstGeom>
          <a:solidFill>
            <a:srgbClr val="2990B2"/>
          </a:solidFill>
          <a:ln w="9525">
            <a:solidFill>
              <a:srgbClr val="299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0" y="1330452"/>
            <a:ext cx="201168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" b="1">
                <a:solidFill>
                  <a:srgbClr val="FFFFFF"/>
                </a:solidFill>
                <a:latin typeface="NanumSquare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25496" y="1298448"/>
            <a:ext cx="1207008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70" b="1">
                <a:solidFill>
                  <a:srgbClr val="0B1F3A"/>
                </a:solidFill>
                <a:latin typeface="NanumSquare"/>
              </a:rPr>
              <a:t>Feature
Detail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9464" y="1545336"/>
            <a:ext cx="1426464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55" b="0">
                <a:solidFill>
                  <a:srgbClr val="2D343D"/>
                </a:solidFill>
                <a:latin typeface="NanumSquare"/>
              </a:rPr>
              <a:t>기준정보·BOM 편집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05656" y="1490472"/>
            <a:ext cx="210312" cy="0"/>
          </a:xfrm>
          <a:prstGeom prst="line">
            <a:avLst/>
          </a:prstGeom>
          <a:ln w="11430">
            <a:solidFill>
              <a:srgbClr val="99A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315968" y="1225296"/>
            <a:ext cx="1645920" cy="530352"/>
          </a:xfrm>
          <a:prstGeom prst="roundRect">
            <a:avLst/>
          </a:prstGeom>
          <a:solidFill>
            <a:srgbClr val="EBF7F1"/>
          </a:solidFill>
          <a:ln w="12700">
            <a:solidFill>
              <a:srgbClr val="2E8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89120" y="1298448"/>
            <a:ext cx="256032" cy="164592"/>
          </a:xfrm>
          <a:prstGeom prst="roundRect">
            <a:avLst/>
          </a:prstGeom>
          <a:solidFill>
            <a:srgbClr val="2E8D46"/>
          </a:solidFill>
          <a:ln w="9525">
            <a:solidFill>
              <a:srgbClr val="2E8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16552" y="1330452"/>
            <a:ext cx="201168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" b="1">
                <a:solidFill>
                  <a:srgbClr val="FFFFFF"/>
                </a:solidFill>
                <a:latin typeface="NanumSquare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8" y="1298448"/>
            <a:ext cx="1207008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70" b="1">
                <a:solidFill>
                  <a:srgbClr val="0B1F3A"/>
                </a:solidFill>
                <a:latin typeface="NanumSquare"/>
              </a:rPr>
              <a:t>Topology
Modeler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5696" y="1545336"/>
            <a:ext cx="1426464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55" b="0">
                <a:solidFill>
                  <a:srgbClr val="2D343D"/>
                </a:solidFill>
                <a:latin typeface="NanumSquare"/>
              </a:rPr>
              <a:t>Graph/BOM 관계 수정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961888" y="1490472"/>
            <a:ext cx="210312" cy="0"/>
          </a:xfrm>
          <a:prstGeom prst="line">
            <a:avLst/>
          </a:prstGeom>
          <a:ln w="11430">
            <a:solidFill>
              <a:srgbClr val="99A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172200" y="1225296"/>
            <a:ext cx="1645920" cy="530352"/>
          </a:xfrm>
          <a:prstGeom prst="roundRect">
            <a:avLst/>
          </a:prstGeom>
          <a:solidFill>
            <a:srgbClr val="FDF3E7"/>
          </a:solidFill>
          <a:ln w="12700">
            <a:solidFill>
              <a:srgbClr val="E8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45352" y="1298448"/>
            <a:ext cx="256032" cy="164592"/>
          </a:xfrm>
          <a:prstGeom prst="roundRect">
            <a:avLst/>
          </a:prstGeom>
          <a:solidFill>
            <a:srgbClr val="E87E22"/>
          </a:solidFill>
          <a:ln w="9525">
            <a:solidFill>
              <a:srgbClr val="E8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72784" y="1330452"/>
            <a:ext cx="201168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" b="1">
                <a:solidFill>
                  <a:srgbClr val="FFFFFF"/>
                </a:solidFill>
                <a:latin typeface="NanumSquare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1298448"/>
            <a:ext cx="1207008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70" b="1">
                <a:solidFill>
                  <a:srgbClr val="0B1F3A"/>
                </a:solidFill>
                <a:latin typeface="NanumSquare"/>
              </a:rPr>
              <a:t>Decision
Center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1928" y="1545336"/>
            <a:ext cx="1426464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55" b="0">
                <a:solidFill>
                  <a:srgbClr val="2D343D"/>
                </a:solidFill>
                <a:latin typeface="NanumSquare"/>
              </a:rPr>
              <a:t>Impact·Deploy 판단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818120" y="1490472"/>
            <a:ext cx="210312" cy="0"/>
          </a:xfrm>
          <a:prstGeom prst="line">
            <a:avLst/>
          </a:prstGeom>
          <a:ln w="11430">
            <a:solidFill>
              <a:srgbClr val="99A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028432" y="1225296"/>
            <a:ext cx="1645920" cy="530352"/>
          </a:xfrm>
          <a:prstGeom prst="roundRect">
            <a:avLst/>
          </a:prstGeom>
          <a:solidFill>
            <a:srgbClr val="F2EFFA"/>
          </a:solidFill>
          <a:ln w="12700">
            <a:solidFill>
              <a:srgbClr val="7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01584" y="1298448"/>
            <a:ext cx="256032" cy="164592"/>
          </a:xfrm>
          <a:prstGeom prst="roundRect">
            <a:avLst/>
          </a:prstGeom>
          <a:solidFill>
            <a:srgbClr val="704C99"/>
          </a:solidFill>
          <a:ln w="9525">
            <a:solidFill>
              <a:srgbClr val="7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29016" y="1330452"/>
            <a:ext cx="201168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" b="1">
                <a:solidFill>
                  <a:srgbClr val="FFFFFF"/>
                </a:solidFill>
                <a:latin typeface="NanumSquare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4192" y="1298448"/>
            <a:ext cx="1207008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70" b="1">
                <a:solidFill>
                  <a:srgbClr val="0B1F3A"/>
                </a:solidFill>
                <a:latin typeface="NanumSquare"/>
              </a:rPr>
              <a:t>Readiness
Gate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1545336"/>
            <a:ext cx="1426464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55" b="0">
                <a:solidFill>
                  <a:srgbClr val="2D343D"/>
                </a:solidFill>
                <a:latin typeface="NanumSquare"/>
              </a:rPr>
              <a:t>9 Gate Gap 확인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674352" y="1490472"/>
            <a:ext cx="210312" cy="0"/>
          </a:xfrm>
          <a:prstGeom prst="line">
            <a:avLst/>
          </a:prstGeom>
          <a:ln w="11430">
            <a:solidFill>
              <a:srgbClr val="99A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884664" y="1225296"/>
            <a:ext cx="1645920" cy="530352"/>
          </a:xfrm>
          <a:prstGeom prst="roundRect">
            <a:avLst/>
          </a:prstGeom>
          <a:solidFill>
            <a:srgbClr val="FCEEEE"/>
          </a:solidFill>
          <a:ln w="12700">
            <a:solidFill>
              <a:srgbClr val="BF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957816" y="1298448"/>
            <a:ext cx="256032" cy="164592"/>
          </a:xfrm>
          <a:prstGeom prst="roundRect">
            <a:avLst/>
          </a:prstGeom>
          <a:solidFill>
            <a:srgbClr val="BF3636"/>
          </a:solidFill>
          <a:ln w="9525">
            <a:solidFill>
              <a:srgbClr val="BF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85248" y="1330452"/>
            <a:ext cx="201168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" b="1">
                <a:solidFill>
                  <a:srgbClr val="FFFFFF"/>
                </a:solidFill>
                <a:latin typeface="NanumSquare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50424" y="1298448"/>
            <a:ext cx="1207008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70" b="1">
                <a:solidFill>
                  <a:srgbClr val="0B1F3A"/>
                </a:solidFill>
                <a:latin typeface="NanumSquare"/>
              </a:rPr>
              <a:t>Decision
Package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94392" y="1545336"/>
            <a:ext cx="1426464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55" b="0">
                <a:solidFill>
                  <a:srgbClr val="2D343D"/>
                </a:solidFill>
                <a:latin typeface="NanumSquare"/>
              </a:rPr>
              <a:t>Report·Audit 저장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352" y="1993392"/>
            <a:ext cx="1113739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70" b="1">
                <a:solidFill>
                  <a:srgbClr val="0B1F3A"/>
                </a:solidFill>
                <a:latin typeface="NanumSquare"/>
              </a:rPr>
              <a:t>2. 4대 핵심 화면 — 역할, 입력 데이터, 출력 Artifact 정의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0352" y="2194560"/>
            <a:ext cx="11137392" cy="16459"/>
          </a:xfrm>
          <a:prstGeom prst="rect">
            <a:avLst/>
          </a:prstGeom>
          <a:solidFill>
            <a:srgbClr val="168AA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30352" y="2267712"/>
            <a:ext cx="2761488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30352" y="2267712"/>
            <a:ext cx="2761488" cy="228600"/>
          </a:xfrm>
          <a:prstGeom prst="round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2331720"/>
            <a:ext cx="2560320" cy="64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70" b="1">
                <a:solidFill>
                  <a:srgbClr val="FFFFFF"/>
                </a:solidFill>
                <a:latin typeface="NanumSquare"/>
              </a:rPr>
              <a:t>① Dashboard / Catalog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" y="2596896"/>
            <a:ext cx="2487168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5" b="0">
                <a:solidFill>
                  <a:srgbClr val="2D343D"/>
                </a:solidFill>
                <a:latin typeface="NanumSquare"/>
              </a:rPr>
              <a:t>• Feature 검색·필터·Lifecycle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944" y="2761488"/>
            <a:ext cx="2487168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5" b="0">
                <a:solidFill>
                  <a:srgbClr val="2D343D"/>
                </a:solidFill>
                <a:latin typeface="NanumSquare"/>
              </a:rPr>
              <a:t>• Traceability Health·Risk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4944" y="2926080"/>
            <a:ext cx="2487168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5" b="0">
                <a:solidFill>
                  <a:srgbClr val="2D343D"/>
                </a:solidFill>
                <a:latin typeface="NanumSquare"/>
              </a:rPr>
              <a:t>• Missing Owner/Test/Evidence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76656" y="3218688"/>
            <a:ext cx="2468880" cy="164592"/>
          </a:xfrm>
          <a:prstGeom prst="roundRect">
            <a:avLst/>
          </a:prstGeom>
          <a:solidFill>
            <a:srgbClr val="F3F7FB"/>
          </a:solidFill>
          <a:ln w="9525">
            <a:solidFill>
              <a:srgbClr val="E2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3232" y="3268979"/>
            <a:ext cx="2395728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35" b="1">
                <a:solidFill>
                  <a:srgbClr val="1F4E79"/>
                </a:solidFill>
                <a:latin typeface="NanumSquare"/>
              </a:rPr>
              <a:t>Output: Feature 후보·Gap List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547872" y="2267712"/>
            <a:ext cx="2761488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3547872" y="2267712"/>
            <a:ext cx="2761488" cy="228600"/>
          </a:xfrm>
          <a:prstGeom prst="roundRect">
            <a:avLst/>
          </a:prstGeom>
          <a:solidFill>
            <a:srgbClr val="2990B2"/>
          </a:solidFill>
          <a:ln w="9525">
            <a:solidFill>
              <a:srgbClr val="299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0" y="2331720"/>
            <a:ext cx="2560320" cy="64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70" b="1">
                <a:solidFill>
                  <a:srgbClr val="FFFFFF"/>
                </a:solidFill>
                <a:latin typeface="NanumSquare"/>
              </a:rPr>
              <a:t>② Feature Detail Workbench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12463" y="2596896"/>
            <a:ext cx="2487168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5" b="0">
                <a:solidFill>
                  <a:srgbClr val="2D343D"/>
                </a:solidFill>
                <a:latin typeface="NanumSquare"/>
              </a:rPr>
              <a:t>• Summary·Taxonomy·BOM Tabs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12463" y="2761488"/>
            <a:ext cx="2487168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5" b="0">
                <a:solidFill>
                  <a:srgbClr val="2D343D"/>
                </a:solidFill>
                <a:latin typeface="NanumSquare"/>
              </a:rPr>
              <a:t>• Variant·Control·Supplier·Ops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12463" y="2926080"/>
            <a:ext cx="2487168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5" b="0">
                <a:solidFill>
                  <a:srgbClr val="2D343D"/>
                </a:solidFill>
                <a:latin typeface="NanumSquare"/>
              </a:rPr>
              <a:t>• Baseline diff·History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694176" y="3218688"/>
            <a:ext cx="2468880" cy="164592"/>
          </a:xfrm>
          <a:prstGeom prst="roundRect">
            <a:avLst/>
          </a:prstGeom>
          <a:solidFill>
            <a:srgbClr val="F3F7FB"/>
          </a:solidFill>
          <a:ln w="9525">
            <a:solidFill>
              <a:srgbClr val="E2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730752" y="3268979"/>
            <a:ext cx="2395728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35" b="1">
                <a:solidFill>
                  <a:srgbClr val="2990B2"/>
                </a:solidFill>
                <a:latin typeface="NanumSquare"/>
              </a:rPr>
              <a:t>Output: Baseline ChangeSet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565392" y="2267712"/>
            <a:ext cx="2761488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565392" y="2267712"/>
            <a:ext cx="2761488" cy="228600"/>
          </a:xfrm>
          <a:prstGeom prst="roundRect">
            <a:avLst/>
          </a:prstGeom>
          <a:solidFill>
            <a:srgbClr val="E87E22"/>
          </a:solidFill>
          <a:ln w="9525">
            <a:solidFill>
              <a:srgbClr val="E8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331720"/>
            <a:ext cx="2560320" cy="64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70" b="1">
                <a:solidFill>
                  <a:srgbClr val="FFFFFF"/>
                </a:solidFill>
                <a:latin typeface="NanumSquare"/>
              </a:rPr>
              <a:t>③ Impact Analysis Center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29983" y="2596896"/>
            <a:ext cx="2487168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5" b="0">
                <a:solidFill>
                  <a:srgbClr val="2D343D"/>
                </a:solidFill>
                <a:latin typeface="NanumSquare"/>
              </a:rPr>
              <a:t>• Change Target·Graph Snapshot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29983" y="2761488"/>
            <a:ext cx="2487168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5" b="0">
                <a:solidFill>
                  <a:srgbClr val="2D343D"/>
                </a:solidFill>
                <a:latin typeface="NanumSquare"/>
              </a:rPr>
              <a:t>• Impacted Artifact·Risk Flag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29983" y="2926080"/>
            <a:ext cx="2487168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5" b="0">
                <a:solidFill>
                  <a:srgbClr val="2D343D"/>
                </a:solidFill>
                <a:latin typeface="NanumSquare"/>
              </a:rPr>
              <a:t>• Verification Scope 후보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711696" y="3218688"/>
            <a:ext cx="2468880" cy="164592"/>
          </a:xfrm>
          <a:prstGeom prst="roundRect">
            <a:avLst/>
          </a:prstGeom>
          <a:solidFill>
            <a:srgbClr val="F3F7FB"/>
          </a:solidFill>
          <a:ln w="9525">
            <a:solidFill>
              <a:srgbClr val="E2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748272" y="3268979"/>
            <a:ext cx="2395728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35" b="1">
                <a:solidFill>
                  <a:srgbClr val="E87E22"/>
                </a:solidFill>
                <a:latin typeface="NanumSquare"/>
              </a:rPr>
              <a:t>Output: Impact Report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582912" y="2267712"/>
            <a:ext cx="2084831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582912" y="2267712"/>
            <a:ext cx="2084831" cy="228600"/>
          </a:xfrm>
          <a:prstGeom prst="roundRect">
            <a:avLst/>
          </a:prstGeom>
          <a:solidFill>
            <a:srgbClr val="704C99"/>
          </a:solidFill>
          <a:ln w="9525">
            <a:solidFill>
              <a:srgbClr val="7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692640" y="2331720"/>
            <a:ext cx="1883663" cy="64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70" b="1">
                <a:solidFill>
                  <a:srgbClr val="FFFFFF"/>
                </a:solidFill>
                <a:latin typeface="NanumSquare"/>
              </a:rPr>
              <a:t>④ Release Readiness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747504" y="2596896"/>
            <a:ext cx="1810511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5" b="0">
                <a:solidFill>
                  <a:srgbClr val="2D343D"/>
                </a:solidFill>
                <a:latin typeface="NanumSquare"/>
              </a:rPr>
              <a:t>• 9 Gate Matrix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47504" y="2761488"/>
            <a:ext cx="1810511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5" b="0">
                <a:solidFill>
                  <a:srgbClr val="2D343D"/>
                </a:solidFill>
                <a:latin typeface="NanumSquare"/>
              </a:rPr>
              <a:t>• Evidence Status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747504" y="2926080"/>
            <a:ext cx="1810511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5" b="0">
                <a:solidFill>
                  <a:srgbClr val="2D343D"/>
                </a:solidFill>
                <a:latin typeface="NanumSquare"/>
              </a:rPr>
              <a:t>• Approver·Blocking Issue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729216" y="3218688"/>
            <a:ext cx="1792223" cy="164592"/>
          </a:xfrm>
          <a:prstGeom prst="roundRect">
            <a:avLst/>
          </a:prstGeom>
          <a:solidFill>
            <a:srgbClr val="F3F7FB"/>
          </a:solidFill>
          <a:ln w="9525">
            <a:solidFill>
              <a:srgbClr val="E2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765792" y="3268979"/>
            <a:ext cx="1719072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35" b="1">
                <a:solidFill>
                  <a:srgbClr val="704C99"/>
                </a:solidFill>
                <a:latin typeface="NanumSquare"/>
              </a:rPr>
              <a:t>Output: Gate Result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0352" y="3767328"/>
            <a:ext cx="55778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70" b="1">
                <a:solidFill>
                  <a:srgbClr val="0B1F3A"/>
                </a:solidFill>
                <a:latin typeface="NanumSquare"/>
              </a:rPr>
              <a:t>3. UI IA — 화면별 Primary Object와 Action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30352" y="3968496"/>
            <a:ext cx="5577840" cy="16459"/>
          </a:xfrm>
          <a:prstGeom prst="rect">
            <a:avLst/>
          </a:prstGeom>
          <a:solidFill>
            <a:srgbClr val="168AA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530352" y="4041648"/>
            <a:ext cx="5577840" cy="15727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530352" y="4041648"/>
            <a:ext cx="5577840" cy="237744"/>
          </a:xfrm>
          <a:prstGeom prst="round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0080" y="4105656"/>
            <a:ext cx="5394959" cy="64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" b="1">
                <a:solidFill>
                  <a:srgbClr val="FFFFFF"/>
                </a:solidFill>
                <a:latin typeface="NanumSquare"/>
              </a:rPr>
              <a:t>Information Architecture Contract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40080" y="4370832"/>
            <a:ext cx="5358383" cy="201168"/>
          </a:xfrm>
          <a:prstGeom prst="rect">
            <a:avLst/>
          </a:prstGeom>
          <a:solidFill>
            <a:srgbClr val="F7FAFD"/>
          </a:solidFill>
          <a:ln w="4445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13232" y="4425696"/>
            <a:ext cx="1143000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55" b="1">
                <a:solidFill>
                  <a:srgbClr val="1F4E79"/>
                </a:solidFill>
                <a:latin typeface="NanumSquare"/>
              </a:rPr>
              <a:t>Catalog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947672" y="4421124"/>
            <a:ext cx="2194560" cy="5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5" b="0">
                <a:solidFill>
                  <a:srgbClr val="2D343D"/>
                </a:solidFill>
                <a:latin typeface="NanumSquare"/>
              </a:rPr>
              <a:t>Feature, TaxonomyNode, Owner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050791" y="4421124"/>
            <a:ext cx="1828800" cy="5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5" b="0">
                <a:solidFill>
                  <a:srgbClr val="69717C"/>
                </a:solidFill>
                <a:latin typeface="NanumSquare"/>
              </a:rPr>
              <a:t>Search / Filter / Create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40080" y="4608576"/>
            <a:ext cx="5358383" cy="201168"/>
          </a:xfrm>
          <a:prstGeom prst="rect">
            <a:avLst/>
          </a:prstGeom>
          <a:solidFill>
            <a:srgbClr val="FFFFFF"/>
          </a:solidFill>
          <a:ln w="4445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13232" y="4663440"/>
            <a:ext cx="1143000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55" b="1">
                <a:solidFill>
                  <a:srgbClr val="1F4E79"/>
                </a:solidFill>
                <a:latin typeface="NanumSquare"/>
              </a:rPr>
              <a:t>Detail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947672" y="4658868"/>
            <a:ext cx="2194560" cy="5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5" b="0">
                <a:solidFill>
                  <a:srgbClr val="2D343D"/>
                </a:solidFill>
                <a:latin typeface="NanumSquare"/>
              </a:rPr>
              <a:t>FeatureBOM, BOMItem, Baseline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050791" y="4658868"/>
            <a:ext cx="1828800" cy="5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5" b="0">
                <a:solidFill>
                  <a:srgbClr val="69717C"/>
                </a:solidFill>
                <a:latin typeface="NanumSquare"/>
              </a:rPr>
              <a:t>Edit / Compare / Link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40080" y="4846320"/>
            <a:ext cx="5358383" cy="201168"/>
          </a:xfrm>
          <a:prstGeom prst="rect">
            <a:avLst/>
          </a:prstGeom>
          <a:solidFill>
            <a:srgbClr val="F7FAFD"/>
          </a:solidFill>
          <a:ln w="4445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13232" y="4901183"/>
            <a:ext cx="1143000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55" b="1">
                <a:solidFill>
                  <a:srgbClr val="1F4E79"/>
                </a:solidFill>
                <a:latin typeface="NanumSquare"/>
              </a:rPr>
              <a:t>Topology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947672" y="4896612"/>
            <a:ext cx="2194560" cy="5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5" b="0">
                <a:solidFill>
                  <a:srgbClr val="2D343D"/>
                </a:solidFill>
                <a:latin typeface="NanumSquare"/>
              </a:rPr>
              <a:t>Node, Edge, GraphSnapshot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050791" y="4896612"/>
            <a:ext cx="1828800" cy="5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5" b="0">
                <a:solidFill>
                  <a:srgbClr val="69717C"/>
                </a:solidFill>
                <a:latin typeface="NanumSquare"/>
              </a:rPr>
              <a:t>Explore / Validate / Save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40080" y="5084064"/>
            <a:ext cx="5358383" cy="201168"/>
          </a:xfrm>
          <a:prstGeom prst="rect">
            <a:avLst/>
          </a:prstGeom>
          <a:solidFill>
            <a:srgbClr val="FFFFFF"/>
          </a:solidFill>
          <a:ln w="4445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13232" y="5138927"/>
            <a:ext cx="1143000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55" b="1">
                <a:solidFill>
                  <a:srgbClr val="1F4E79"/>
                </a:solidFill>
                <a:latin typeface="NanumSquare"/>
              </a:rPr>
              <a:t>Decision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947672" y="5134355"/>
            <a:ext cx="2194560" cy="5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5" b="0">
                <a:solidFill>
                  <a:srgbClr val="2D343D"/>
                </a:solidFill>
                <a:latin typeface="NanumSquare"/>
              </a:rPr>
              <a:t>ChangeSet, RuleSet, Evidence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050791" y="5134355"/>
            <a:ext cx="1828800" cy="5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5" b="0">
                <a:solidFill>
                  <a:srgbClr val="69717C"/>
                </a:solidFill>
                <a:latin typeface="NanumSquare"/>
              </a:rPr>
              <a:t>Run Engine / Export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40080" y="5321807"/>
            <a:ext cx="5358383" cy="201168"/>
          </a:xfrm>
          <a:prstGeom prst="rect">
            <a:avLst/>
          </a:prstGeom>
          <a:solidFill>
            <a:srgbClr val="F7FAFD"/>
          </a:solidFill>
          <a:ln w="4445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13232" y="5376671"/>
            <a:ext cx="1143000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55" b="1">
                <a:solidFill>
                  <a:srgbClr val="1F4E79"/>
                </a:solidFill>
                <a:latin typeface="NanumSquare"/>
              </a:rPr>
              <a:t>Readiness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947672" y="5372099"/>
            <a:ext cx="2194560" cy="5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5" b="0">
                <a:solidFill>
                  <a:srgbClr val="2D343D"/>
                </a:solidFill>
                <a:latin typeface="NanumSquare"/>
              </a:rPr>
              <a:t>GateResult, Approver, Issue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050791" y="5372099"/>
            <a:ext cx="1828800" cy="5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5" b="0">
                <a:solidFill>
                  <a:srgbClr val="69717C"/>
                </a:solidFill>
                <a:latin typeface="NanumSquare"/>
              </a:rPr>
              <a:t>Approve / Block / Request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355080" y="3767328"/>
            <a:ext cx="533095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70" b="1">
                <a:solidFill>
                  <a:srgbClr val="0B1F3A"/>
                </a:solidFill>
                <a:latin typeface="NanumSquare"/>
              </a:rPr>
              <a:t>4. Permission · State · Audit 설계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55080" y="3968496"/>
            <a:ext cx="5330952" cy="16459"/>
          </a:xfrm>
          <a:prstGeom prst="rect">
            <a:avLst/>
          </a:prstGeom>
          <a:solidFill>
            <a:srgbClr val="168AA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6355080" y="4041648"/>
            <a:ext cx="5330952" cy="15727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6510528" y="4187952"/>
            <a:ext cx="91440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510528" y="4279392"/>
            <a:ext cx="914400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F4E79"/>
                </a:solidFill>
                <a:latin typeface="NanumSquare"/>
              </a:rPr>
              <a:t>View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510528" y="4462272"/>
            <a:ext cx="914400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" b="0">
                <a:solidFill>
                  <a:srgbClr val="2D343D"/>
                </a:solidFill>
                <a:latin typeface="NanumSquare"/>
              </a:rPr>
              <a:t>Catalog 조회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7424928" y="4379976"/>
            <a:ext cx="109728" cy="0"/>
          </a:xfrm>
          <a:prstGeom prst="line">
            <a:avLst/>
          </a:prstGeom>
          <a:ln w="8890">
            <a:solidFill>
              <a:srgbClr val="96A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Rounded Rectangle 109"/>
          <p:cNvSpPr/>
          <p:nvPr/>
        </p:nvSpPr>
        <p:spPr>
          <a:xfrm>
            <a:off x="7534656" y="4187952"/>
            <a:ext cx="91440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99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34656" y="4279392"/>
            <a:ext cx="914400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" b="1">
                <a:solidFill>
                  <a:srgbClr val="2990B2"/>
                </a:solidFill>
                <a:latin typeface="NanumSquare"/>
              </a:rPr>
              <a:t>Edit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534656" y="4462272"/>
            <a:ext cx="914400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" b="0">
                <a:solidFill>
                  <a:srgbClr val="2D343D"/>
                </a:solidFill>
                <a:latin typeface="NanumSquare"/>
              </a:rPr>
              <a:t>BOM/Topology 수정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8449056" y="4379976"/>
            <a:ext cx="109728" cy="0"/>
          </a:xfrm>
          <a:prstGeom prst="line">
            <a:avLst/>
          </a:prstGeom>
          <a:ln w="8890">
            <a:solidFill>
              <a:srgbClr val="96A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Rounded Rectangle 113"/>
          <p:cNvSpPr/>
          <p:nvPr/>
        </p:nvSpPr>
        <p:spPr>
          <a:xfrm>
            <a:off x="8558784" y="4187952"/>
            <a:ext cx="91440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558784" y="4279392"/>
            <a:ext cx="914400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" b="1">
                <a:solidFill>
                  <a:srgbClr val="E87E22"/>
                </a:solidFill>
                <a:latin typeface="NanumSquare"/>
              </a:rPr>
              <a:t>Analyze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558784" y="4462272"/>
            <a:ext cx="914400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" b="0">
                <a:solidFill>
                  <a:srgbClr val="2D343D"/>
                </a:solidFill>
                <a:latin typeface="NanumSquare"/>
              </a:rPr>
              <a:t>Engine 실행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9473184" y="4379976"/>
            <a:ext cx="109728" cy="0"/>
          </a:xfrm>
          <a:prstGeom prst="line">
            <a:avLst/>
          </a:prstGeom>
          <a:ln w="8890">
            <a:solidFill>
              <a:srgbClr val="96A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Rounded Rectangle 117"/>
          <p:cNvSpPr/>
          <p:nvPr/>
        </p:nvSpPr>
        <p:spPr>
          <a:xfrm>
            <a:off x="9582912" y="4187952"/>
            <a:ext cx="91440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582912" y="4279392"/>
            <a:ext cx="914400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" b="1">
                <a:solidFill>
                  <a:srgbClr val="704C99"/>
                </a:solidFill>
                <a:latin typeface="NanumSquare"/>
              </a:rPr>
              <a:t>Approve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582912" y="4462272"/>
            <a:ext cx="914400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" b="0">
                <a:solidFill>
                  <a:srgbClr val="2D343D"/>
                </a:solidFill>
                <a:latin typeface="NanumSquare"/>
              </a:rPr>
              <a:t>Gate 승인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10497312" y="4379976"/>
            <a:ext cx="109728" cy="0"/>
          </a:xfrm>
          <a:prstGeom prst="line">
            <a:avLst/>
          </a:prstGeom>
          <a:ln w="8890">
            <a:solidFill>
              <a:srgbClr val="96A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Rounded Rectangle 121"/>
          <p:cNvSpPr/>
          <p:nvPr/>
        </p:nvSpPr>
        <p:spPr>
          <a:xfrm>
            <a:off x="10607040" y="4187952"/>
            <a:ext cx="91440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0607040" y="4279392"/>
            <a:ext cx="914400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" b="1">
                <a:solidFill>
                  <a:srgbClr val="BF3636"/>
                </a:solidFill>
                <a:latin typeface="NanumSquare"/>
              </a:rPr>
              <a:t>Export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607040" y="4462272"/>
            <a:ext cx="914400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" b="0">
                <a:solidFill>
                  <a:srgbClr val="2D343D"/>
                </a:solidFill>
                <a:latin typeface="NanumSquare"/>
              </a:rPr>
              <a:t>Report 패키징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6510528" y="4754880"/>
            <a:ext cx="1188720" cy="182880"/>
          </a:xfrm>
          <a:prstGeom prst="round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537960" y="4796028"/>
            <a:ext cx="113385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" b="1">
                <a:solidFill>
                  <a:srgbClr val="FFFFFF"/>
                </a:solidFill>
                <a:latin typeface="NanumSquare"/>
              </a:rPr>
              <a:t>Owner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7863840" y="4754880"/>
            <a:ext cx="1188720" cy="182880"/>
          </a:xfrm>
          <a:prstGeom prst="roundRect">
            <a:avLst/>
          </a:prstGeom>
          <a:solidFill>
            <a:srgbClr val="2E8D46"/>
          </a:solidFill>
          <a:ln w="9525">
            <a:solidFill>
              <a:srgbClr val="2E8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891271" y="4796028"/>
            <a:ext cx="113385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" b="1">
                <a:solidFill>
                  <a:srgbClr val="FFFFFF"/>
                </a:solidFill>
                <a:latin typeface="NanumSquare"/>
              </a:rPr>
              <a:t>Reviewer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9217152" y="4754880"/>
            <a:ext cx="1188720" cy="182880"/>
          </a:xfrm>
          <a:prstGeom prst="roundRect">
            <a:avLst/>
          </a:prstGeom>
          <a:solidFill>
            <a:srgbClr val="E87E22"/>
          </a:solidFill>
          <a:ln w="9525">
            <a:solidFill>
              <a:srgbClr val="E8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244584" y="4796028"/>
            <a:ext cx="113385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" b="1">
                <a:solidFill>
                  <a:srgbClr val="FFFFFF"/>
                </a:solidFill>
                <a:latin typeface="NanumSquare"/>
              </a:rPr>
              <a:t>Release Mgr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10570464" y="4754880"/>
            <a:ext cx="896112" cy="182880"/>
          </a:xfrm>
          <a:prstGeom prst="roundRect">
            <a:avLst/>
          </a:prstGeom>
          <a:solidFill>
            <a:srgbClr val="704C99"/>
          </a:solidFill>
          <a:ln w="9525">
            <a:solidFill>
              <a:srgbClr val="7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597896" y="4796028"/>
            <a:ext cx="841247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" b="1">
                <a:solidFill>
                  <a:srgbClr val="FFFFFF"/>
                </a:solidFill>
                <a:latin typeface="NanumSquare"/>
              </a:rPr>
              <a:t>Supplier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510528" y="5074920"/>
            <a:ext cx="4846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15" b="0">
                <a:solidFill>
                  <a:srgbClr val="2D343D"/>
                </a:solidFill>
                <a:latin typeface="NanumSquare"/>
              </a:rPr>
              <a:t>Audit Event: who · when · object · before/after · reason · evidence link 를 모든 write action에 자동 기록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30352" y="5788152"/>
            <a:ext cx="1113739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70" b="1">
                <a:solidFill>
                  <a:srgbClr val="0B1F3A"/>
                </a:solidFill>
                <a:latin typeface="NanumSquare"/>
              </a:rPr>
              <a:t>5. 화면 공통 Data Contract &amp; UI 품질 원칙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530352" y="5989320"/>
            <a:ext cx="11137392" cy="16459"/>
          </a:xfrm>
          <a:prstGeom prst="rect">
            <a:avLst/>
          </a:prstGeom>
          <a:solidFill>
            <a:srgbClr val="168AA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530352" y="6053328"/>
            <a:ext cx="11137392" cy="411480"/>
          </a:xfrm>
          <a:prstGeom prst="roundRect">
            <a:avLst/>
          </a:prstGeom>
          <a:solidFill>
            <a:srgbClr val="FAFCFE"/>
          </a:solidFill>
          <a:ln w="9525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40080" y="6153912"/>
            <a:ext cx="1389888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5" b="1">
                <a:solidFill>
                  <a:srgbClr val="1F4E79"/>
                </a:solidFill>
                <a:latin typeface="NanumSquare"/>
              </a:rPr>
              <a:t>feature_id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40080" y="6291072"/>
            <a:ext cx="1389888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" b="0">
                <a:solidFill>
                  <a:srgbClr val="2D343D"/>
                </a:solidFill>
                <a:latin typeface="NanumSquare"/>
              </a:rPr>
              <a:t>FEAT-BDC-001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48839" y="6153912"/>
            <a:ext cx="1389888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5" b="1">
                <a:solidFill>
                  <a:srgbClr val="1F4E79"/>
                </a:solidFill>
                <a:latin typeface="NanumSquare"/>
              </a:rPr>
              <a:t>baseline_id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148839" y="6291072"/>
            <a:ext cx="1389888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" b="0">
                <a:solidFill>
                  <a:srgbClr val="2D343D"/>
                </a:solidFill>
                <a:latin typeface="NanumSquare"/>
              </a:rPr>
              <a:t>BOM-v1.1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657599" y="6153912"/>
            <a:ext cx="1389888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5" b="1">
                <a:solidFill>
                  <a:srgbClr val="1F4E79"/>
                </a:solidFill>
                <a:latin typeface="NanumSquare"/>
              </a:rPr>
              <a:t>graph_snapshot_id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657599" y="6291072"/>
            <a:ext cx="1389888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" b="0">
                <a:solidFill>
                  <a:srgbClr val="2D343D"/>
                </a:solidFill>
                <a:latin typeface="NanumSquare"/>
              </a:rPr>
              <a:t>GPH-v1.4.2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166359" y="6153912"/>
            <a:ext cx="1389888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5" b="1">
                <a:solidFill>
                  <a:srgbClr val="1F4E79"/>
                </a:solidFill>
                <a:latin typeface="NanumSquare"/>
              </a:rPr>
              <a:t>user_role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166359" y="6291072"/>
            <a:ext cx="1389888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" b="0">
                <a:solidFill>
                  <a:srgbClr val="2D343D"/>
                </a:solidFill>
                <a:latin typeface="NanumSquare"/>
              </a:rPr>
              <a:t>Owner / Approver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675119" y="6153912"/>
            <a:ext cx="1389888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5" b="1">
                <a:solidFill>
                  <a:srgbClr val="1F4E79"/>
                </a:solidFill>
                <a:latin typeface="NanumSquare"/>
              </a:rPr>
              <a:t>permission_scope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675119" y="6291072"/>
            <a:ext cx="1389888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" b="0">
                <a:solidFill>
                  <a:srgbClr val="2D343D"/>
                </a:solidFill>
                <a:latin typeface="NanumSquare"/>
              </a:rPr>
              <a:t>read/write/approve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183879" y="6153912"/>
            <a:ext cx="1389888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5" b="1">
                <a:solidFill>
                  <a:srgbClr val="1F4E79"/>
                </a:solidFill>
                <a:latin typeface="NanumSquare"/>
              </a:rPr>
              <a:t>decision_id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183879" y="6291072"/>
            <a:ext cx="1389888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" b="0">
                <a:solidFill>
                  <a:srgbClr val="2D343D"/>
                </a:solidFill>
                <a:latin typeface="NanumSquare"/>
              </a:rPr>
              <a:t>DEC-2026-0618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692640" y="6153912"/>
            <a:ext cx="1389888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5" b="1">
                <a:solidFill>
                  <a:srgbClr val="1F4E79"/>
                </a:solidFill>
                <a:latin typeface="NanumSquare"/>
              </a:rPr>
              <a:t>evidence_link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692640" y="6291072"/>
            <a:ext cx="1389888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" b="0">
                <a:solidFill>
                  <a:srgbClr val="2D343D"/>
                </a:solidFill>
                <a:latin typeface="NanumSquare"/>
              </a:rPr>
              <a:t>Req/Test/Audit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865376" y="6492240"/>
            <a:ext cx="1417320" cy="1463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865376" y="6517843"/>
            <a:ext cx="1417320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10" b="1">
                <a:solidFill>
                  <a:srgbClr val="1F4E79"/>
                </a:solidFill>
                <a:latin typeface="NanumSquare"/>
              </a:rPr>
              <a:t>Task-fit 화면 구성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3465576" y="6492240"/>
            <a:ext cx="1417320" cy="1463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99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3465576" y="6517843"/>
            <a:ext cx="1417320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10" b="1">
                <a:solidFill>
                  <a:srgbClr val="2990B2"/>
                </a:solidFill>
                <a:latin typeface="NanumSquare"/>
              </a:rPr>
              <a:t>Feature ID 공통 Key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5065776" y="6492240"/>
            <a:ext cx="1417320" cy="1463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8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065776" y="6517843"/>
            <a:ext cx="1417320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10" b="1">
                <a:solidFill>
                  <a:srgbClr val="2E8D46"/>
                </a:solidFill>
                <a:latin typeface="NanumSquare"/>
              </a:rPr>
              <a:t>Evidence-first UI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6665976" y="6492240"/>
            <a:ext cx="1417320" cy="1463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665976" y="6517843"/>
            <a:ext cx="1417320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10" b="1">
                <a:solidFill>
                  <a:srgbClr val="BF3636"/>
                </a:solidFill>
                <a:latin typeface="NanumSquare"/>
              </a:rPr>
              <a:t>No silent write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8266175" y="6492240"/>
            <a:ext cx="1417320" cy="1463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266175" y="6517843"/>
            <a:ext cx="1417320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10" b="1">
                <a:solidFill>
                  <a:srgbClr val="E87E22"/>
                </a:solidFill>
                <a:latin typeface="NanumSquare"/>
              </a:rPr>
              <a:t>Explainable decision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30352" y="6675120"/>
            <a:ext cx="11137392" cy="182880"/>
          </a:xfrm>
          <a:prstGeom prst="rect">
            <a:avLst/>
          </a:prstGeom>
          <a:solidFill>
            <a:srgbClr val="0B1F3A"/>
          </a:solidFill>
          <a:ln w="9525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40080" y="6719011"/>
            <a:ext cx="10927080" cy="5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15" b="1">
                <a:solidFill>
                  <a:srgbClr val="FFFFFF"/>
                </a:solidFill>
                <a:latin typeface="NanumSquare"/>
              </a:rPr>
              <a:t>핵심: Registry UI는 단순 조회 화면이 아니라, 기준정보 품질·Topology 관계·Decision Evidence를 생성하는 운영 Workbench이다.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01168" y="6720840"/>
            <a:ext cx="11795760" cy="5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5" b="0">
                <a:solidFill>
                  <a:srgbClr val="69717C"/>
                </a:solidFill>
                <a:latin typeface="NanumSquare"/>
              </a:rPr>
              <a:t>출처/근거/참조: ISO/IEC/IEEE 29148:2018 요구사항 속성·Traceability; OMG ReqIF 1.2 요구사항 교환; OMG SysML 2.0 Model Elements; ISO 9241-110:2020 Interaction Principles; Mutuus Lab Registry UI IA.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566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4E79"/>
                </a:solidFill>
                <a:latin typeface="NanumSquare"/>
              </a:rPr>
              <a:t>07-1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18872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NanumSquare"/>
              </a:rPr>
              <a:t>End-to-End Scenario — BDC Policy Control 상세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1018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10" b="0">
                <a:solidFill>
                  <a:srgbClr val="2D343D"/>
                </a:solidFill>
                <a:latin typeface="NanumSquare"/>
              </a:rPr>
              <a:t>FEAT-BDC-001 하나로 Feature Master → Topology Snapshot → Decision Package → Release Gate → Operations Evidence까지 데이터가 끊기지 않고 연결되는지 검증한다.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60120"/>
            <a:ext cx="1113739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70" b="1">
                <a:solidFill>
                  <a:srgbClr val="0B1F3A"/>
                </a:solidFill>
                <a:latin typeface="NanumSquare"/>
              </a:rPr>
              <a:t>1. Scenario Scope — 하나의 Feature로 기준정보·의사결정·운영 증적을 검증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161288"/>
            <a:ext cx="11137392" cy="16459"/>
          </a:xfrm>
          <a:prstGeom prst="rect">
            <a:avLst/>
          </a:prstGeom>
          <a:solidFill>
            <a:srgbClr val="168AA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0352" y="1234440"/>
            <a:ext cx="3474720" cy="1051560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7512" y="1344168"/>
            <a:ext cx="777240" cy="201168"/>
          </a:xfrm>
          <a:prstGeom prst="round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394460"/>
            <a:ext cx="72237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" b="1">
                <a:solidFill>
                  <a:srgbClr val="FFFFFF"/>
                </a:solidFill>
                <a:latin typeface="NanumSquare"/>
              </a:rPr>
              <a:t>Feature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645920"/>
            <a:ext cx="32004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0B1F3A"/>
                </a:solidFill>
                <a:latin typeface="NanumSquare"/>
              </a:rPr>
              <a:t>FEAT-BDC-001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1920240"/>
            <a:ext cx="3072384" cy="320039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480" b="0">
                <a:solidFill>
                  <a:srgbClr val="2D343D"/>
                </a:solidFill>
                <a:latin typeface="NanumSquare"/>
              </a:rPr>
              <a:t>BDC Policy Control
L2 Vehicle/System · Runtime Control Feature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1234440"/>
            <a:ext cx="3474720" cy="1051560"/>
          </a:xfrm>
          <a:prstGeom prst="roundRect">
            <a:avLst/>
          </a:prstGeom>
          <a:solidFill>
            <a:srgbClr val="FFF8E2"/>
          </a:solidFill>
          <a:ln w="12700">
            <a:solidFill>
              <a:srgbClr val="E8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98848" y="1344168"/>
            <a:ext cx="777240" cy="201168"/>
          </a:xfrm>
          <a:prstGeom prst="roundRect">
            <a:avLst/>
          </a:prstGeom>
          <a:solidFill>
            <a:srgbClr val="E87E22"/>
          </a:solidFill>
          <a:ln w="9525">
            <a:solidFill>
              <a:srgbClr val="E8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394460"/>
            <a:ext cx="72237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" b="1">
                <a:solidFill>
                  <a:srgbClr val="FFFFFF"/>
                </a:solidFill>
                <a:latin typeface="NanumSquare"/>
              </a:rPr>
              <a:t>Trigger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1645920"/>
            <a:ext cx="32004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0B1F3A"/>
                </a:solidFill>
                <a:latin typeface="NanumSquare"/>
              </a:rPr>
              <a:t>Targeting Rule 변경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5" y="1920240"/>
            <a:ext cx="3072384" cy="320039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480" b="0">
                <a:solidFill>
                  <a:srgbClr val="2D343D"/>
                </a:solidFill>
                <a:latin typeface="NanumSquare"/>
              </a:rPr>
              <a:t>SWC/API 변경 없이 정책 조건만 변경
Policy-only 가능성 판단 필요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93024" y="1234440"/>
            <a:ext cx="3474720" cy="1051560"/>
          </a:xfrm>
          <a:prstGeom prst="roundRect">
            <a:avLst/>
          </a:prstGeom>
          <a:solidFill>
            <a:srgbClr val="F2EFFA"/>
          </a:solidFill>
          <a:ln w="12700">
            <a:solidFill>
              <a:srgbClr val="7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30184" y="1344168"/>
            <a:ext cx="777240" cy="201168"/>
          </a:xfrm>
          <a:prstGeom prst="roundRect">
            <a:avLst/>
          </a:prstGeom>
          <a:solidFill>
            <a:srgbClr val="704C99"/>
          </a:solidFill>
          <a:ln w="9525">
            <a:solidFill>
              <a:srgbClr val="7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7616" y="1394460"/>
            <a:ext cx="72237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" b="1">
                <a:solidFill>
                  <a:srgbClr val="FFFFFF"/>
                </a:solidFill>
                <a:latin typeface="NanumSquare"/>
              </a:rPr>
              <a:t>Expected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0184" y="1645920"/>
            <a:ext cx="32004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0B1F3A"/>
                </a:solidFill>
                <a:latin typeface="NanumSquare"/>
              </a:rPr>
              <a:t>Decision Package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1920240"/>
            <a:ext cx="3072384" cy="320039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480" b="0">
                <a:solidFill>
                  <a:srgbClr val="2D343D"/>
                </a:solidFill>
                <a:latin typeface="NanumSquare"/>
              </a:rPr>
              <a:t>Impact Report · Deploy Decision · Required Gates
Operations Evidence로 환류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2532888"/>
            <a:ext cx="1113739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70" b="1">
                <a:solidFill>
                  <a:srgbClr val="0B1F3A"/>
                </a:solidFill>
                <a:latin typeface="NanumSquare"/>
              </a:rPr>
              <a:t>2. E2E Trace Chain — Feature ID를 공통 Key로 전체 산출물을 연결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" y="2734056"/>
            <a:ext cx="11137392" cy="16459"/>
          </a:xfrm>
          <a:prstGeom prst="rect">
            <a:avLst/>
          </a:prstGeom>
          <a:solidFill>
            <a:srgbClr val="168AA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85216" y="2852928"/>
            <a:ext cx="2011680" cy="804672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94944" y="2962656"/>
            <a:ext cx="256032" cy="164592"/>
          </a:xfrm>
          <a:prstGeom prst="round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" y="2994660"/>
            <a:ext cx="201168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9" b="1">
                <a:solidFill>
                  <a:srgbClr val="FFFFFF"/>
                </a:solidFill>
                <a:latin typeface="NanumSquare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" y="2962656"/>
            <a:ext cx="146304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" b="1">
                <a:solidFill>
                  <a:srgbClr val="0B1F3A"/>
                </a:solidFill>
                <a:latin typeface="NanumSquare"/>
              </a:rPr>
              <a:t>Feature Master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3273552"/>
            <a:ext cx="16824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" b="0">
                <a:solidFill>
                  <a:srgbClr val="2D343D"/>
                </a:solidFill>
                <a:latin typeface="NanumSquare"/>
              </a:rPr>
              <a:t>ID · Owner · Lifecycle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596896" y="3255264"/>
            <a:ext cx="246888" cy="0"/>
          </a:xfrm>
          <a:prstGeom prst="line">
            <a:avLst/>
          </a:prstGeom>
          <a:ln w="12700">
            <a:solidFill>
              <a:srgbClr val="8F9C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ight Triangle 31"/>
          <p:cNvSpPr/>
          <p:nvPr/>
        </p:nvSpPr>
        <p:spPr>
          <a:xfrm>
            <a:off x="2752344" y="3200400"/>
            <a:ext cx="118872" cy="118872"/>
          </a:xfrm>
          <a:prstGeom prst="rtTriangle">
            <a:avLst/>
          </a:prstGeom>
          <a:solidFill>
            <a:srgbClr val="8F9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843784" y="2852928"/>
            <a:ext cx="2011680" cy="804672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299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953512" y="2962656"/>
            <a:ext cx="256032" cy="164592"/>
          </a:xfrm>
          <a:prstGeom prst="roundRect">
            <a:avLst/>
          </a:prstGeom>
          <a:solidFill>
            <a:srgbClr val="2990B2"/>
          </a:solidFill>
          <a:ln w="9525">
            <a:solidFill>
              <a:srgbClr val="299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80944" y="2994660"/>
            <a:ext cx="201168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9" b="1">
                <a:solidFill>
                  <a:srgbClr val="FFFFFF"/>
                </a:solidFill>
                <a:latin typeface="NanumSquare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00984" y="2962656"/>
            <a:ext cx="146304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" b="1">
                <a:solidFill>
                  <a:srgbClr val="0B1F3A"/>
                </a:solidFill>
                <a:latin typeface="NanumSquare"/>
              </a:rPr>
              <a:t>BOM Baseline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08376" y="3273552"/>
            <a:ext cx="16824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" b="0">
                <a:solidFill>
                  <a:srgbClr val="2D343D"/>
                </a:solidFill>
                <a:latin typeface="NanumSquare"/>
              </a:rPr>
              <a:t>Req · SWC · API · Test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855464" y="3255264"/>
            <a:ext cx="246888" cy="0"/>
          </a:xfrm>
          <a:prstGeom prst="line">
            <a:avLst/>
          </a:prstGeom>
          <a:ln w="12700">
            <a:solidFill>
              <a:srgbClr val="8F9C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ight Triangle 38"/>
          <p:cNvSpPr/>
          <p:nvPr/>
        </p:nvSpPr>
        <p:spPr>
          <a:xfrm>
            <a:off x="5010912" y="3200400"/>
            <a:ext cx="118872" cy="118872"/>
          </a:xfrm>
          <a:prstGeom prst="rtTriangle">
            <a:avLst/>
          </a:prstGeom>
          <a:solidFill>
            <a:srgbClr val="8F9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102352" y="2852928"/>
            <a:ext cx="2011680" cy="804672"/>
          </a:xfrm>
          <a:prstGeom prst="roundRect">
            <a:avLst/>
          </a:prstGeom>
          <a:solidFill>
            <a:srgbClr val="EBF7F1"/>
          </a:solidFill>
          <a:ln w="12700">
            <a:solidFill>
              <a:srgbClr val="2E8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212080" y="2962656"/>
            <a:ext cx="256032" cy="164592"/>
          </a:xfrm>
          <a:prstGeom prst="roundRect">
            <a:avLst/>
          </a:prstGeom>
          <a:solidFill>
            <a:srgbClr val="2E8D46"/>
          </a:solidFill>
          <a:ln w="9525">
            <a:solidFill>
              <a:srgbClr val="2E8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39512" y="2994660"/>
            <a:ext cx="201168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9" b="1">
                <a:solidFill>
                  <a:srgbClr val="FFFFFF"/>
                </a:solidFill>
                <a:latin typeface="NanumSquare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59552" y="2962656"/>
            <a:ext cx="146304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" b="1">
                <a:solidFill>
                  <a:srgbClr val="0B1F3A"/>
                </a:solidFill>
                <a:latin typeface="NanumSquare"/>
              </a:rPr>
              <a:t>Topology Snapshot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66944" y="3273552"/>
            <a:ext cx="16824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" b="0">
                <a:solidFill>
                  <a:srgbClr val="2D343D"/>
                </a:solidFill>
                <a:latin typeface="NanumSquare"/>
              </a:rPr>
              <a:t>Node · Edge · Variant · Control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114032" y="3255264"/>
            <a:ext cx="246888" cy="0"/>
          </a:xfrm>
          <a:prstGeom prst="line">
            <a:avLst/>
          </a:prstGeom>
          <a:ln w="12700">
            <a:solidFill>
              <a:srgbClr val="8F9C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ight Triangle 45"/>
          <p:cNvSpPr/>
          <p:nvPr/>
        </p:nvSpPr>
        <p:spPr>
          <a:xfrm>
            <a:off x="7269480" y="3200400"/>
            <a:ext cx="118872" cy="118872"/>
          </a:xfrm>
          <a:prstGeom prst="rtTriangle">
            <a:avLst/>
          </a:prstGeom>
          <a:solidFill>
            <a:srgbClr val="8F9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360920" y="2852928"/>
            <a:ext cx="2011680" cy="804672"/>
          </a:xfrm>
          <a:prstGeom prst="roundRect">
            <a:avLst/>
          </a:prstGeom>
          <a:solidFill>
            <a:srgbClr val="FDF3E7"/>
          </a:solidFill>
          <a:ln w="12700">
            <a:solidFill>
              <a:srgbClr val="E8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470648" y="2962656"/>
            <a:ext cx="256032" cy="164592"/>
          </a:xfrm>
          <a:prstGeom prst="roundRect">
            <a:avLst/>
          </a:prstGeom>
          <a:solidFill>
            <a:srgbClr val="E87E22"/>
          </a:solidFill>
          <a:ln w="9525">
            <a:solidFill>
              <a:srgbClr val="E8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79" y="2994660"/>
            <a:ext cx="201168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9" b="1">
                <a:solidFill>
                  <a:srgbClr val="FFFFFF"/>
                </a:solidFill>
                <a:latin typeface="NanumSquare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18120" y="2962656"/>
            <a:ext cx="146304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" b="1">
                <a:solidFill>
                  <a:srgbClr val="0B1F3A"/>
                </a:solidFill>
                <a:latin typeface="NanumSquare"/>
              </a:rPr>
              <a:t>Decision Package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25512" y="3273552"/>
            <a:ext cx="16824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" b="0">
                <a:solidFill>
                  <a:srgbClr val="2D343D"/>
                </a:solidFill>
                <a:latin typeface="NanumSquare"/>
              </a:rPr>
              <a:t>Impact · Deploy · Gate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372600" y="3255264"/>
            <a:ext cx="246888" cy="0"/>
          </a:xfrm>
          <a:prstGeom prst="line">
            <a:avLst/>
          </a:prstGeom>
          <a:ln w="12700">
            <a:solidFill>
              <a:srgbClr val="8F9C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ight Triangle 52"/>
          <p:cNvSpPr/>
          <p:nvPr/>
        </p:nvSpPr>
        <p:spPr>
          <a:xfrm>
            <a:off x="9528048" y="3200400"/>
            <a:ext cx="118872" cy="118872"/>
          </a:xfrm>
          <a:prstGeom prst="rtTriangle">
            <a:avLst/>
          </a:prstGeom>
          <a:solidFill>
            <a:srgbClr val="8F9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619488" y="2852928"/>
            <a:ext cx="2011680" cy="804672"/>
          </a:xfrm>
          <a:prstGeom prst="roundRect">
            <a:avLst/>
          </a:prstGeom>
          <a:solidFill>
            <a:srgbClr val="FCEEEE"/>
          </a:solidFill>
          <a:ln w="12700">
            <a:solidFill>
              <a:srgbClr val="BF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729216" y="2962656"/>
            <a:ext cx="256032" cy="164592"/>
          </a:xfrm>
          <a:prstGeom prst="roundRect">
            <a:avLst/>
          </a:prstGeom>
          <a:solidFill>
            <a:srgbClr val="BF3636"/>
          </a:solidFill>
          <a:ln w="9525">
            <a:solidFill>
              <a:srgbClr val="BF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56648" y="2994660"/>
            <a:ext cx="201168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9" b="1">
                <a:solidFill>
                  <a:srgbClr val="FFFFFF"/>
                </a:solidFill>
                <a:latin typeface="NanumSquare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76688" y="2962656"/>
            <a:ext cx="146304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" b="1">
                <a:solidFill>
                  <a:srgbClr val="0B1F3A"/>
                </a:solidFill>
                <a:latin typeface="NanumSquare"/>
              </a:rPr>
              <a:t>Operations Evidence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84080" y="3273552"/>
            <a:ext cx="16824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" b="0">
                <a:solidFill>
                  <a:srgbClr val="2D343D"/>
                </a:solidFill>
                <a:latin typeface="NanumSquare"/>
              </a:rPr>
              <a:t>Telemetry · Audit · Rollback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0352" y="3886200"/>
            <a:ext cx="539496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70" b="1">
                <a:solidFill>
                  <a:srgbClr val="0B1F3A"/>
                </a:solidFill>
                <a:latin typeface="NanumSquare"/>
              </a:rPr>
              <a:t>3. Scenario Data Contract — 판단 입력 객체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0352" y="4087368"/>
            <a:ext cx="5394960" cy="16459"/>
          </a:xfrm>
          <a:prstGeom prst="rect">
            <a:avLst/>
          </a:prstGeom>
          <a:solidFill>
            <a:srgbClr val="168AA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30352" y="4160520"/>
            <a:ext cx="5394960" cy="1444752"/>
          </a:xfrm>
          <a:prstGeom prst="roundRect">
            <a:avLst/>
          </a:prstGeom>
          <a:solidFill>
            <a:srgbClr val="FAFCFE"/>
          </a:solidFill>
          <a:ln w="9525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49808" y="4325112"/>
            <a:ext cx="4956048" cy="2286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2103" y="4393692"/>
            <a:ext cx="1685056" cy="5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" b="1">
                <a:solidFill>
                  <a:srgbClr val="1F4E79"/>
                </a:solidFill>
                <a:latin typeface="NanumSquare"/>
              </a:rPr>
              <a:t>feature_id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633106" y="4393692"/>
            <a:ext cx="2874507" cy="5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95" b="0">
                <a:solidFill>
                  <a:srgbClr val="2D343D"/>
                </a:solidFill>
                <a:latin typeface="NanumSquare"/>
              </a:rPr>
              <a:t>FEAT-BDC-001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49808" y="4572000"/>
            <a:ext cx="4956048" cy="2286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8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2103" y="4640580"/>
            <a:ext cx="1685056" cy="5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" b="1">
                <a:solidFill>
                  <a:srgbClr val="E87E22"/>
                </a:solidFill>
                <a:latin typeface="NanumSquare"/>
              </a:rPr>
              <a:t>change_type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33106" y="4640580"/>
            <a:ext cx="2874507" cy="5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95" b="0">
                <a:solidFill>
                  <a:srgbClr val="2D343D"/>
                </a:solidFill>
                <a:latin typeface="NanumSquare"/>
              </a:rPr>
              <a:t>Targeting Rule Update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49808" y="4818888"/>
            <a:ext cx="4956048" cy="2286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299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2103" y="4887468"/>
            <a:ext cx="1685056" cy="5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" b="1">
                <a:solidFill>
                  <a:srgbClr val="2990B2"/>
                </a:solidFill>
                <a:latin typeface="NanumSquare"/>
              </a:rPr>
              <a:t>baseline_id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633106" y="4887468"/>
            <a:ext cx="2874507" cy="5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95" b="0">
                <a:solidFill>
                  <a:srgbClr val="2D343D"/>
                </a:solidFill>
                <a:latin typeface="NanumSquare"/>
              </a:rPr>
              <a:t>BOM-v1.1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49808" y="5065775"/>
            <a:ext cx="4956048" cy="2286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2E8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32103" y="5134355"/>
            <a:ext cx="1685056" cy="5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" b="1">
                <a:solidFill>
                  <a:srgbClr val="2E8D46"/>
                </a:solidFill>
                <a:latin typeface="NanumSquare"/>
              </a:rPr>
              <a:t>graph_snapshot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633106" y="5134355"/>
            <a:ext cx="2874507" cy="5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95" b="0">
                <a:solidFill>
                  <a:srgbClr val="2D343D"/>
                </a:solidFill>
                <a:latin typeface="NanumSquare"/>
              </a:rPr>
              <a:t>GPH-BDC-v1.4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49808" y="5312663"/>
            <a:ext cx="4956048" cy="2286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7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32103" y="5381243"/>
            <a:ext cx="1685056" cy="5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" b="1">
                <a:solidFill>
                  <a:srgbClr val="704C99"/>
                </a:solidFill>
                <a:latin typeface="NanumSquare"/>
              </a:rPr>
              <a:t>decision_id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633106" y="5381243"/>
            <a:ext cx="2874507" cy="5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95" b="0">
                <a:solidFill>
                  <a:srgbClr val="2D343D"/>
                </a:solidFill>
                <a:latin typeface="NanumSquare"/>
              </a:rPr>
              <a:t>DEC-BDC-0618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36208" y="3886200"/>
            <a:ext cx="544068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70" b="1">
                <a:solidFill>
                  <a:srgbClr val="0B1F3A"/>
                </a:solidFill>
                <a:latin typeface="NanumSquare"/>
              </a:rPr>
              <a:t>4. Decision Output Package — 검토/승인 산출물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236208" y="4087368"/>
            <a:ext cx="5440680" cy="16459"/>
          </a:xfrm>
          <a:prstGeom prst="rect">
            <a:avLst/>
          </a:prstGeom>
          <a:solidFill>
            <a:srgbClr val="168AA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6236208" y="4160520"/>
            <a:ext cx="5440680" cy="14447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6419088" y="4352544"/>
            <a:ext cx="2331720" cy="411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501383" y="4434840"/>
            <a:ext cx="822960" cy="64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5" b="1">
                <a:solidFill>
                  <a:srgbClr val="1F4E79"/>
                </a:solidFill>
                <a:latin typeface="NanumSquare"/>
              </a:rPr>
              <a:t>Impact Report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15200" y="4434840"/>
            <a:ext cx="1280160" cy="64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35" b="0">
                <a:solidFill>
                  <a:srgbClr val="2D343D"/>
                </a:solidFill>
                <a:latin typeface="NanumSquare"/>
              </a:rPr>
              <a:t>2 Features · 1 SWC · 1 Supplier · 3 Tests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107424" y="4352544"/>
            <a:ext cx="2331720" cy="411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189720" y="4434840"/>
            <a:ext cx="822960" cy="64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5" b="1">
                <a:solidFill>
                  <a:srgbClr val="E87E22"/>
                </a:solidFill>
                <a:latin typeface="NanumSquare"/>
              </a:rPr>
              <a:t>Deploy Decision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003536" y="4434840"/>
            <a:ext cx="1280160" cy="64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35" b="0">
                <a:solidFill>
                  <a:srgbClr val="2D343D"/>
                </a:solidFill>
                <a:latin typeface="NanumSquare"/>
              </a:rPr>
              <a:t>Policy-only Deploy · Confidence High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419088" y="4937760"/>
            <a:ext cx="2331720" cy="411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501383" y="5020056"/>
            <a:ext cx="822960" cy="64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5" b="1">
                <a:solidFill>
                  <a:srgbClr val="704C99"/>
                </a:solidFill>
                <a:latin typeface="NanumSquare"/>
              </a:rPr>
              <a:t>Required Gates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315200" y="5020056"/>
            <a:ext cx="1280160" cy="64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35" b="0">
                <a:solidFill>
                  <a:srgbClr val="2D343D"/>
                </a:solidFill>
                <a:latin typeface="NanumSquare"/>
              </a:rPr>
              <a:t>Policy · Variant · Rollback · Telemetry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107424" y="4937760"/>
            <a:ext cx="2331720" cy="411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E8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189720" y="5020056"/>
            <a:ext cx="822960" cy="64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5" b="1">
                <a:solidFill>
                  <a:srgbClr val="2E8D46"/>
                </a:solidFill>
                <a:latin typeface="NanumSquare"/>
              </a:rPr>
              <a:t>Ops Evidence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003536" y="5020056"/>
            <a:ext cx="1280160" cy="64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35" b="0">
                <a:solidFill>
                  <a:srgbClr val="2D343D"/>
                </a:solidFill>
                <a:latin typeface="NanumSquare"/>
              </a:rPr>
              <a:t>Activation · Failure · Rollback · Audit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0352" y="5797296"/>
            <a:ext cx="1113739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70" b="1">
                <a:solidFill>
                  <a:srgbClr val="0B1F3A"/>
                </a:solidFill>
                <a:latin typeface="NanumSquare"/>
              </a:rPr>
              <a:t>5. Acceptance Criteria — Slide 21 상세 흐름의 검증 기준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30352" y="5998464"/>
            <a:ext cx="11137392" cy="16459"/>
          </a:xfrm>
          <a:prstGeom prst="rect">
            <a:avLst/>
          </a:prstGeom>
          <a:solidFill>
            <a:srgbClr val="168AAD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530352" y="6053328"/>
            <a:ext cx="11137392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704088" y="6153912"/>
            <a:ext cx="457200" cy="146304"/>
          </a:xfrm>
          <a:prstGeom prst="roundRect">
            <a:avLst/>
          </a:prstGeom>
          <a:solidFill>
            <a:srgbClr val="168AAD"/>
          </a:solidFill>
          <a:ln w="9525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176772"/>
            <a:ext cx="40233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30" b="1">
                <a:solidFill>
                  <a:srgbClr val="FFFFFF"/>
                </a:solidFill>
                <a:latin typeface="NanumSquare"/>
              </a:rPr>
              <a:t>AC-1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234440" y="6167628"/>
            <a:ext cx="1965960" cy="5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" b="0">
                <a:solidFill>
                  <a:srgbClr val="2D343D"/>
                </a:solidFill>
                <a:latin typeface="NanumSquare"/>
              </a:rPr>
              <a:t>Feature ID로 모든 Artifact 조회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447288" y="6153912"/>
            <a:ext cx="457200" cy="146304"/>
          </a:xfrm>
          <a:prstGeom prst="roundRect">
            <a:avLst/>
          </a:prstGeom>
          <a:solidFill>
            <a:srgbClr val="168AAD"/>
          </a:solidFill>
          <a:ln w="9525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474720" y="6176772"/>
            <a:ext cx="40233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30" b="1">
                <a:solidFill>
                  <a:srgbClr val="FFFFFF"/>
                </a:solidFill>
                <a:latin typeface="NanumSquare"/>
              </a:rPr>
              <a:t>AC-2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977639" y="6167628"/>
            <a:ext cx="1965960" cy="5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" b="0">
                <a:solidFill>
                  <a:srgbClr val="2D343D"/>
                </a:solidFill>
                <a:latin typeface="NanumSquare"/>
              </a:rPr>
              <a:t>SWC/API 변경 없음 → Policy-only 판단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190488" y="6153912"/>
            <a:ext cx="457200" cy="146304"/>
          </a:xfrm>
          <a:prstGeom prst="roundRect">
            <a:avLst/>
          </a:prstGeom>
          <a:solidFill>
            <a:srgbClr val="168AAD"/>
          </a:solidFill>
          <a:ln w="9525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217920" y="6176772"/>
            <a:ext cx="40233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30" b="1">
                <a:solidFill>
                  <a:srgbClr val="FFFFFF"/>
                </a:solidFill>
                <a:latin typeface="NanumSquare"/>
              </a:rPr>
              <a:t>AC-3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720840" y="6167628"/>
            <a:ext cx="1965960" cy="5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" b="0">
                <a:solidFill>
                  <a:srgbClr val="2D343D"/>
                </a:solidFill>
                <a:latin typeface="NanumSquare"/>
              </a:rPr>
              <a:t>필수 Gate와 Missing Evidence 자동 산출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933688" y="6153912"/>
            <a:ext cx="457200" cy="146304"/>
          </a:xfrm>
          <a:prstGeom prst="roundRect">
            <a:avLst/>
          </a:prstGeom>
          <a:solidFill>
            <a:srgbClr val="168AAD"/>
          </a:solidFill>
          <a:ln w="9525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961119" y="6176772"/>
            <a:ext cx="402336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30" b="1">
                <a:solidFill>
                  <a:srgbClr val="FFFFFF"/>
                </a:solidFill>
                <a:latin typeface="NanumSquare"/>
              </a:rPr>
              <a:t>AC-4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464040" y="6167628"/>
            <a:ext cx="1965960" cy="5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" b="0">
                <a:solidFill>
                  <a:srgbClr val="2D343D"/>
                </a:solidFill>
                <a:latin typeface="NanumSquare"/>
              </a:rPr>
              <a:t>Telemetry/Audit가 Topology로 환류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30352" y="6473952"/>
            <a:ext cx="11137392" cy="182880"/>
          </a:xfrm>
          <a:prstGeom prst="rect">
            <a:avLst/>
          </a:prstGeom>
          <a:solidFill>
            <a:srgbClr val="0B1F3A"/>
          </a:solidFill>
          <a:ln w="9525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40080" y="6516014"/>
            <a:ext cx="10927080" cy="5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" b="1">
                <a:solidFill>
                  <a:srgbClr val="FFFFFF"/>
                </a:solidFill>
                <a:latin typeface="NanumSquare"/>
              </a:rPr>
              <a:t>핵심: E2E Scenario의 목적은 기능 하나가 기준정보·Topology·Decision·Gate·Operations까지 동일한 Feature ID로 추적되는지 검증하는 것이다.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01168" y="6720840"/>
            <a:ext cx="11795760" cy="64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5" b="0">
                <a:solidFill>
                  <a:srgbClr val="69717C"/>
                </a:solidFill>
                <a:latin typeface="NanumSquare"/>
              </a:rPr>
              <a:t>출처/근거/참조: Mutuus Lab BDC 시나리오; ISO/IEC/IEEE 29148:2018 요구사항·Traceability; OMG SysML 2.0 관계 모델; OpenFeature Specification; ISO 24089:2023 Software Update Engineering.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100" b="1">
                <a:solidFill>
                  <a:srgbClr val="FFFFFF"/>
                </a:solidFill>
                <a:latin typeface="Malgun Gothic"/>
              </a:rPr>
              <a:t>End-to-End Scenario — BDC Policy Control Decision Flow</a:t>
            </a:r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36576" cy="29260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768096"/>
            <a:ext cx="107442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70" b="0">
                <a:solidFill>
                  <a:srgbClr val="002060"/>
                </a:solidFill>
                <a:latin typeface="Malgun Gothic"/>
              </a:rPr>
              <a:t>변경 요청이 발생하면 Topology 조회 → 영향도 분석 → 검증범위 도출 → 배포방식 판단 → Gate 통과 → 모니터링으로 이어진다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207008"/>
            <a:ext cx="10698480" cy="393192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C9D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69" b="1">
                <a:solidFill>
                  <a:srgbClr val="002060"/>
                </a:solidFill>
                <a:latin typeface="Malgun Gothic"/>
              </a:rPr>
              <a:t>Scenario: FEAT-BDC-001의 Targeting Rule 변경 요청 — SWC/API 변경 없이 Policy 조건만 변경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865376"/>
            <a:ext cx="1225296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3503" y="1975104"/>
            <a:ext cx="274320" cy="27432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1938528"/>
            <a:ext cx="694944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10" b="1">
                <a:solidFill>
                  <a:srgbClr val="002060"/>
                </a:solidFill>
                <a:latin typeface="Malgun Gothic"/>
              </a:rPr>
              <a:t>변경 요청
접수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2505456"/>
            <a:ext cx="987552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570" b="0">
                <a:solidFill>
                  <a:srgbClr val="333333"/>
                </a:solidFill>
                <a:latin typeface="Malgun Gothic"/>
              </a:rPr>
              <a:t>Targeting Rule 변경
Policy 조건만 변경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783080" y="2487168"/>
            <a:ext cx="91439" cy="0"/>
          </a:xfrm>
          <a:prstGeom prst="line">
            <a:avLst/>
          </a:prstGeom>
          <a:ln w="13970">
            <a:solidFill>
              <a:srgbClr val="9AA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911095" y="1865376"/>
            <a:ext cx="1225296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984248" y="1975104"/>
            <a:ext cx="274320" cy="27432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13432" y="1938528"/>
            <a:ext cx="694944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10" b="1">
                <a:solidFill>
                  <a:srgbClr val="002060"/>
                </a:solidFill>
                <a:latin typeface="Malgun Gothic"/>
              </a:rPr>
              <a:t>Topology
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9967" y="2505456"/>
            <a:ext cx="987552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570" b="0">
                <a:solidFill>
                  <a:srgbClr val="333333"/>
                </a:solidFill>
                <a:latin typeface="Malgun Gothic"/>
              </a:rPr>
              <a:t>BOM · 관계 · Variant
Control Point 탐색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63823" y="2487168"/>
            <a:ext cx="91441" cy="0"/>
          </a:xfrm>
          <a:prstGeom prst="line">
            <a:avLst/>
          </a:prstGeom>
          <a:ln w="13970">
            <a:solidFill>
              <a:srgbClr val="9AA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91840" y="1865376"/>
            <a:ext cx="1225296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64992" y="1975104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1938528"/>
            <a:ext cx="694944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10" b="1">
                <a:solidFill>
                  <a:srgbClr val="002060"/>
                </a:solidFill>
                <a:latin typeface="Malgun Gothic"/>
              </a:rPr>
              <a:t>영향도
분석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0712" y="2505456"/>
            <a:ext cx="987552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570" b="0">
                <a:solidFill>
                  <a:srgbClr val="333333"/>
                </a:solidFill>
                <a:latin typeface="Malgun Gothic"/>
              </a:rPr>
              <a:t>2 Features · 1 SWC
1 Supplier · 3 Tests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44568" y="2487168"/>
            <a:ext cx="91440" cy="0"/>
          </a:xfrm>
          <a:prstGeom prst="line">
            <a:avLst/>
          </a:prstGeom>
          <a:ln w="13970">
            <a:solidFill>
              <a:srgbClr val="9AA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672584" y="1865376"/>
            <a:ext cx="1225296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745736" y="1975104"/>
            <a:ext cx="274320" cy="274320"/>
          </a:xfrm>
          <a:prstGeom prst="ellipse">
            <a:avLst/>
          </a:prstGeom>
          <a:solidFill>
            <a:srgbClr val="E87B2C"/>
          </a:solidFill>
          <a:ln w="12700">
            <a:solidFill>
              <a:srgbClr val="E87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1938528"/>
            <a:ext cx="694944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10" b="1">
                <a:solidFill>
                  <a:srgbClr val="002060"/>
                </a:solidFill>
                <a:latin typeface="Malgun Gothic"/>
              </a:rPr>
              <a:t>검증범위
도출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91456" y="2505456"/>
            <a:ext cx="987552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570" b="0">
                <a:solidFill>
                  <a:srgbClr val="333333"/>
                </a:solidFill>
                <a:latin typeface="Malgun Gothic"/>
              </a:rPr>
              <a:t>HIL-BDC-001
OTA-RB-002 · TEL-BDC-001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925312" y="2487168"/>
            <a:ext cx="91440" cy="0"/>
          </a:xfrm>
          <a:prstGeom prst="line">
            <a:avLst/>
          </a:prstGeom>
          <a:ln w="13970">
            <a:solidFill>
              <a:srgbClr val="9AA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053328" y="1865376"/>
            <a:ext cx="1225296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126480" y="1975104"/>
            <a:ext cx="274320" cy="274320"/>
          </a:xfrm>
          <a:prstGeom prst="ellipse">
            <a:avLst/>
          </a:prstGeom>
          <a:solidFill>
            <a:srgbClr val="6A4C93"/>
          </a:solidFill>
          <a:ln w="127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1938528"/>
            <a:ext cx="694944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10" b="1">
                <a:solidFill>
                  <a:srgbClr val="002060"/>
                </a:solidFill>
                <a:latin typeface="Malgun Gothic"/>
              </a:rPr>
              <a:t>배포방식
판단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2505456"/>
            <a:ext cx="987552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570" b="0">
                <a:solidFill>
                  <a:srgbClr val="333333"/>
                </a:solidFill>
                <a:latin typeface="Malgun Gothic"/>
              </a:rPr>
              <a:t>SWC/API 변경 없음
Policy-only 확정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306056" y="2487168"/>
            <a:ext cx="91440" cy="0"/>
          </a:xfrm>
          <a:prstGeom prst="line">
            <a:avLst/>
          </a:prstGeom>
          <a:ln w="13970">
            <a:solidFill>
              <a:srgbClr val="9AA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434071" y="1865376"/>
            <a:ext cx="1225296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507223" y="1975104"/>
            <a:ext cx="274320" cy="27432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36407" y="1938528"/>
            <a:ext cx="694944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10" b="1">
                <a:solidFill>
                  <a:srgbClr val="002060"/>
                </a:solidFill>
                <a:latin typeface="Malgun Gothic"/>
              </a:rPr>
              <a:t>협력사
책임 확인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52944" y="2505456"/>
            <a:ext cx="987552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570" b="0">
                <a:solidFill>
                  <a:srgbClr val="333333"/>
                </a:solidFill>
                <a:latin typeface="Malgun Gothic"/>
              </a:rPr>
              <a:t>SUP-BDC-A 범위
API Contract 변경 없음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686799" y="2487168"/>
            <a:ext cx="91441" cy="0"/>
          </a:xfrm>
          <a:prstGeom prst="line">
            <a:avLst/>
          </a:prstGeom>
          <a:ln w="13970">
            <a:solidFill>
              <a:srgbClr val="9AA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814816" y="1865376"/>
            <a:ext cx="1225296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887968" y="1975104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17152" y="1938528"/>
            <a:ext cx="694944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10" b="1">
                <a:solidFill>
                  <a:srgbClr val="002060"/>
                </a:solidFill>
                <a:latin typeface="Malgun Gothic"/>
              </a:rPr>
              <a:t>Gate
통과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33688" y="2505456"/>
            <a:ext cx="987552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570" b="0">
                <a:solidFill>
                  <a:srgbClr val="333333"/>
                </a:solidFill>
                <a:latin typeface="Malgun Gothic"/>
              </a:rPr>
              <a:t>Policy · Variant
Rollback · Telemetry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067544" y="2487168"/>
            <a:ext cx="91440" cy="0"/>
          </a:xfrm>
          <a:prstGeom prst="line">
            <a:avLst/>
          </a:prstGeom>
          <a:ln w="13970">
            <a:solidFill>
              <a:srgbClr val="9AA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0195560" y="1865376"/>
            <a:ext cx="1225296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268712" y="1975104"/>
            <a:ext cx="274320" cy="274320"/>
          </a:xfrm>
          <a:prstGeom prst="ellipse">
            <a:avLst/>
          </a:prstGeom>
          <a:solidFill>
            <a:srgbClr val="B72B2B"/>
          </a:solidFill>
          <a:ln w="12700">
            <a:solidFill>
              <a:srgbClr val="B7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97896" y="1938528"/>
            <a:ext cx="694944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10" b="1">
                <a:solidFill>
                  <a:srgbClr val="002060"/>
                </a:solidFill>
                <a:latin typeface="Malgun Gothic"/>
              </a:rPr>
              <a:t>배포 ·
모니터링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14432" y="2505456"/>
            <a:ext cx="987552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570" b="0">
                <a:solidFill>
                  <a:srgbClr val="333333"/>
                </a:solidFill>
                <a:latin typeface="Malgun Gothic"/>
              </a:rPr>
              <a:t>Policy Package 배포
98.7% 활성화 성공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3429000"/>
            <a:ext cx="50749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94360" y="3429000"/>
            <a:ext cx="5074920" cy="310896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860" b="1">
                <a:solidFill>
                  <a:srgbClr val="FFFFFF"/>
                </a:solidFill>
                <a:latin typeface="Malgun Gothic"/>
              </a:rPr>
              <a:t>Decision Result Summary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6384" y="3895344"/>
            <a:ext cx="109728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640" b="1">
                <a:solidFill>
                  <a:srgbClr val="333333"/>
                </a:solidFill>
                <a:latin typeface="Malgun Gothic"/>
              </a:rPr>
              <a:t>변경 유형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83664" y="3895344"/>
            <a:ext cx="356616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640" b="0">
                <a:solidFill>
                  <a:srgbClr val="333333"/>
                </a:solidFill>
                <a:latin typeface="Malgun Gothic"/>
              </a:rPr>
              <a:t>Targeting Rule 변경 — Policy 조건만 변경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6384" y="4178807"/>
            <a:ext cx="10972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640" b="1">
                <a:solidFill>
                  <a:srgbClr val="333333"/>
                </a:solidFill>
                <a:latin typeface="Malgun Gothic"/>
              </a:rPr>
              <a:t>배포 방식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83664" y="4178807"/>
            <a:ext cx="3566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640" b="0">
                <a:solidFill>
                  <a:srgbClr val="333333"/>
                </a:solidFill>
                <a:latin typeface="Malgun Gothic"/>
              </a:rPr>
              <a:t>Policy-only Deploy — Binary OTA 불필요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6384" y="4462271"/>
            <a:ext cx="109728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640" b="1">
                <a:solidFill>
                  <a:srgbClr val="333333"/>
                </a:solidFill>
                <a:latin typeface="Malgun Gothic"/>
              </a:rPr>
              <a:t>영향 범위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883664" y="4462271"/>
            <a:ext cx="356616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640" b="0">
                <a:solidFill>
                  <a:srgbClr val="333333"/>
                </a:solidFill>
                <a:latin typeface="Malgun Gothic"/>
              </a:rPr>
              <a:t>2 Features · 1 SWC · 1 Supplier · 3 Test Cases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86384" y="4745735"/>
            <a:ext cx="10972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640" b="1">
                <a:solidFill>
                  <a:srgbClr val="333333"/>
                </a:solidFill>
                <a:latin typeface="Malgun Gothic"/>
              </a:rPr>
              <a:t>필요 Gate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883664" y="4745735"/>
            <a:ext cx="3566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640" b="0">
                <a:solidFill>
                  <a:srgbClr val="333333"/>
                </a:solidFill>
                <a:latin typeface="Malgun Gothic"/>
              </a:rPr>
              <a:t>Policy Approval · Variant Review · Rollback Test · Telemetry Validation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86384" y="5029199"/>
            <a:ext cx="109728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640" b="1">
                <a:solidFill>
                  <a:srgbClr val="333333"/>
                </a:solidFill>
                <a:latin typeface="Malgun Gothic"/>
              </a:rPr>
              <a:t>운영 결과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883664" y="5029199"/>
            <a:ext cx="356616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640" b="0">
                <a:solidFill>
                  <a:srgbClr val="333333"/>
                </a:solidFill>
                <a:latin typeface="Malgun Gothic"/>
              </a:rPr>
              <a:t>98.7% Activation Success · Audit Log 기록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925312" y="3429000"/>
            <a:ext cx="53492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25312" y="3429000"/>
            <a:ext cx="5349240" cy="31089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860" b="1">
                <a:solidFill>
                  <a:srgbClr val="FFFFFF"/>
                </a:solidFill>
                <a:latin typeface="Malgun Gothic"/>
              </a:rPr>
              <a:t>판단 로직 — 왜 Policy-only인가?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163056" y="3886200"/>
            <a:ext cx="219456" cy="18288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73952" y="3867912"/>
            <a:ext cx="16916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80" b="1">
                <a:solidFill>
                  <a:srgbClr val="333333"/>
                </a:solidFill>
                <a:latin typeface="Malgun Gothic"/>
              </a:rPr>
              <a:t>SWC 변경 없음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75320" y="3867912"/>
            <a:ext cx="25603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Malgun Gothic"/>
              </a:rPr>
              <a:t>Binary OTA 조건 미충족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63056" y="4215384"/>
            <a:ext cx="219456" cy="18288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73952" y="4197096"/>
            <a:ext cx="16916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80" b="1">
                <a:solidFill>
                  <a:srgbClr val="333333"/>
                </a:solidFill>
                <a:latin typeface="Malgun Gothic"/>
              </a:rPr>
              <a:t>API Contract 변경 없음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75320" y="4197096"/>
            <a:ext cx="25603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Malgun Gothic"/>
              </a:rPr>
              <a:t>Supplier 재통합 범위 제한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163056" y="4544568"/>
            <a:ext cx="219456" cy="18288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73952" y="4526280"/>
            <a:ext cx="16916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80" b="1">
                <a:solidFill>
                  <a:srgbClr val="333333"/>
                </a:solidFill>
                <a:latin typeface="Malgun Gothic"/>
              </a:rPr>
              <a:t>Runtime Context 지원됨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75320" y="4526280"/>
            <a:ext cx="25603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Malgun Gothic"/>
              </a:rPr>
              <a:t>차량 내부 Evaluator 수정 불필요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163056" y="4873752"/>
            <a:ext cx="219456" cy="18288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73952" y="4855464"/>
            <a:ext cx="16916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80" b="1">
                <a:solidFill>
                  <a:srgbClr val="333333"/>
                </a:solidFill>
                <a:latin typeface="Malgun Gothic"/>
              </a:rPr>
              <a:t>Rollback Plan 정의됨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75320" y="4855464"/>
            <a:ext cx="25603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Malgun Gothic"/>
              </a:rPr>
              <a:t>운영 리스크 복구 가능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172200" y="5120640"/>
            <a:ext cx="4773168" cy="219456"/>
          </a:xfrm>
          <a:prstGeom prst="roundRect">
            <a:avLst/>
          </a:prstGeom>
          <a:solidFill>
            <a:srgbClr val="ECF6F0"/>
          </a:solidFill>
          <a:ln w="12700">
            <a:solidFill>
              <a:srgbClr val="C8E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60" b="1">
                <a:solidFill>
                  <a:srgbClr val="2E7D32"/>
                </a:solidFill>
                <a:latin typeface="Malgun Gothic"/>
              </a:rPr>
              <a:t>Decision: Policy Package 배포 후 Telemetry로 활성화 성공률과 실패 이벤트를 모니터링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86384" y="5669280"/>
            <a:ext cx="2423160" cy="347472"/>
          </a:xfrm>
          <a:prstGeom prst="roundRect">
            <a:avLst/>
          </a:prstGeom>
          <a:solidFill>
            <a:srgbClr val="F8F1E9"/>
          </a:solidFill>
          <a:ln w="12700">
            <a:solidFill>
              <a:srgbClr val="E8C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20" b="1">
                <a:solidFill>
                  <a:srgbClr val="E87B2C"/>
                </a:solidFill>
                <a:latin typeface="Malgun Gothic"/>
              </a:rPr>
              <a:t>Binary OTA 대비</a:t>
            </a:r>
            <a:br/>
            <a:r>
              <a:rPr sz="720" b="1">
                <a:solidFill>
                  <a:srgbClr val="E87B2C"/>
                </a:solidFill>
                <a:latin typeface="Malgun Gothic"/>
              </a:rPr>
              <a:t>검증·배포 간소화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456432" y="5669280"/>
            <a:ext cx="2423160" cy="347472"/>
          </a:xfrm>
          <a:prstGeom prst="roundRect">
            <a:avLst/>
          </a:prstGeom>
          <a:solidFill>
            <a:srgbClr val="F0EDF7"/>
          </a:solidFill>
          <a:ln w="12700">
            <a:solidFill>
              <a:srgbClr val="D7C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20" b="1">
                <a:solidFill>
                  <a:srgbClr val="6A4C93"/>
                </a:solidFill>
                <a:latin typeface="Malgun Gothic"/>
              </a:rPr>
              <a:t>Feature Topology 기반</a:t>
            </a:r>
            <a:br/>
            <a:r>
              <a:rPr sz="720" b="1">
                <a:solidFill>
                  <a:srgbClr val="6A4C93"/>
                </a:solidFill>
                <a:latin typeface="Malgun Gothic"/>
              </a:rPr>
              <a:t>사전 영향도 산출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126480" y="5669280"/>
            <a:ext cx="2423160" cy="347472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C9D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20" b="1">
                <a:solidFill>
                  <a:srgbClr val="1F4E79"/>
                </a:solidFill>
                <a:latin typeface="Malgun Gothic"/>
              </a:rPr>
              <a:t>Gate 통과 후</a:t>
            </a:r>
            <a:br/>
            <a:r>
              <a:rPr sz="720" b="1">
                <a:solidFill>
                  <a:srgbClr val="1F4E79"/>
                </a:solidFill>
                <a:latin typeface="Malgun Gothic"/>
              </a:rPr>
              <a:t>Policy Package 배포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796528" y="5669280"/>
            <a:ext cx="2148840" cy="347472"/>
          </a:xfrm>
          <a:prstGeom prst="roundRect">
            <a:avLst/>
          </a:prstGeom>
          <a:solidFill>
            <a:srgbClr val="FAEAEA"/>
          </a:solidFill>
          <a:ln w="12700">
            <a:solidFill>
              <a:srgbClr val="E8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20" b="1">
                <a:solidFill>
                  <a:srgbClr val="B72B2B"/>
                </a:solidFill>
                <a:latin typeface="Malgun Gothic"/>
              </a:rPr>
              <a:t>운영 Telemetry</a:t>
            </a:r>
            <a:br/>
            <a:r>
              <a:rPr sz="720" b="1">
                <a:solidFill>
                  <a:srgbClr val="B72B2B"/>
                </a:solidFill>
                <a:latin typeface="Malgun Gothic"/>
              </a:rPr>
              <a:t>Audit 증적화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02920" y="6190488"/>
            <a:ext cx="10927080" cy="33832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13232" y="6254496"/>
            <a:ext cx="10533888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40" b="1">
                <a:solidFill>
                  <a:srgbClr val="FFFFFF"/>
                </a:solidFill>
                <a:latin typeface="Malgun Gothic"/>
              </a:rPr>
              <a:t>핵심 : Feature Topology가 구축되면 변경 요청부터 배포·모니터링까지 데이터 기반 의사결정 파이프라인으로 자동화된다.</a:t>
            </a:r>
          </a:p>
        </p:txBody>
      </p:sp>
      <p:sp>
        <p:nvSpPr>
          <p:cNvPr id="83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Mutuus Lab BDC 예시; OpenFeature Spec; Unleash Rollout/Monitoring Docs; ISO 24089:2023.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03</a:t>
            </a:r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100" b="1">
                <a:solidFill>
                  <a:srgbClr val="FFFFFF"/>
                </a:solidFill>
                <a:latin typeface="Malgun Gothic"/>
              </a:rPr>
              <a:t>최종 결론 — Feature Topology 설계 원칙</a:t>
            </a:r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Rectangle 7"/>
          <p:cNvSpPr/>
          <p:nvPr/>
        </p:nvSpPr>
        <p:spPr>
          <a:xfrm>
            <a:off x="502920" y="795528"/>
            <a:ext cx="36576" cy="29260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758952"/>
            <a:ext cx="1074420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60" b="0">
                <a:solidFill>
                  <a:srgbClr val="002060"/>
                </a:solidFill>
                <a:latin typeface="Malgun Gothic"/>
              </a:rPr>
              <a:t>Feature Topology는 Feature ID 기준정보를 통해 변경 영향도 · 검증범위 · 배포방식 · 책임범위 · 복구경로를 사전에 계산하는 설계 체계이다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188720"/>
            <a:ext cx="10744200" cy="438912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C9D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002060"/>
                </a:solidFill>
                <a:latin typeface="Malgun Gothic"/>
              </a:rPr>
              <a:t>결론: Feature Topology는 ALM · PLM · Feature Flag 도구를 대체하는 것이 아니라, 이들을 Feature ID로 연결하는 기준정보 계층이다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83080"/>
            <a:ext cx="29260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40" b="1">
                <a:solidFill>
                  <a:srgbClr val="002060"/>
                </a:solidFill>
                <a:latin typeface="Malgun Gothic"/>
              </a:rPr>
              <a:t>설계 핵심 4계층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084831"/>
            <a:ext cx="260604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8096" y="2194560"/>
            <a:ext cx="301752" cy="30175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2194560"/>
            <a:ext cx="196596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19" b="1">
                <a:solidFill>
                  <a:srgbClr val="002060"/>
                </a:solidFill>
                <a:latin typeface="Malgun Gothic"/>
              </a:rPr>
              <a:t>Feature Taxonomy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2615184"/>
            <a:ext cx="2276856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650" b="0">
                <a:solidFill>
                  <a:srgbClr val="333333"/>
                </a:solidFill>
                <a:latin typeface="Malgun Gothic"/>
              </a:rPr>
              <a:t>기능을 L0~L5로
분류·계층화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91840" y="2596896"/>
            <a:ext cx="128016" cy="0"/>
          </a:xfrm>
          <a:prstGeom prst="line">
            <a:avLst/>
          </a:prstGeom>
          <a:ln w="12700">
            <a:solidFill>
              <a:srgbClr val="B0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465576" y="2084831"/>
            <a:ext cx="260604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5304" y="2194560"/>
            <a:ext cx="301752" cy="301752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68496" y="2194560"/>
            <a:ext cx="196596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19" b="1">
                <a:solidFill>
                  <a:srgbClr val="002060"/>
                </a:solidFill>
                <a:latin typeface="Malgun Gothic"/>
              </a:rPr>
              <a:t>Feature BOM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2615184"/>
            <a:ext cx="2276856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650" b="0">
                <a:solidFill>
                  <a:srgbClr val="333333"/>
                </a:solidFill>
                <a:latin typeface="Malgun Gothic"/>
              </a:rPr>
              <a:t>하나의 Feature를
11개 영역으로 구조화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9048" y="2596896"/>
            <a:ext cx="128016" cy="0"/>
          </a:xfrm>
          <a:prstGeom prst="line">
            <a:avLst/>
          </a:prstGeom>
          <a:ln w="12700">
            <a:solidFill>
              <a:srgbClr val="B0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72784" y="2084831"/>
            <a:ext cx="260604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82512" y="2194560"/>
            <a:ext cx="301752" cy="301752"/>
          </a:xfrm>
          <a:prstGeom prst="ellipse">
            <a:avLst/>
          </a:prstGeom>
          <a:solidFill>
            <a:srgbClr val="6A4C93"/>
          </a:solidFill>
          <a:ln w="127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5704" y="2194560"/>
            <a:ext cx="196596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19" b="1">
                <a:solidFill>
                  <a:srgbClr val="002060"/>
                </a:solidFill>
                <a:latin typeface="Malgun Gothic"/>
              </a:rPr>
              <a:t>Feature Topology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2615184"/>
            <a:ext cx="2276856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650" b="0">
                <a:solidFill>
                  <a:srgbClr val="333333"/>
                </a:solidFill>
                <a:latin typeface="Malgun Gothic"/>
              </a:rPr>
              <a:t>BOM 구성요소 간
관계를 그래프로 연결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906256" y="2596896"/>
            <a:ext cx="128016" cy="0"/>
          </a:xfrm>
          <a:prstGeom prst="line">
            <a:avLst/>
          </a:prstGeom>
          <a:ln w="12700">
            <a:solidFill>
              <a:srgbClr val="B0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79992" y="2084831"/>
            <a:ext cx="260604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89720" y="2194560"/>
            <a:ext cx="301752" cy="30175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82912" y="2194560"/>
            <a:ext cx="196596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19" b="1">
                <a:solidFill>
                  <a:srgbClr val="002060"/>
                </a:solidFill>
                <a:latin typeface="Malgun Gothic"/>
              </a:rPr>
              <a:t>Topology Registry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4584" y="2615184"/>
            <a:ext cx="2276856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650" b="0">
                <a:solidFill>
                  <a:srgbClr val="333333"/>
                </a:solidFill>
                <a:latin typeface="Malgun Gothic"/>
              </a:rPr>
              <a:t>기준정보를 저장·조회·분석하는
Source of Truth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3456432"/>
            <a:ext cx="10149840" cy="475488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19" b="1">
                <a:solidFill>
                  <a:srgbClr val="FFFFFF"/>
                </a:solidFill>
                <a:latin typeface="Malgun Gothic"/>
              </a:rPr>
              <a:t>Feature ID = 요구사항 · SWC · ECU · API · Variant · Policy · Test · Supplier · Telemetry를 연결하는 공통 Key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151376"/>
            <a:ext cx="29260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40" b="1">
                <a:solidFill>
                  <a:srgbClr val="002060"/>
                </a:solidFill>
                <a:latin typeface="Malgun Gothic"/>
              </a:rPr>
              <a:t>자동화되는 의사결정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443984"/>
            <a:ext cx="1993392" cy="960120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D3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4553712"/>
            <a:ext cx="1773936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60" b="1">
                <a:solidFill>
                  <a:srgbClr val="1F4E79"/>
                </a:solidFill>
                <a:latin typeface="Malgun Gothic"/>
              </a:rPr>
              <a:t>Impact
Analysis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956048"/>
            <a:ext cx="1719072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590" b="0">
                <a:solidFill>
                  <a:srgbClr val="333333"/>
                </a:solidFill>
                <a:latin typeface="Malgun Gothic"/>
              </a:rPr>
              <a:t>변경 시 영향받는
Feature·SWC·API 산출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16352" y="4443984"/>
            <a:ext cx="1993392" cy="960120"/>
          </a:xfrm>
          <a:prstGeom prst="roundRect">
            <a:avLst/>
          </a:prstGeom>
          <a:solidFill>
            <a:srgbClr val="ECF6F0"/>
          </a:solidFill>
          <a:ln w="12700">
            <a:solidFill>
              <a:srgbClr val="D3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26080" y="4553712"/>
            <a:ext cx="1773936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60" b="1">
                <a:solidFill>
                  <a:srgbClr val="2E7D32"/>
                </a:solidFill>
                <a:latin typeface="Malgun Gothic"/>
              </a:rPr>
              <a:t>Verification
Scope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53512" y="4956048"/>
            <a:ext cx="1719072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590" b="0">
                <a:solidFill>
                  <a:srgbClr val="333333"/>
                </a:solidFill>
                <a:latin typeface="Malgun Gothic"/>
              </a:rPr>
              <a:t>조건별 필수 Test와
Evidence Gap 도출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92624" y="4443984"/>
            <a:ext cx="1993392" cy="960120"/>
          </a:xfrm>
          <a:prstGeom prst="roundRect">
            <a:avLst/>
          </a:prstGeom>
          <a:solidFill>
            <a:srgbClr val="F8F1E9"/>
          </a:solidFill>
          <a:ln w="12700">
            <a:solidFill>
              <a:srgbClr val="D3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02352" y="4553712"/>
            <a:ext cx="1773936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60" b="1">
                <a:solidFill>
                  <a:srgbClr val="E87B2C"/>
                </a:solidFill>
                <a:latin typeface="Malgun Gothic"/>
              </a:rPr>
              <a:t>Deployment
Decision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9784" y="4956048"/>
            <a:ext cx="1719072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590" b="0">
                <a:solidFill>
                  <a:srgbClr val="333333"/>
                </a:solidFill>
                <a:latin typeface="Malgun Gothic"/>
              </a:rPr>
              <a:t>Binary OTA vs
Policy-only 판단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68896" y="4443984"/>
            <a:ext cx="1993392" cy="960120"/>
          </a:xfrm>
          <a:prstGeom prst="roundRect">
            <a:avLst/>
          </a:prstGeom>
          <a:solidFill>
            <a:srgbClr val="F0EDF7"/>
          </a:solidFill>
          <a:ln w="12700">
            <a:solidFill>
              <a:srgbClr val="D3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78624" y="4553712"/>
            <a:ext cx="1773936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60" b="1">
                <a:solidFill>
                  <a:srgbClr val="6A4C93"/>
                </a:solidFill>
                <a:latin typeface="Malgun Gothic"/>
              </a:rPr>
              <a:t>Supplier
Responsibility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06056" y="4956048"/>
            <a:ext cx="1719072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590" b="0">
                <a:solidFill>
                  <a:srgbClr val="333333"/>
                </a:solidFill>
                <a:latin typeface="Malgun Gothic"/>
              </a:rPr>
              <a:t>협력사 기능·API·검증
책임범위 추적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345168" y="4443984"/>
            <a:ext cx="1993392" cy="960120"/>
          </a:xfrm>
          <a:prstGeom prst="roundRect">
            <a:avLst/>
          </a:prstGeom>
          <a:solidFill>
            <a:srgbClr val="FAEAEA"/>
          </a:solidFill>
          <a:ln w="12700">
            <a:solidFill>
              <a:srgbClr val="D3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54896" y="4553712"/>
            <a:ext cx="1773936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60" b="1">
                <a:solidFill>
                  <a:srgbClr val="B72B2B"/>
                </a:solidFill>
                <a:latin typeface="Malgun Gothic"/>
              </a:rPr>
              <a:t>Operations
Evidence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82328" y="4956048"/>
            <a:ext cx="1719072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590" b="0">
                <a:solidFill>
                  <a:srgbClr val="333333"/>
                </a:solidFill>
                <a:latin typeface="Malgun Gothic"/>
              </a:rPr>
              <a:t>Telemetry·Audit·Incident
운영 증적화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94944" y="5641848"/>
            <a:ext cx="233172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20" b="1">
                <a:solidFill>
                  <a:srgbClr val="1F4E79"/>
                </a:solidFill>
                <a:latin typeface="Malgun Gothic"/>
              </a:rPr>
              <a:t>Flag ≠ Feature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172968" y="5641848"/>
            <a:ext cx="233172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20" b="1">
                <a:solidFill>
                  <a:srgbClr val="2E86AB"/>
                </a:solidFill>
                <a:latin typeface="Malgun Gothic"/>
              </a:rPr>
              <a:t>Variant ≠ Control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650992" y="5641848"/>
            <a:ext cx="233172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7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20" b="1">
                <a:solidFill>
                  <a:srgbClr val="E87B2C"/>
                </a:solidFill>
                <a:latin typeface="Malgun Gothic"/>
              </a:rPr>
              <a:t>Policy-only ≠ Binary OTA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29016" y="5641848"/>
            <a:ext cx="260604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20" b="1">
                <a:solidFill>
                  <a:srgbClr val="2E7D32"/>
                </a:solidFill>
                <a:latin typeface="Malgun Gothic"/>
              </a:rPr>
              <a:t>Released Feature → Evidence 필수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6190488"/>
            <a:ext cx="10927080" cy="33832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3232" y="6254496"/>
            <a:ext cx="10533888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30" b="1">
                <a:solidFill>
                  <a:srgbClr val="FFFFFF"/>
                </a:solidFill>
                <a:latin typeface="Malgun Gothic"/>
              </a:rPr>
              <a:t>핵심 : Taxonomy · BOM · Topology · Registry를 기준정보화하면 SDV Feature 운영은 경험 의존이 아니라 데이터 기반 의사결정 체계로 전환된다.</a:t>
            </a:r>
          </a:p>
        </p:txBody>
      </p:sp>
      <p:sp>
        <p:nvSpPr>
          <p:cNvPr id="54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ISO/IEC/IEEE 29148:2018; OMG SysML 2.0; OMG ReqIF 1.2; OpenFeature Spec; Mutuus Lab 종합 분석.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100" b="1">
                <a:solidFill>
                  <a:srgbClr val="FFFFFF"/>
                </a:solidFill>
                <a:latin typeface="Malgun Gothic"/>
              </a:rPr>
              <a:t>Appendix — 상세 설계 구성</a:t>
            </a:r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Rectangle 7"/>
          <p:cNvSpPr/>
          <p:nvPr/>
        </p:nvSpPr>
        <p:spPr>
          <a:xfrm>
            <a:off x="502920" y="795528"/>
            <a:ext cx="36576" cy="29260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758952"/>
            <a:ext cx="1074420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20" b="0">
                <a:solidFill>
                  <a:srgbClr val="002060"/>
                </a:solidFill>
                <a:latin typeface="Malgun Gothic"/>
              </a:rPr>
              <a:t>본문은 Feature Topology의 핵심 논리를 설명하고, Appendix는 Gate · Governance · UI · PoC · FAQ까지 상세 설계를 완결한다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188720"/>
            <a:ext cx="10744200" cy="438912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C9D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19" b="1">
                <a:solidFill>
                  <a:srgbClr val="002060"/>
                </a:solidFill>
                <a:latin typeface="Malgun Gothic"/>
              </a:rPr>
              <a:t>Appendix 역할: 발표 중 질문이 나오는 항목을 즉시 열람할 수 있는 상세 설계·검증 근거 패키지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10512"/>
            <a:ext cx="283464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40" b="1">
                <a:solidFill>
                  <a:srgbClr val="002060"/>
                </a:solidFill>
                <a:latin typeface="Malgun Gothic"/>
              </a:rPr>
              <a:t>본문에서 확정한 설계 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21408"/>
            <a:ext cx="26974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2249424"/>
            <a:ext cx="274320" cy="27432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212848"/>
            <a:ext cx="201168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90" b="1">
                <a:solidFill>
                  <a:srgbClr val="002060"/>
                </a:solidFill>
                <a:latin typeface="Malgun Gothic"/>
              </a:rPr>
              <a:t>Feature ID 기준정보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423160"/>
            <a:ext cx="201168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570" b="0">
                <a:solidFill>
                  <a:srgbClr val="333333"/>
                </a:solidFill>
                <a:latin typeface="Malgun Gothic"/>
              </a:rPr>
              <a:t>Definition · Taxonomy · BOM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29968" y="2670048"/>
            <a:ext cx="0" cy="173736"/>
          </a:xfrm>
          <a:prstGeom prst="line">
            <a:avLst/>
          </a:prstGeom>
          <a:ln w="11430">
            <a:solidFill>
              <a:srgbClr val="B2BE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85800" y="2834639"/>
            <a:ext cx="26974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2962656"/>
            <a:ext cx="274320" cy="27432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926079"/>
            <a:ext cx="201168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90" b="1">
                <a:solidFill>
                  <a:srgbClr val="002060"/>
                </a:solidFill>
                <a:latin typeface="Malgun Gothic"/>
              </a:rPr>
              <a:t>관계 그래프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136391"/>
            <a:ext cx="201168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570" b="0">
                <a:solidFill>
                  <a:srgbClr val="333333"/>
                </a:solidFill>
                <a:latin typeface="Malgun Gothic"/>
              </a:rPr>
              <a:t>Modeling · Topology · Registry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029968" y="3383279"/>
            <a:ext cx="0" cy="173736"/>
          </a:xfrm>
          <a:prstGeom prst="line">
            <a:avLst/>
          </a:prstGeom>
          <a:ln w="11430">
            <a:solidFill>
              <a:srgbClr val="B2BE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85800" y="3547872"/>
            <a:ext cx="26974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3675887"/>
            <a:ext cx="274320" cy="274320"/>
          </a:xfrm>
          <a:prstGeom prst="ellipse">
            <a:avLst/>
          </a:prstGeom>
          <a:solidFill>
            <a:srgbClr val="E87B2C"/>
          </a:solidFill>
          <a:ln w="12700">
            <a:solidFill>
              <a:srgbClr val="E87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639312"/>
            <a:ext cx="201168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90" b="1">
                <a:solidFill>
                  <a:srgbClr val="002060"/>
                </a:solidFill>
                <a:latin typeface="Malgun Gothic"/>
              </a:rPr>
              <a:t>운영 판단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849624"/>
            <a:ext cx="201168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570" b="0">
                <a:solidFill>
                  <a:srgbClr val="333333"/>
                </a:solidFill>
                <a:latin typeface="Malgun Gothic"/>
              </a:rPr>
              <a:t>Runtime · Deployment · Operations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029968" y="4096511"/>
            <a:ext cx="0" cy="173737"/>
          </a:xfrm>
          <a:prstGeom prst="line">
            <a:avLst/>
          </a:prstGeom>
          <a:ln w="11430">
            <a:solidFill>
              <a:srgbClr val="B2BE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85800" y="4261104"/>
            <a:ext cx="26974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2960" y="4389120"/>
            <a:ext cx="274320" cy="274320"/>
          </a:xfrm>
          <a:prstGeom prst="ellipse">
            <a:avLst/>
          </a:prstGeom>
          <a:solidFill>
            <a:srgbClr val="6A4C93"/>
          </a:solidFill>
          <a:ln w="127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352544"/>
            <a:ext cx="201168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90" b="1">
                <a:solidFill>
                  <a:srgbClr val="002060"/>
                </a:solidFill>
                <a:latin typeface="Malgun Gothic"/>
              </a:rPr>
              <a:t>자동화 엔진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4562856"/>
            <a:ext cx="201168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570" b="0">
                <a:solidFill>
                  <a:srgbClr val="333333"/>
                </a:solidFill>
                <a:latin typeface="Malgun Gothic"/>
              </a:rPr>
              <a:t>Impact · Verification · Deploy · Supplier</a:t>
            </a:r>
          </a:p>
        </p:txBody>
      </p:sp>
      <p:sp>
        <p:nvSpPr>
          <p:cNvPr id="31" name="Oval 30"/>
          <p:cNvSpPr/>
          <p:nvPr/>
        </p:nvSpPr>
        <p:spPr>
          <a:xfrm>
            <a:off x="3730752" y="2953512"/>
            <a:ext cx="548640" cy="54864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56432" y="3566160"/>
            <a:ext cx="10972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630" b="1">
                <a:solidFill>
                  <a:srgbClr val="002060"/>
                </a:solidFill>
                <a:latin typeface="Malgun Gothic"/>
              </a:rPr>
              <a:t>상세 설계로 확장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1810512"/>
            <a:ext cx="292608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40" b="1">
                <a:solidFill>
                  <a:srgbClr val="002060"/>
                </a:solidFill>
                <a:latin typeface="Malgun Gothic"/>
              </a:rPr>
              <a:t>Appendix 상세 설계 묶음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17720" y="2121408"/>
            <a:ext cx="3127248" cy="1353312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D0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764024" y="2267712"/>
            <a:ext cx="475488" cy="310896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20" b="1">
                <a:solidFill>
                  <a:srgbClr val="FFFFFF"/>
                </a:solidFill>
                <a:latin typeface="Malgun Gothic"/>
              </a:rPr>
              <a:t>A–C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2249424"/>
            <a:ext cx="214884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30" b="1">
                <a:solidFill>
                  <a:srgbClr val="1F4E79"/>
                </a:solidFill>
                <a:latin typeface="Malgun Gothic"/>
              </a:rPr>
              <a:t>Gate · Governance · 도입 효과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18888" y="2688336"/>
            <a:ext cx="269748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30" b="0">
                <a:solidFill>
                  <a:srgbClr val="333333"/>
                </a:solidFill>
                <a:latin typeface="Malgun Gothic"/>
              </a:rPr>
              <a:t>Release Readiness 9 Gate
Lifecycle &amp; Governance
Before / After 비교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28431" y="2121408"/>
            <a:ext cx="3127248" cy="1353312"/>
          </a:xfrm>
          <a:prstGeom prst="roundRect">
            <a:avLst/>
          </a:prstGeom>
          <a:solidFill>
            <a:srgbClr val="ECF6F0"/>
          </a:solidFill>
          <a:ln w="12700">
            <a:solidFill>
              <a:srgbClr val="D0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174736" y="2267712"/>
            <a:ext cx="475488" cy="310896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20" b="1">
                <a:solidFill>
                  <a:srgbClr val="FFFFFF"/>
                </a:solidFill>
                <a:latin typeface="Malgun Gothic"/>
              </a:rPr>
              <a:t>D–H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59952" y="2249424"/>
            <a:ext cx="214884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30" b="1">
                <a:solidFill>
                  <a:srgbClr val="2E7D32"/>
                </a:solidFill>
                <a:latin typeface="Malgun Gothic"/>
              </a:rPr>
              <a:t>운영 규칙 · 영향도 · 협력사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2688336"/>
            <a:ext cx="269748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30" b="0">
                <a:solidFill>
                  <a:srgbClr val="333333"/>
                </a:solidFill>
                <a:latin typeface="Malgun Gothic"/>
              </a:rPr>
              <a:t>Variant Matrix · Glossary
Impact Analysis
Supplier API Package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17720" y="3794760"/>
            <a:ext cx="3127248" cy="1353312"/>
          </a:xfrm>
          <a:prstGeom prst="roundRect">
            <a:avLst/>
          </a:prstGeom>
          <a:solidFill>
            <a:srgbClr val="F8F1E9"/>
          </a:solidFill>
          <a:ln w="12700">
            <a:solidFill>
              <a:srgbClr val="D0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764024" y="3941064"/>
            <a:ext cx="475488" cy="310896"/>
          </a:xfrm>
          <a:prstGeom prst="roundRect">
            <a:avLst/>
          </a:prstGeom>
          <a:solidFill>
            <a:srgbClr val="E87B2C"/>
          </a:solidFill>
          <a:ln w="12700">
            <a:solidFill>
              <a:srgbClr val="E87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20" b="1">
                <a:solidFill>
                  <a:srgbClr val="FFFFFF"/>
                </a:solidFill>
                <a:latin typeface="Malgun Gothic"/>
              </a:rPr>
              <a:t>I–N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49240" y="3922776"/>
            <a:ext cx="214884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30" b="1">
                <a:solidFill>
                  <a:srgbClr val="E87B2C"/>
                </a:solidFill>
                <a:latin typeface="Malgun Gothic"/>
              </a:rPr>
              <a:t>UI · 도구 연계 · PoC 환경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18888" y="4361688"/>
            <a:ext cx="269748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30" b="0">
                <a:solidFill>
                  <a:srgbClr val="333333"/>
                </a:solidFill>
                <a:latin typeface="Malgun Gothic"/>
              </a:rPr>
              <a:t>Feature Detail / Catalog UI
기존 도구 비교
PoC 기술 스택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28431" y="3794760"/>
            <a:ext cx="3127248" cy="1353312"/>
          </a:xfrm>
          <a:prstGeom prst="roundRect">
            <a:avLst/>
          </a:prstGeom>
          <a:solidFill>
            <a:srgbClr val="F0EDF7"/>
          </a:solidFill>
          <a:ln w="12700">
            <a:solidFill>
              <a:srgbClr val="D0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174736" y="3941064"/>
            <a:ext cx="475488" cy="310896"/>
          </a:xfrm>
          <a:prstGeom prst="roundRect">
            <a:avLst/>
          </a:prstGeom>
          <a:solidFill>
            <a:srgbClr val="6A4C93"/>
          </a:solidFill>
          <a:ln w="127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20" b="1">
                <a:solidFill>
                  <a:srgbClr val="FFFFFF"/>
                </a:solidFill>
                <a:latin typeface="Malgun Gothic"/>
              </a:rPr>
              <a:t>O–S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59952" y="3922776"/>
            <a:ext cx="214884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30" b="1">
                <a:solidFill>
                  <a:srgbClr val="6A4C93"/>
                </a:solidFill>
                <a:latin typeface="Malgun Gothic"/>
              </a:rPr>
              <a:t>변경관리 · Demo · FAQ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4361688"/>
            <a:ext cx="269748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30" b="0">
                <a:solidFill>
                  <a:srgbClr val="333333"/>
                </a:solidFill>
                <a:latin typeface="Malgun Gothic"/>
              </a:rPr>
              <a:t>BOM Baseline · ChangeSet
Kill Switch Demo
FAQ · Dashboard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" y="5596128"/>
            <a:ext cx="214884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10" b="1">
                <a:solidFill>
                  <a:srgbClr val="1F4E79"/>
                </a:solidFill>
                <a:latin typeface="Malgun Gothic"/>
              </a:rPr>
              <a:t>질문 대응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971800" y="5596128"/>
            <a:ext cx="214884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10" b="1">
                <a:solidFill>
                  <a:srgbClr val="2E86AB"/>
                </a:solidFill>
                <a:latin typeface="Malgun Gothic"/>
              </a:rPr>
              <a:t>상세 근거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303520" y="5596128"/>
            <a:ext cx="214884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7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10" b="1">
                <a:solidFill>
                  <a:srgbClr val="E87B2C"/>
                </a:solidFill>
                <a:latin typeface="Malgun Gothic"/>
              </a:rPr>
              <a:t>구현 설계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635240" y="5596128"/>
            <a:ext cx="214884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10" b="1">
                <a:solidFill>
                  <a:srgbClr val="6A4C93"/>
                </a:solidFill>
                <a:latin typeface="Malgun Gothic"/>
              </a:rPr>
              <a:t>데모/FAQ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966960" y="5596128"/>
            <a:ext cx="141732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10" b="1">
                <a:solidFill>
                  <a:srgbClr val="2E7D32"/>
                </a:solidFill>
                <a:latin typeface="Malgun Gothic"/>
              </a:rPr>
              <a:t>완결성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6190488"/>
            <a:ext cx="10927080" cy="33832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3232" y="6254496"/>
            <a:ext cx="10533888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Malgun Gothic"/>
              </a:rPr>
              <a:t>핵심 : Appendix는 부가자료가 아니라 Feature Topology 상세 설계의 일부이며, Gate·Rule·UI·PoC·FAQ까지 PPT 안에서 완결한다.</a:t>
            </a:r>
          </a:p>
        </p:txBody>
      </p:sp>
      <p:sp>
        <p:nvSpPr>
          <p:cNvPr id="57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Mutuus Lab 상세 설계 패키지; ISO/IEC/IEEE 29148:2018; OMG SysML 2.0.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9144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algun Gothic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0784" y="283464"/>
            <a:ext cx="7498079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algun Gothic"/>
              </a:rPr>
              <a:t>상세 설계 · 검증 근거 · PoC 대응 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301752"/>
            <a:ext cx="566928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25880"/>
            <a:ext cx="553212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Malgun Gothic"/>
              </a:rPr>
              <a:t>Appendix는 부가자료가 아니라 Feature Topology 상세 설계의 일부이다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920240"/>
            <a:ext cx="534924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algun Gothic"/>
              </a:rPr>
              <a:t>본문에서 정의한 Feature ID 기준정보·관계 그래프·운영 판단·자동화 엔진을 Gate, Rule, UI, PoC, FAQ 수준까지 확장한다.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2743200"/>
            <a:ext cx="2057400" cy="841248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Feature</a:t>
            </a:r>
            <a:br/>
            <a:r>
              <a:rPr sz="1500" b="1">
                <a:solidFill>
                  <a:srgbClr val="FFFFFF"/>
                </a:solidFill>
                <a:latin typeface="Malgun Gothic"/>
              </a:rPr>
              <a:t>Topology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657600"/>
            <a:ext cx="26974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00" b="1">
                <a:solidFill>
                  <a:srgbClr val="002060"/>
                </a:solidFill>
                <a:latin typeface="Malgun Gothic"/>
              </a:rPr>
              <a:t>상세 설계 패키지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743200"/>
            <a:ext cx="3584448" cy="1005840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2907792"/>
            <a:ext cx="548640" cy="292608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A–C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889504"/>
            <a:ext cx="24231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30" b="1">
                <a:solidFill>
                  <a:srgbClr val="1F4E79"/>
                </a:solidFill>
                <a:latin typeface="Malgun Gothic"/>
              </a:rPr>
              <a:t>Gate · Governance · 효과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3273552"/>
            <a:ext cx="2971800" cy="3017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70" b="0">
                <a:solidFill>
                  <a:srgbClr val="333333"/>
                </a:solidFill>
                <a:latin typeface="Malgun Gothic"/>
              </a:rPr>
              <a:t>배포 준비도, 생애주기, 도입 전/후 비교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2743200"/>
            <a:ext cx="3584448" cy="1005840"/>
          </a:xfrm>
          <a:prstGeom prst="roundRect">
            <a:avLst/>
          </a:prstGeom>
          <a:solidFill>
            <a:srgbClr val="ECF6F0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36992" y="2907792"/>
            <a:ext cx="548640" cy="292608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D–H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13648" y="2889504"/>
            <a:ext cx="24231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30" b="1">
                <a:solidFill>
                  <a:srgbClr val="2E7D32"/>
                </a:solidFill>
                <a:latin typeface="Malgun Gothic"/>
              </a:rPr>
              <a:t>운영 규칙 · 영향도 · 협력사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1" y="3273552"/>
            <a:ext cx="2971800" cy="3017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70" b="0">
                <a:solidFill>
                  <a:srgbClr val="333333"/>
                </a:solidFill>
                <a:latin typeface="Malgun Gothic"/>
              </a:rPr>
              <a:t>Variant, Glossary, Impact, Supplier Package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498848"/>
            <a:ext cx="3584448" cy="1005840"/>
          </a:xfrm>
          <a:prstGeom prst="roundRect">
            <a:avLst/>
          </a:prstGeom>
          <a:solidFill>
            <a:srgbClr val="F8F1E9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7824" y="4663440"/>
            <a:ext cx="548640" cy="292608"/>
          </a:xfrm>
          <a:prstGeom prst="roundRect">
            <a:avLst/>
          </a:prstGeom>
          <a:solidFill>
            <a:srgbClr val="E87B2C"/>
          </a:solidFill>
          <a:ln w="12700">
            <a:solidFill>
              <a:srgbClr val="E87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I–N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645152"/>
            <a:ext cx="24231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30" b="1">
                <a:solidFill>
                  <a:srgbClr val="E87B2C"/>
                </a:solidFill>
                <a:latin typeface="Malgun Gothic"/>
              </a:rPr>
              <a:t>UI · 도구 연계 · PoC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5029200"/>
            <a:ext cx="2971800" cy="3017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70" b="0">
                <a:solidFill>
                  <a:srgbClr val="333333"/>
                </a:solidFill>
                <a:latin typeface="Malgun Gothic"/>
              </a:rPr>
              <a:t>Feature Detail, Catalog, 기존 도구, 기술 스택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4498848"/>
            <a:ext cx="3584448" cy="1005840"/>
          </a:xfrm>
          <a:prstGeom prst="roundRect">
            <a:avLst/>
          </a:prstGeom>
          <a:solidFill>
            <a:srgbClr val="F0EDF7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36992" y="4663440"/>
            <a:ext cx="548640" cy="292608"/>
          </a:xfrm>
          <a:prstGeom prst="roundRect">
            <a:avLst/>
          </a:prstGeom>
          <a:solidFill>
            <a:srgbClr val="6A4C93"/>
          </a:solidFill>
          <a:ln w="127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O–S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3648" y="4645152"/>
            <a:ext cx="24231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30" b="1">
                <a:solidFill>
                  <a:srgbClr val="6A4C93"/>
                </a:solidFill>
                <a:latin typeface="Malgun Gothic"/>
              </a:rPr>
              <a:t>변경관리 · Demo · FAQ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5029200"/>
            <a:ext cx="2971800" cy="3017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70" b="0">
                <a:solidFill>
                  <a:srgbClr val="333333"/>
                </a:solidFill>
                <a:latin typeface="Malgun Gothic"/>
              </a:rPr>
              <a:t>ChangeSet, Kill Switch, Dashboard, 예상 질의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4297680" y="3163824"/>
            <a:ext cx="777240" cy="73152"/>
          </a:xfrm>
          <a:prstGeom prst="line">
            <a:avLst/>
          </a:prstGeom>
          <a:ln w="1143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132320" y="3163824"/>
            <a:ext cx="640080" cy="73152"/>
          </a:xfrm>
          <a:prstGeom prst="line">
            <a:avLst/>
          </a:prstGeom>
          <a:ln w="1143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4297680" y="3584448"/>
            <a:ext cx="777240" cy="1316736"/>
          </a:xfrm>
          <a:prstGeom prst="line">
            <a:avLst/>
          </a:prstGeom>
          <a:ln w="11430">
            <a:solidFill>
              <a:srgbClr val="E87B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132320" y="3584448"/>
            <a:ext cx="640080" cy="1316736"/>
          </a:xfrm>
          <a:prstGeom prst="line">
            <a:avLst/>
          </a:prstGeom>
          <a:ln w="11430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58368" y="5833872"/>
            <a:ext cx="10863072" cy="420624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50" b="1">
                <a:solidFill>
                  <a:srgbClr val="002060"/>
                </a:solidFill>
                <a:latin typeface="Malgun Gothic"/>
              </a:rPr>
              <a:t>발표 본문은 핵심 논리를 설명하고, Appendix는 질문 대응 시 즉시 열람 가능한 상세 설계 근거로 사용한다.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428232"/>
            <a:ext cx="18288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30" b="0">
                <a:solidFill>
                  <a:srgbClr val="333333"/>
                </a:solidFill>
                <a:latin typeface="Malgun Gothic"/>
              </a:rPr>
              <a:t>Mutuus Lab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6428232"/>
            <a:ext cx="21031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30" b="0">
                <a:solidFill>
                  <a:srgbClr val="333333"/>
                </a:solidFill>
                <a:latin typeface="Malgun Gothic"/>
              </a:rPr>
              <a:t>Feature Topology 설계안</a:t>
            </a:r>
          </a:p>
        </p:txBody>
      </p:sp>
      <p:sp>
        <p:nvSpPr>
          <p:cNvPr id="34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Mutuus Lab 상세 설계 패키지; ISO/IEC/IEEE 29148:2018; OMG ReqIF 1.2; OpenFeature Spec.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28600"/>
            <a:ext cx="50292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700" b="0">
                <a:solidFill>
                  <a:srgbClr val="7CA7D9"/>
                </a:solidFill>
                <a:latin typeface="Malgun Gothic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73736"/>
            <a:ext cx="58521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algun Gothic"/>
              </a:rPr>
              <a:t>Release Readiness — 9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29800" y="274320"/>
            <a:ext cx="11887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1">
                <a:solidFill>
                  <a:srgbClr val="B8C9DF"/>
                </a:solidFill>
                <a:latin typeface="Malgun Gothic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74320"/>
            <a:ext cx="329184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960120"/>
            <a:ext cx="78638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40" b="1">
                <a:solidFill>
                  <a:srgbClr val="002060"/>
                </a:solidFill>
                <a:latin typeface="Malgun Gothic"/>
              </a:rPr>
              <a:t>Production 활성화는 9개 Gate 통과 상태가 Feature Baseline에 기록된 후에만 허용한다.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225296"/>
            <a:ext cx="71780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50" b="0">
                <a:solidFill>
                  <a:srgbClr val="333333"/>
                </a:solidFill>
                <a:latin typeface="Malgun Gothic"/>
              </a:rPr>
              <a:t>FEAT-BDC-001 기준: 8개 Gate PASS, Verification Gate 1개 PENDING — OTA Rollback Test 완료 필요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969264"/>
            <a:ext cx="2212848" cy="429768"/>
          </a:xfrm>
          <a:prstGeom prst="roundRect">
            <a:avLst/>
          </a:prstGeom>
          <a:solidFill>
            <a:srgbClr val="ECF7EF"/>
          </a:solidFill>
          <a:ln w="12700">
            <a:solidFill>
              <a:srgbClr val="1F8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30" b="1">
                <a:solidFill>
                  <a:srgbClr val="156F38"/>
                </a:solidFill>
                <a:latin typeface="Malgun Gothic"/>
              </a:rPr>
              <a:t>FEAT-BDC-001  ·  8 / 9 PASS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673352"/>
            <a:ext cx="345643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673352"/>
            <a:ext cx="3456432" cy="34747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1760220"/>
            <a:ext cx="256032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1746504"/>
            <a:ext cx="2221991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Malgun Gothic"/>
              </a:rPr>
              <a:t>Feature Gate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36976" y="1737360"/>
            <a:ext cx="713232" cy="246888"/>
          </a:xfrm>
          <a:prstGeom prst="roundRect">
            <a:avLst/>
          </a:prstGeom>
          <a:solidFill>
            <a:srgbClr val="1F8A45"/>
          </a:solidFill>
          <a:ln w="12700">
            <a:solidFill>
              <a:srgbClr val="1F8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70" b="1">
                <a:solidFill>
                  <a:srgbClr val="FFFFFF"/>
                </a:solidFill>
                <a:latin typeface="Malgun Gothic"/>
              </a:rPr>
              <a:t>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2148840"/>
            <a:ext cx="3136391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90" b="0">
                <a:solidFill>
                  <a:srgbClr val="333333"/>
                </a:solidFill>
                <a:latin typeface="Malgun Gothic"/>
              </a:rPr>
              <a:t>Feature Master 등록
Owner: Body Platform Team
Lifecycle: Approved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1688" y="1673352"/>
            <a:ext cx="345643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61688" y="1673352"/>
            <a:ext cx="3456432" cy="34747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71416" y="1760220"/>
            <a:ext cx="256032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1455" y="1746504"/>
            <a:ext cx="2221991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Malgun Gothic"/>
              </a:rPr>
              <a:t>Requirement Gate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76871" y="1737360"/>
            <a:ext cx="713232" cy="246888"/>
          </a:xfrm>
          <a:prstGeom prst="roundRect">
            <a:avLst/>
          </a:prstGeom>
          <a:solidFill>
            <a:srgbClr val="1F8A45"/>
          </a:solidFill>
          <a:ln w="12700">
            <a:solidFill>
              <a:srgbClr val="1F8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70" b="1">
                <a:solidFill>
                  <a:srgbClr val="FFFFFF"/>
                </a:solidFill>
                <a:latin typeface="Malgun Gothic"/>
              </a:rPr>
              <a:t>PASS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79" y="2148840"/>
            <a:ext cx="3136391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90" b="0">
                <a:solidFill>
                  <a:srgbClr val="333333"/>
                </a:solidFill>
                <a:latin typeface="Malgun Gothic"/>
              </a:rPr>
              <a:t>SYS-BODY-001 연결
SWE-BDC-010 연결
요구사항 Trace 확인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01583" y="1673352"/>
            <a:ext cx="345643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01583" y="1673352"/>
            <a:ext cx="3456432" cy="34747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11311" y="1760220"/>
            <a:ext cx="256032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31352" y="1746504"/>
            <a:ext cx="2221991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Malgun Gothic"/>
              </a:rPr>
              <a:t>Variant Gate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716767" y="1737360"/>
            <a:ext cx="713232" cy="246888"/>
          </a:xfrm>
          <a:prstGeom prst="roundRect">
            <a:avLst/>
          </a:prstGeom>
          <a:solidFill>
            <a:srgbClr val="1F8A45"/>
          </a:solidFill>
          <a:ln w="12700">
            <a:solidFill>
              <a:srgbClr val="1F8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70" b="1">
                <a:solidFill>
                  <a:srgbClr val="FFFFFF"/>
                </a:solidFill>
                <a:latin typeface="Malgun Gothic"/>
              </a:rPr>
              <a:t>PASS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6175" y="2148840"/>
            <a:ext cx="3136391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90" b="0">
                <a:solidFill>
                  <a:srgbClr val="333333"/>
                </a:solidFill>
                <a:latin typeface="Malgun Gothic"/>
              </a:rPr>
              <a:t>KR/EU · MY2027+
Premium · Gen3
Applicability Rule 유효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" y="3081528"/>
            <a:ext cx="345643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" y="3081528"/>
            <a:ext cx="3456432" cy="34747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3168396"/>
            <a:ext cx="256032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3154680"/>
            <a:ext cx="2221991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Malgun Gothic"/>
              </a:rPr>
              <a:t>Control Gate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36976" y="3145536"/>
            <a:ext cx="713232" cy="246888"/>
          </a:xfrm>
          <a:prstGeom prst="roundRect">
            <a:avLst/>
          </a:prstGeom>
          <a:solidFill>
            <a:srgbClr val="1F8A45"/>
          </a:solidFill>
          <a:ln w="12700">
            <a:solidFill>
              <a:srgbClr val="1F8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70" b="1">
                <a:solidFill>
                  <a:srgbClr val="FFFFFF"/>
                </a:solidFill>
                <a:latin typeface="Malgun Gothic"/>
              </a:rPr>
              <a:t>PASS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" y="3557016"/>
            <a:ext cx="3136391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90" b="0">
                <a:solidFill>
                  <a:srgbClr val="333333"/>
                </a:solidFill>
                <a:latin typeface="Malgun Gothic"/>
              </a:rPr>
              <a:t>Safe Default: disabled
Rollback Plan: defined
Kill Switch: available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61688" y="3081528"/>
            <a:ext cx="3456432" cy="1115568"/>
          </a:xfrm>
          <a:prstGeom prst="roundRect">
            <a:avLst/>
          </a:prstGeom>
          <a:solidFill>
            <a:srgbClr val="FCF1EA"/>
          </a:solidFill>
          <a:ln w="12700">
            <a:solidFill>
              <a:srgbClr val="D96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61688" y="3081528"/>
            <a:ext cx="3456432" cy="347472"/>
          </a:xfrm>
          <a:prstGeom prst="rect">
            <a:avLst/>
          </a:prstGeom>
          <a:solidFill>
            <a:srgbClr val="D9621E"/>
          </a:solidFill>
          <a:ln w="12700">
            <a:solidFill>
              <a:srgbClr val="D96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471416" y="3168396"/>
            <a:ext cx="256032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91455" y="3154680"/>
            <a:ext cx="2221991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Malgun Gothic"/>
              </a:rPr>
              <a:t>Verification Gate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76871" y="3145536"/>
            <a:ext cx="713232" cy="246888"/>
          </a:xfrm>
          <a:prstGeom prst="roundRect">
            <a:avLst/>
          </a:prstGeom>
          <a:solidFill>
            <a:srgbClr val="FFD400"/>
          </a:solidFill>
          <a:ln w="12700">
            <a:solidFill>
              <a:srgbClr val="FFD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70" b="1">
                <a:solidFill>
                  <a:srgbClr val="002060"/>
                </a:solidFill>
                <a:latin typeface="Malgun Gothic"/>
              </a:rPr>
              <a:t>PENDING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26279" y="3557016"/>
            <a:ext cx="3136391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90" b="0">
                <a:solidFill>
                  <a:srgbClr val="333333"/>
                </a:solidFill>
                <a:latin typeface="Malgun Gothic"/>
              </a:rPr>
              <a:t>HIL-BDC-001 완료
OTA-RB-002 미완
Telemetry Validation 필요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01583" y="3081528"/>
            <a:ext cx="345643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01583" y="3081528"/>
            <a:ext cx="3456432" cy="34747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211311" y="3168396"/>
            <a:ext cx="256032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31352" y="3154680"/>
            <a:ext cx="2221991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Malgun Gothic"/>
              </a:rPr>
              <a:t>Supplier Gate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716767" y="3145536"/>
            <a:ext cx="713232" cy="246888"/>
          </a:xfrm>
          <a:prstGeom prst="roundRect">
            <a:avLst/>
          </a:prstGeom>
          <a:solidFill>
            <a:srgbClr val="1F8A45"/>
          </a:solidFill>
          <a:ln w="12700">
            <a:solidFill>
              <a:srgbClr val="1F8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70" b="1">
                <a:solidFill>
                  <a:srgbClr val="FFFFFF"/>
                </a:solidFill>
                <a:latin typeface="Malgun Gothic"/>
              </a:rP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66175" y="3557016"/>
            <a:ext cx="3136391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90" b="0">
                <a:solidFill>
                  <a:srgbClr val="333333"/>
                </a:solidFill>
                <a:latin typeface="Malgun Gothic"/>
              </a:rPr>
              <a:t>SUP-BDC-A 매핑
BDC_FUNC_032 연결
API Contract 영향 없음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92" y="4489704"/>
            <a:ext cx="345643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1792" y="4489704"/>
            <a:ext cx="3456432" cy="34747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31520" y="4576572"/>
            <a:ext cx="256032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" y="4562856"/>
            <a:ext cx="2221991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Malgun Gothic"/>
              </a:rPr>
              <a:t>Safety / Security Gate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36976" y="4553712"/>
            <a:ext cx="713232" cy="246888"/>
          </a:xfrm>
          <a:prstGeom prst="roundRect">
            <a:avLst/>
          </a:prstGeom>
          <a:solidFill>
            <a:srgbClr val="1F8A45"/>
          </a:solidFill>
          <a:ln w="12700">
            <a:solidFill>
              <a:srgbClr val="1F8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70" b="1">
                <a:solidFill>
                  <a:srgbClr val="FFFFFF"/>
                </a:solidFill>
                <a:latin typeface="Malgun Gothic"/>
              </a:rPr>
              <a:t>PASS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" y="4965192"/>
            <a:ext cx="3136391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90" b="0">
                <a:solidFill>
                  <a:srgbClr val="333333"/>
                </a:solidFill>
                <a:latin typeface="Malgun Gothic"/>
              </a:rPr>
              <a:t>Safety: QM → 추가 승인 N/A
Security: Medium
Integrity Check 필요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361688" y="4489704"/>
            <a:ext cx="345643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61688" y="4489704"/>
            <a:ext cx="3456432" cy="34747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471416" y="4576572"/>
            <a:ext cx="256032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91455" y="4562856"/>
            <a:ext cx="2221991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Malgun Gothic"/>
              </a:rPr>
              <a:t>OTA Gate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976871" y="4553712"/>
            <a:ext cx="713232" cy="246888"/>
          </a:xfrm>
          <a:prstGeom prst="roundRect">
            <a:avLst/>
          </a:prstGeom>
          <a:solidFill>
            <a:srgbClr val="1F8A45"/>
          </a:solidFill>
          <a:ln w="12700">
            <a:solidFill>
              <a:srgbClr val="1F8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70" b="1">
                <a:solidFill>
                  <a:srgbClr val="FFFFFF"/>
                </a:solidFill>
                <a:latin typeface="Malgun Gothic"/>
              </a:rPr>
              <a:t>PASS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26279" y="4965192"/>
            <a:ext cx="3136391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90" b="0">
                <a:solidFill>
                  <a:srgbClr val="333333"/>
                </a:solidFill>
                <a:latin typeface="Malgun Gothic"/>
              </a:rPr>
              <a:t>Policy-only Deploy 확정
Binary OTA 불필요
배포 채널 설정 완료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101583" y="4489704"/>
            <a:ext cx="345643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101583" y="4489704"/>
            <a:ext cx="3456432" cy="34747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211311" y="4576572"/>
            <a:ext cx="256032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31352" y="4562856"/>
            <a:ext cx="2221991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Malgun Gothic"/>
              </a:rPr>
              <a:t>Operations Gate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716767" y="4553712"/>
            <a:ext cx="713232" cy="246888"/>
          </a:xfrm>
          <a:prstGeom prst="roundRect">
            <a:avLst/>
          </a:prstGeom>
          <a:solidFill>
            <a:srgbClr val="1F8A45"/>
          </a:solidFill>
          <a:ln w="12700">
            <a:solidFill>
              <a:srgbClr val="1F8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70" b="1">
                <a:solidFill>
                  <a:srgbClr val="FFFFFF"/>
                </a:solidFill>
                <a:latin typeface="Malgun Gothic"/>
              </a:rPr>
              <a:t>PASS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66175" y="4965192"/>
            <a:ext cx="3136391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90" b="0">
                <a:solidFill>
                  <a:srgbClr val="333333"/>
                </a:solidFill>
                <a:latin typeface="Malgun Gothic"/>
              </a:rPr>
              <a:t>TEL-BDC-001 연결
Audit Log 설정
Alert Rule 준비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1792" y="5824728"/>
            <a:ext cx="10917936" cy="502920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1248" y="5943600"/>
            <a:ext cx="1600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Malgun Gothic"/>
              </a:rPr>
              <a:t>Gate Decision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468880" y="5943600"/>
            <a:ext cx="3749039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00" b="1">
                <a:solidFill>
                  <a:srgbClr val="FFD400"/>
                </a:solidFill>
                <a:latin typeface="Malgun Gothic"/>
              </a:rPr>
              <a:t>Production 활성화 보류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57800" y="5943600"/>
            <a:ext cx="53949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80" b="0">
                <a:solidFill>
                  <a:srgbClr val="D8E5FF"/>
                </a:solidFill>
                <a:latin typeface="Malgun Gothic"/>
              </a:rPr>
              <a:t>조건: OTA Rollback Test 완료 후 Verification Gate 재평가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561320" y="5925312"/>
            <a:ext cx="667512" cy="228600"/>
          </a:xfrm>
          <a:prstGeom prst="roundRect">
            <a:avLst/>
          </a:prstGeom>
          <a:solidFill>
            <a:srgbClr val="FFD400"/>
          </a:solidFill>
          <a:ln w="12700">
            <a:solidFill>
              <a:srgbClr val="FFD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20" b="1">
                <a:solidFill>
                  <a:srgbClr val="002060"/>
                </a:solidFill>
                <a:latin typeface="Malgun Gothic"/>
              </a:rPr>
              <a:t>HOLD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1792" y="6510528"/>
            <a:ext cx="18288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Malgun Gothic"/>
              </a:rPr>
              <a:t>Mutuus Lab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26880" y="6510528"/>
            <a:ext cx="219456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333333"/>
                </a:solidFill>
                <a:latin typeface="Malgun Gothic"/>
              </a:rPr>
              <a:t>Feature Topology 설계안</a:t>
            </a:r>
          </a:p>
        </p:txBody>
      </p:sp>
      <p:sp>
        <p:nvSpPr>
          <p:cNvPr id="72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ISO/IEC/IEEE 29148 검증 원칙; ISO 26262:2018; ISO/SAE 21434:2021; ISO 24089:2023.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28600"/>
            <a:ext cx="50292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700" b="0">
                <a:solidFill>
                  <a:srgbClr val="7CA7D9"/>
                </a:solidFill>
                <a:latin typeface="Malgun Gothic"/>
              </a:rPr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73736"/>
            <a:ext cx="64922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algun Gothic"/>
              </a:rPr>
              <a:t>Feature Lifecycle &amp; Governance 원칙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29800" y="274320"/>
            <a:ext cx="11887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1">
                <a:solidFill>
                  <a:srgbClr val="B8C9DF"/>
                </a:solidFill>
                <a:latin typeface="Malgun Gothic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74320"/>
            <a:ext cx="329184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950976"/>
            <a:ext cx="85039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40" b="1">
                <a:solidFill>
                  <a:srgbClr val="002060"/>
                </a:solidFill>
                <a:latin typeface="Malgun Gothic"/>
              </a:rPr>
              <a:t>Feature는 생애주기 상태와 Governance Rule을 함께 관리해야 Production 활성화가 가능하다.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216152"/>
            <a:ext cx="8138160" cy="210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60" b="0">
                <a:solidFill>
                  <a:srgbClr val="333333"/>
                </a:solidFill>
                <a:latin typeface="Malgun Gothic"/>
              </a:rPr>
              <a:t>상태 전이는 Gate 통과, Traceability 완성, Baseline 기록, 승인 이력 확보를 전제로 한다.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987552"/>
            <a:ext cx="2395728" cy="384048"/>
          </a:xfrm>
          <a:prstGeom prst="roundRect">
            <a:avLst/>
          </a:prstGeom>
          <a:solidFill>
            <a:srgbClr val="ECF7EF"/>
          </a:solidFill>
          <a:ln w="12700">
            <a:solidFill>
              <a:srgbClr val="1F8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40" b="1">
                <a:solidFill>
                  <a:srgbClr val="1F8A45"/>
                </a:solidFill>
                <a:latin typeface="Malgun Gothic"/>
              </a:rPr>
              <a:t>Released 상태에서만 Production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627632"/>
            <a:ext cx="1828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1">
                <a:solidFill>
                  <a:srgbClr val="002060"/>
                </a:solidFill>
                <a:latin typeface="Malgun Gothic"/>
              </a:rPr>
              <a:t>Feature Lifecycle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1965960"/>
            <a:ext cx="16002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066543"/>
            <a:ext cx="149047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30" b="1">
                <a:solidFill>
                  <a:srgbClr val="002060"/>
                </a:solidFill>
                <a:latin typeface="Malgun Gothic"/>
              </a:rPr>
              <a:t>Proposed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22576"/>
            <a:ext cx="145389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640" b="0">
                <a:solidFill>
                  <a:srgbClr val="333333"/>
                </a:solidFill>
                <a:latin typeface="Malgun Gothic"/>
              </a:rPr>
              <a:t>요청·후보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49424" y="2276856"/>
            <a:ext cx="2286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523744" y="1965960"/>
            <a:ext cx="16002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78608" y="2066543"/>
            <a:ext cx="149047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30" b="1">
                <a:solidFill>
                  <a:srgbClr val="002060"/>
                </a:solidFill>
                <a:latin typeface="Malgun Gothic"/>
              </a:rPr>
              <a:t>Approved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2322576"/>
            <a:ext cx="145389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640" b="0">
                <a:solidFill>
                  <a:srgbClr val="333333"/>
                </a:solidFill>
                <a:latin typeface="Malgun Gothic"/>
              </a:rPr>
              <a:t>등록·승인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51376" y="2276856"/>
            <a:ext cx="2286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425696" y="1965960"/>
            <a:ext cx="16002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59" y="2066543"/>
            <a:ext cx="149047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30" b="1">
                <a:solidFill>
                  <a:srgbClr val="002060"/>
                </a:solidFill>
                <a:latin typeface="Malgun Gothic"/>
              </a:rPr>
              <a:t>Developing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2322576"/>
            <a:ext cx="145389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640" b="0">
                <a:solidFill>
                  <a:srgbClr val="333333"/>
                </a:solidFill>
                <a:latin typeface="Malgun Gothic"/>
              </a:rPr>
              <a:t>구현·연계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53328" y="2276856"/>
            <a:ext cx="2286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27648" y="1965960"/>
            <a:ext cx="16002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2066543"/>
            <a:ext cx="149047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30" b="1">
                <a:solidFill>
                  <a:srgbClr val="002060"/>
                </a:solidFill>
                <a:latin typeface="Malgun Gothic"/>
              </a:rPr>
              <a:t>Verified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322576"/>
            <a:ext cx="145389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640" b="0">
                <a:solidFill>
                  <a:srgbClr val="333333"/>
                </a:solidFill>
                <a:latin typeface="Malgun Gothic"/>
              </a:rPr>
              <a:t>검증 완료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955279" y="2276856"/>
            <a:ext cx="2286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229600" y="1965960"/>
            <a:ext cx="1600200" cy="621792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84464" y="2066543"/>
            <a:ext cx="149047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30" b="1">
                <a:solidFill>
                  <a:srgbClr val="FFFFFF"/>
                </a:solidFill>
                <a:latin typeface="Malgun Gothic"/>
              </a:rPr>
              <a:t>Released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2322576"/>
            <a:ext cx="145389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640" b="0">
                <a:solidFill>
                  <a:srgbClr val="333333"/>
                </a:solidFill>
                <a:latin typeface="Malgun Gothic"/>
              </a:rPr>
              <a:t>운영 적용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57232" y="2276856"/>
            <a:ext cx="2286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131552" y="1965960"/>
            <a:ext cx="1600200" cy="62179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86416" y="2066543"/>
            <a:ext cx="149047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30" b="1">
                <a:solidFill>
                  <a:srgbClr val="333333"/>
                </a:solidFill>
                <a:latin typeface="Malgun Gothic"/>
              </a:rPr>
              <a:t>Retired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04704" y="2322576"/>
            <a:ext cx="145389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640" b="0">
                <a:solidFill>
                  <a:srgbClr val="333333"/>
                </a:solidFill>
                <a:latin typeface="Malgun Gothic"/>
              </a:rPr>
              <a:t>폐기·전환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" y="2770632"/>
            <a:ext cx="10917936" cy="420624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2880360"/>
            <a:ext cx="14173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20" b="1">
                <a:solidFill>
                  <a:srgbClr val="002060"/>
                </a:solidFill>
                <a:latin typeface="Malgun Gothic"/>
              </a:rPr>
              <a:t>State Transition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40280" y="2880360"/>
            <a:ext cx="66294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20" b="0">
                <a:solidFill>
                  <a:srgbClr val="333333"/>
                </a:solidFill>
                <a:latin typeface="Malgun Gothic"/>
              </a:rPr>
              <a:t>Gate 통과 · Owner 승인 · ChangeSet 기록 · Baseline 갱신 · Evidence 연결이 완료되어야 다음 상태로 전이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81160" y="2866644"/>
            <a:ext cx="1947672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90" b="1">
                <a:solidFill>
                  <a:srgbClr val="002060"/>
                </a:solidFill>
                <a:latin typeface="Malgun Gothic"/>
              </a:rPr>
              <a:t>Lifecycle Event = Audit 대상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3401568"/>
            <a:ext cx="237744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1">
                <a:solidFill>
                  <a:srgbClr val="002060"/>
                </a:solidFill>
                <a:latin typeface="Malgun Gothic"/>
              </a:rPr>
              <a:t>Governance 핵심 원칙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" y="3749039"/>
            <a:ext cx="2615184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13232" y="3858768"/>
            <a:ext cx="301752" cy="256032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3831335"/>
            <a:ext cx="2029967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1">
                <a:solidFill>
                  <a:srgbClr val="002060"/>
                </a:solidFill>
                <a:latin typeface="Malgun Gothic"/>
              </a:rPr>
              <a:t>Feature ID 기반 통합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4059935"/>
            <a:ext cx="2029967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25" b="0">
                <a:solidFill>
                  <a:srgbClr val="333333"/>
                </a:solidFill>
                <a:latin typeface="Malgun Gothic"/>
              </a:rPr>
              <a:t>요구사항·SWC·ECU·API·Test·Supplier를 Feature ID로 연결한다.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92424" y="3749039"/>
            <a:ext cx="2615184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483864" y="3858768"/>
            <a:ext cx="301752" cy="256032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67912" y="3831335"/>
            <a:ext cx="2029967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1">
                <a:solidFill>
                  <a:srgbClr val="002060"/>
                </a:solidFill>
                <a:latin typeface="Malgun Gothic"/>
              </a:rPr>
              <a:t>Flag ≠ Feature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67912" y="4059935"/>
            <a:ext cx="2029967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25" b="0">
                <a:solidFill>
                  <a:srgbClr val="333333"/>
                </a:solidFill>
                <a:latin typeface="Malgun Gothic"/>
              </a:rPr>
              <a:t>Flag는 Feature를 제어하는 Control Point이며 Feature로 관리하지 않는다.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63055" y="3749039"/>
            <a:ext cx="2615184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254495" y="3858768"/>
            <a:ext cx="301752" cy="256032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38544" y="3831335"/>
            <a:ext cx="2029967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1">
                <a:solidFill>
                  <a:srgbClr val="002060"/>
                </a:solidFill>
                <a:latin typeface="Malgun Gothic"/>
              </a:rPr>
              <a:t>BOM Baseline 관리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38544" y="4059935"/>
            <a:ext cx="2029967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25" b="0">
                <a:solidFill>
                  <a:srgbClr val="333333"/>
                </a:solidFill>
                <a:latin typeface="Malgun Gothic"/>
              </a:rPr>
              <a:t>Feature BOM 변경은 ChangeSet으로 기록하고 Baseline을 관리한다.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33688" y="3749039"/>
            <a:ext cx="2615184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025128" y="3858768"/>
            <a:ext cx="301752" cy="256032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09176" y="3831335"/>
            <a:ext cx="2029967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1">
                <a:solidFill>
                  <a:srgbClr val="002060"/>
                </a:solidFill>
                <a:latin typeface="Malgun Gothic"/>
              </a:rPr>
              <a:t>변경 전 영향도 판단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09176" y="4059935"/>
            <a:ext cx="2029967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25" b="0">
                <a:solidFill>
                  <a:srgbClr val="333333"/>
                </a:solidFill>
                <a:latin typeface="Malgun Gothic"/>
              </a:rPr>
              <a:t>변경 요청 시 Topology 기반으로 영향 범위를 산출한 후 진행한다.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792" y="4617720"/>
            <a:ext cx="2615184" cy="713232"/>
          </a:xfrm>
          <a:prstGeom prst="roundRect">
            <a:avLst/>
          </a:prstGeom>
          <a:solidFill>
            <a:srgbClr val="FCF1EA"/>
          </a:solidFill>
          <a:ln w="12700">
            <a:solidFill>
              <a:srgbClr val="D96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13232" y="4727448"/>
            <a:ext cx="301752" cy="256032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" y="4700016"/>
            <a:ext cx="2029967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1">
                <a:solidFill>
                  <a:srgbClr val="002060"/>
                </a:solidFill>
                <a:latin typeface="Malgun Gothic"/>
              </a:rPr>
              <a:t>Safe Default 필수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7280" y="4928616"/>
            <a:ext cx="2029967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25" b="0">
                <a:solidFill>
                  <a:srgbClr val="333333"/>
                </a:solidFill>
                <a:latin typeface="Malgun Gothic"/>
              </a:rPr>
              <a:t>Runtime Control Feature는 Safe Default와 Rollback Plan을 반드시 정의한다.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392424" y="4617720"/>
            <a:ext cx="2615184" cy="713232"/>
          </a:xfrm>
          <a:prstGeom prst="roundRect">
            <a:avLst/>
          </a:prstGeom>
          <a:solidFill>
            <a:srgbClr val="FCF1EA"/>
          </a:solidFill>
          <a:ln w="12700">
            <a:solidFill>
              <a:srgbClr val="D96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3483864" y="4727448"/>
            <a:ext cx="301752" cy="256032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67912" y="4700016"/>
            <a:ext cx="2029967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1">
                <a:solidFill>
                  <a:srgbClr val="002060"/>
                </a:solidFill>
                <a:latin typeface="Malgun Gothic"/>
              </a:rPr>
              <a:t>Gate 기반 배포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67912" y="4928616"/>
            <a:ext cx="2029967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25" b="0">
                <a:solidFill>
                  <a:srgbClr val="333333"/>
                </a:solidFill>
                <a:latin typeface="Malgun Gothic"/>
              </a:rPr>
              <a:t>9개 Release Readiness Gate 통과 후 Production 활성화를 허용한다.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163055" y="4617720"/>
            <a:ext cx="2615184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254495" y="4727448"/>
            <a:ext cx="301752" cy="256032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38544" y="4700016"/>
            <a:ext cx="2029967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1">
                <a:solidFill>
                  <a:srgbClr val="002060"/>
                </a:solidFill>
                <a:latin typeface="Malgun Gothic"/>
              </a:rPr>
              <a:t>Supplier 계약 패키지화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38544" y="4928616"/>
            <a:ext cx="2029967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25" b="0">
                <a:solidFill>
                  <a:srgbClr val="333333"/>
                </a:solidFill>
                <a:latin typeface="Malgun Gothic"/>
              </a:rPr>
              <a:t>협력사 API/사양은 Feature ID 기반 검증 가능한 Package로 관리한다.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933688" y="4617720"/>
            <a:ext cx="2615184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025128" y="4727448"/>
            <a:ext cx="301752" cy="256032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09176" y="4700016"/>
            <a:ext cx="2029967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1">
                <a:solidFill>
                  <a:srgbClr val="002060"/>
                </a:solidFill>
                <a:latin typeface="Malgun Gothic"/>
              </a:rPr>
              <a:t>Telemetry 연결 필수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409176" y="4928616"/>
            <a:ext cx="2029967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25" b="0">
                <a:solidFill>
                  <a:srgbClr val="333333"/>
                </a:solidFill>
                <a:latin typeface="Malgun Gothic"/>
              </a:rPr>
              <a:t>Released Feature는 Telemetry/Audit 연결 없이 운영 상태로 방치하지 않는다.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21792" y="5596128"/>
            <a:ext cx="10917936" cy="548640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41248" y="5742432"/>
            <a:ext cx="1417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Malgun Gothic"/>
              </a:rPr>
              <a:t>운영 기준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12848" y="5742432"/>
            <a:ext cx="493776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0">
                <a:solidFill>
                  <a:srgbClr val="D8E5FF"/>
                </a:solidFill>
                <a:latin typeface="Malgun Gothic"/>
              </a:rPr>
              <a:t>Lifecycle 상태 · BOM Baseline · Gate Evidence · Audit Log를 하나의 Feature Record에 통합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498079" y="5705856"/>
            <a:ext cx="960120" cy="256032"/>
          </a:xfrm>
          <a:prstGeom prst="roundRect">
            <a:avLst/>
          </a:prstGeom>
          <a:solidFill>
            <a:srgbClr val="FFD400"/>
          </a:solidFill>
          <a:ln w="12700">
            <a:solidFill>
              <a:srgbClr val="FFD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00" b="1">
                <a:solidFill>
                  <a:srgbClr val="002060"/>
                </a:solidFill>
                <a:latin typeface="Malgun Gothic"/>
              </a:rPr>
              <a:t>Governed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622792" y="5742432"/>
            <a:ext cx="23317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Malgun Gothic"/>
              </a:rPr>
              <a:t>Production 변경은 Trace 가능한 절차로만 허용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1792" y="6510528"/>
            <a:ext cx="18288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Malgun Gothic"/>
              </a:rPr>
              <a:t>Mutuus Lab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326880" y="6510528"/>
            <a:ext cx="219456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333333"/>
                </a:solidFill>
                <a:latin typeface="Malgun Gothic"/>
              </a:rPr>
              <a:t>Feature Topology 설계안</a:t>
            </a:r>
          </a:p>
        </p:txBody>
      </p:sp>
      <p:sp>
        <p:nvSpPr>
          <p:cNvPr id="79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ISO/IEC/IEEE 29148:2018; ISO 24089:2023; OpenFeature Lifecycle 개념; Mutuus Lab Governance 모델.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472C4"/>
                </a:solidFill>
                <a:latin typeface="Hyundai Sans Head Pro Medium" pitchFamily="34" charset="0"/>
                <a:ea typeface="Hyundai Sans Head Pro Medium" pitchFamily="34" charset="-122"/>
                <a:cs typeface="Hyundai Sans Head Pro Medium" pitchFamily="34" charset="-120"/>
              </a:rPr>
              <a:t>C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 Topology 도입 전 vs 후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822960"/>
            <a:ext cx="50292" cy="3200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94360" y="79552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Topology가 없을 때의 문제점과 도입 후 기대 효과를 비교한다.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1508760"/>
            <a:ext cx="11155680" cy="43891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02920" y="15087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구분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514600" y="1508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Before (Topology 없음)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086600" y="1508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After (Topology 구축)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1947672"/>
            <a:ext cx="11155680" cy="59436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502920" y="1947672"/>
            <a:ext cx="2011680" cy="5943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기능 변경 영향도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514600" y="1947672"/>
            <a:ext cx="4572000" cy="5943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B241C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담당자 경험에 의존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B241C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누락 위험 상존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086600" y="1947672"/>
            <a:ext cx="4572000" cy="5943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7A3D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Topology Graph 기반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7A3D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자동 산출 → 누락 제로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" y="2542032"/>
            <a:ext cx="1115568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502920" y="2542032"/>
            <a:ext cx="2011680" cy="5943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검증 범위 결정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514600" y="2542032"/>
            <a:ext cx="4572000" cy="5943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B241C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수동 판단, 과잉/과소 검증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B241C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비용 낭비 또는 품질 리스크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086600" y="2542032"/>
            <a:ext cx="4572000" cy="5943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7A3D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조건별 자동 도출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7A3D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필수 Test만 정확히 수행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02920" y="3136392"/>
            <a:ext cx="11155680" cy="59436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502920" y="3136392"/>
            <a:ext cx="2011680" cy="5943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배포 방식 판단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514600" y="3136392"/>
            <a:ext cx="4572000" cy="5943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B241C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Binary OTA 일괄 적용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B241C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불필요한 다운타임 발생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086600" y="3136392"/>
            <a:ext cx="4572000" cy="5943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7A3D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Policy-only 자동 판별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7A3D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Binary OTA 대비 70% 시간 단축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02920" y="3730752"/>
            <a:ext cx="1115568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502920" y="3730752"/>
            <a:ext cx="2011680" cy="5943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협력사 책임 범위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2514600" y="3730752"/>
            <a:ext cx="4572000" cy="5943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B241C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문서 기반 계약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B241C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책임 경계 불명확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086600" y="3730752"/>
            <a:ext cx="4572000" cy="5943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7A3D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ID 기반 자동 매핑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7A3D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책임 범위 · Gap 즉시 파악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02920" y="4325112"/>
            <a:ext cx="11155680" cy="59436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502920" y="4325112"/>
            <a:ext cx="2011680" cy="5943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 기준정보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2514600" y="4325112"/>
            <a:ext cx="4572000" cy="5943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B241C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조직마다 다른 명칭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B241C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중복 등록 · 추적 불가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086600" y="4325112"/>
            <a:ext cx="4572000" cy="5943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7A3D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Catalog 단일 Source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7A3D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Taxonomy 기반 통합 관리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502920" y="4919472"/>
            <a:ext cx="1115568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502920" y="4919472"/>
            <a:ext cx="2011680" cy="5943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운영 모니터링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2514600" y="4919472"/>
            <a:ext cx="4572000" cy="5943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B241C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장애 발생 후 수동 추적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B241C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복구 경로 불명확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7086600" y="4919472"/>
            <a:ext cx="4572000" cy="5943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7A3D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Telemetry 연결 · Alert 자동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7A3D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Rollback Plan 사전 정의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502920" y="6126480"/>
            <a:ext cx="11155680" cy="4572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결론 :  </a:t>
            </a:r>
            <a:r>
              <a:rPr lang="en-US" sz="1200" dirty="0">
                <a:solidFill>
                  <a:srgbClr val="FFFF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Topology 도입으로 </a:t>
            </a: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경험 의존 → 데이터 기반</a:t>
            </a:r>
            <a:r>
              <a:rPr lang="en-US" sz="1200" dirty="0">
                <a:solidFill>
                  <a:srgbClr val="FFFF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으로 전환하여 비용·위험·시간을 구조적으로 절감할 수 있다.</a:t>
            </a:r>
            <a:endParaRPr lang="en-US" sz="1300" dirty="0"/>
          </a:p>
        </p:txBody>
      </p:sp>
      <p:sp>
        <p:nvSpPr>
          <p:cNvPr id="40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Mutuus Lab 내부 분석 및 작업 가설; 정량 효과는 PoC 측정과 고객 Baseline 검증 필요.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472C4"/>
                </a:solidFill>
                <a:latin typeface="Hyundai Sans Head Pro Medium" pitchFamily="34" charset="0"/>
                <a:ea typeface="Hyundai Sans Head Pro Medium" pitchFamily="34" charset="-122"/>
                <a:cs typeface="Hyundai Sans Head Pro Medium" pitchFamily="34" charset="-120"/>
              </a:rPr>
              <a:t>D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Quick Win 연계 &amp; Action Items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822960"/>
            <a:ext cx="50292" cy="3200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94360" y="79552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Topology 설계가 현재 Quick Win 시나리오 및 향후 PoC/MVP와 어떻게 연결되는지 정리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Quick Win 시나리오 연계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" y="1920240"/>
            <a:ext cx="54864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502920" y="1920240"/>
            <a:ext cx="1005840" cy="10058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502920" y="19202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QW-2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2920" y="2423160"/>
            <a:ext cx="1005840" cy="50292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B0C4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Kill Switch 시나리오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645920" y="20116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Catalog 등록 → Policy/Flag 제어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→ Kill Switch 실행 → IVI 알림 → 복구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3035808"/>
            <a:ext cx="54864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502920" y="3035808"/>
            <a:ext cx="1005840" cy="10058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502920" y="303580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QW-12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02920" y="3538728"/>
            <a:ext cx="1005840" cy="50292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B0C4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In-Vehicle Feedback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645920" y="312724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Operations Dashboard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→ Telemetry Event 수집 → 사용자 피드백 연계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02920" y="4151376"/>
            <a:ext cx="54864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502920" y="4151376"/>
            <a:ext cx="1005840" cy="10058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502920" y="4151376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QW-15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02920" y="4654296"/>
            <a:ext cx="1005840" cy="50292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B0C4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Kill Switch 실증 (NIO)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645920" y="4242816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BOM 기반 영향도 분석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→ 246K 리콜 시나리오 대응 데모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21792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Action Items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217920" y="1920240"/>
            <a:ext cx="5394960" cy="38404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6217920" y="19202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#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583680" y="1920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Action Item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144000" y="19202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담당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0515600" y="19202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일정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217920" y="2304288"/>
            <a:ext cx="5394960" cy="38404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6217920" y="230428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583680" y="23042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Definition Guide 작성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9144000" y="23042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무투스랩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0515600" y="2304288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6월 1주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6217920" y="2688336"/>
            <a:ext cx="539496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6217920" y="268833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583680" y="2688336"/>
            <a:ext cx="256032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L0~L5 Taxonomy 초안 정의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9144000" y="26883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무투스랩 + HAE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10515600" y="2688336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6월 2주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6217920" y="3072384"/>
            <a:ext cx="5394960" cy="38404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0"/>
          <p:cNvSpPr/>
          <p:nvPr/>
        </p:nvSpPr>
        <p:spPr>
          <a:xfrm>
            <a:off x="6217920" y="307238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3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6583680" y="3072384"/>
            <a:ext cx="256032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BDC Quick Win Feature BOM 입력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9144000" y="3072384"/>
            <a:ext cx="13716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무투스랩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10515600" y="30723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6월 2주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6217920" y="3456432"/>
            <a:ext cx="539496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/>
          <p:nvPr/>
        </p:nvSpPr>
        <p:spPr>
          <a:xfrm>
            <a:off x="6217920" y="345643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4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6583680" y="34564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Catalog UI Wireframe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9144000" y="34564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무투스랩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10515600" y="3456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6월 3주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6217920" y="3840480"/>
            <a:ext cx="5394960" cy="38404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0"/>
          <p:cNvSpPr/>
          <p:nvPr/>
        </p:nvSpPr>
        <p:spPr>
          <a:xfrm>
            <a:off x="6217920" y="38404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5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6583680" y="3840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Topology Graph PoC 구현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9144000" y="38404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무투스랩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10515600" y="38404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6월 4주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6217920" y="4224528"/>
            <a:ext cx="539496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5"/>
          <p:cNvSpPr/>
          <p:nvPr/>
        </p:nvSpPr>
        <p:spPr>
          <a:xfrm>
            <a:off x="6217920" y="422452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6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6583680" y="42245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Kill Switch E2E Demo (QW-2)</a:t>
            </a:r>
            <a:endParaRPr lang="en-US" sz="1200" dirty="0"/>
          </a:p>
        </p:txBody>
      </p:sp>
      <p:sp>
        <p:nvSpPr>
          <p:cNvPr id="60" name="Text 57"/>
          <p:cNvSpPr/>
          <p:nvPr/>
        </p:nvSpPr>
        <p:spPr>
          <a:xfrm>
            <a:off x="9144000" y="42245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무투스랩 + HMC</a:t>
            </a:r>
            <a:endParaRPr lang="en-US" sz="1200" dirty="0"/>
          </a:p>
        </p:txBody>
      </p:sp>
      <p:sp>
        <p:nvSpPr>
          <p:cNvPr id="61" name="Text 58"/>
          <p:cNvSpPr/>
          <p:nvPr/>
        </p:nvSpPr>
        <p:spPr>
          <a:xfrm>
            <a:off x="10515600" y="42245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6/18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6217920" y="4608576"/>
            <a:ext cx="5394960" cy="38404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0"/>
          <p:cNvSpPr/>
          <p:nvPr/>
        </p:nvSpPr>
        <p:spPr>
          <a:xfrm>
            <a:off x="6217920" y="460857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7</a:t>
            </a:r>
            <a:endParaRPr lang="en-US" sz="1200" dirty="0"/>
          </a:p>
        </p:txBody>
      </p:sp>
      <p:sp>
        <p:nvSpPr>
          <p:cNvPr id="64" name="Text 61"/>
          <p:cNvSpPr/>
          <p:nvPr/>
        </p:nvSpPr>
        <p:spPr>
          <a:xfrm>
            <a:off x="6583680" y="4608576"/>
            <a:ext cx="256032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현업 부서 설명·설득 자료 배포</a:t>
            </a:r>
            <a:endParaRPr lang="en-US" sz="1200" dirty="0"/>
          </a:p>
        </p:txBody>
      </p:sp>
      <p:sp>
        <p:nvSpPr>
          <p:cNvPr id="65" name="Text 62"/>
          <p:cNvSpPr/>
          <p:nvPr/>
        </p:nvSpPr>
        <p:spPr>
          <a:xfrm>
            <a:off x="9144000" y="4608576"/>
            <a:ext cx="13716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HAE</a:t>
            </a:r>
            <a:endParaRPr lang="en-US" sz="1200" dirty="0"/>
          </a:p>
        </p:txBody>
      </p:sp>
      <p:sp>
        <p:nvSpPr>
          <p:cNvPr id="66" name="Text 63"/>
          <p:cNvSpPr/>
          <p:nvPr/>
        </p:nvSpPr>
        <p:spPr>
          <a:xfrm>
            <a:off x="10515600" y="4608576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6월 중</a:t>
            </a:r>
            <a:endParaRPr lang="en-US" sz="1200" dirty="0"/>
          </a:p>
        </p:txBody>
      </p:sp>
      <p:sp>
        <p:nvSpPr>
          <p:cNvPr id="67" name="Shape 64"/>
          <p:cNvSpPr/>
          <p:nvPr/>
        </p:nvSpPr>
        <p:spPr>
          <a:xfrm>
            <a:off x="6217920" y="4992624"/>
            <a:ext cx="539496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5"/>
          <p:cNvSpPr/>
          <p:nvPr/>
        </p:nvSpPr>
        <p:spPr>
          <a:xfrm>
            <a:off x="6217920" y="499262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8</a:t>
            </a:r>
            <a:endParaRPr lang="en-US" sz="1200" dirty="0"/>
          </a:p>
        </p:txBody>
      </p:sp>
      <p:sp>
        <p:nvSpPr>
          <p:cNvPr id="69" name="Text 66"/>
          <p:cNvSpPr/>
          <p:nvPr/>
        </p:nvSpPr>
        <p:spPr>
          <a:xfrm>
            <a:off x="6583680" y="4992624"/>
            <a:ext cx="256032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QW 추가 2건 시나리오 확정</a:t>
            </a:r>
            <a:endParaRPr lang="en-US" sz="1200" dirty="0"/>
          </a:p>
        </p:txBody>
      </p:sp>
      <p:sp>
        <p:nvSpPr>
          <p:cNvPr id="70" name="Text 67"/>
          <p:cNvSpPr/>
          <p:nvPr/>
        </p:nvSpPr>
        <p:spPr>
          <a:xfrm>
            <a:off x="9144000" y="4992624"/>
            <a:ext cx="13716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전원</a:t>
            </a:r>
            <a:endParaRPr lang="en-US" sz="1200" dirty="0"/>
          </a:p>
        </p:txBody>
      </p:sp>
      <p:sp>
        <p:nvSpPr>
          <p:cNvPr id="71" name="Text 68"/>
          <p:cNvSpPr/>
          <p:nvPr/>
        </p:nvSpPr>
        <p:spPr>
          <a:xfrm>
            <a:off x="10515600" y="4992624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7월 초</a:t>
            </a:r>
            <a:endParaRPr lang="en-US" sz="1200" dirty="0"/>
          </a:p>
        </p:txBody>
      </p:sp>
      <p:sp>
        <p:nvSpPr>
          <p:cNvPr id="72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Mutuus Lab Quick Win 시나리오; OpenFeature Spec; Unleash Kill-switch/Rollout 개념.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472C4"/>
                </a:solidFill>
                <a:latin typeface="Hyundai Sans Head Pro Medium" pitchFamily="34" charset="0"/>
                <a:ea typeface="Hyundai Sans Head Pro Medium" pitchFamily="34" charset="-122"/>
                <a:cs typeface="Hyundai Sans Head Pro Medium" pitchFamily="34" charset="-120"/>
              </a:rPr>
              <a:t>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Variant Matrix &amp; Rule Builder 예시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1475720" y="6382512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272784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153912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822960"/>
            <a:ext cx="50292" cy="3200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94360" y="79552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FEAT-BDC-001의 차량 적용 조건을 Matrix로 관리하고, Rule Builder로 조건식을 정의한다.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1463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Variant Applicability Matrix :  FEAT-BDC-001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" y="1920240"/>
            <a:ext cx="7635240" cy="38404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02920" y="19202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Platform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737360" y="1920240"/>
            <a:ext cx="82296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MY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560320" y="19202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Region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566160" y="19202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Trim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663440" y="19202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BDC HW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760720" y="19202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BDC SW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040880" y="19202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Status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02920" y="2304288"/>
            <a:ext cx="7635240" cy="38404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502920" y="2304288"/>
            <a:ext cx="123444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737360" y="2304288"/>
            <a:ext cx="82296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2027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560320" y="2304288"/>
            <a:ext cx="100584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KR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566160" y="2304288"/>
            <a:ext cx="109728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Premium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663440" y="2304288"/>
            <a:ext cx="109728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Gen3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760720" y="23042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≥ 3.2.0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040880" y="2304288"/>
            <a:ext cx="109728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7A3D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Allowed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02920" y="2688336"/>
            <a:ext cx="763524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502920" y="2688336"/>
            <a:ext cx="123444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737360" y="2688336"/>
            <a:ext cx="82296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2027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2560320" y="2688336"/>
            <a:ext cx="100584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EU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3566160" y="2688336"/>
            <a:ext cx="109728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Premium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663440" y="2688336"/>
            <a:ext cx="109728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Gen3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760720" y="2688336"/>
            <a:ext cx="128016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≥ 3.2.0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7040880" y="2688336"/>
            <a:ext cx="109728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7A3D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Allowed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02920" y="3072384"/>
            <a:ext cx="7635240" cy="38404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502920" y="3072384"/>
            <a:ext cx="123444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1737360" y="3072384"/>
            <a:ext cx="82296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2027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2560320" y="30723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US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3566160" y="30723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Premium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4663440" y="30723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Gen3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5760720" y="3072384"/>
            <a:ext cx="128016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≥ 3.2.0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7040880" y="30723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410E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Blocked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502920" y="3456432"/>
            <a:ext cx="763524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/>
          <p:nvPr/>
        </p:nvSpPr>
        <p:spPr>
          <a:xfrm>
            <a:off x="502920" y="3456432"/>
            <a:ext cx="123444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737360" y="3456432"/>
            <a:ext cx="82296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2026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2560320" y="3456432"/>
            <a:ext cx="100584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KR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3566160" y="3456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Premium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4663440" y="3456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Gen2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5760720" y="34564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2.x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7040880" y="3456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410E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Blocked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502920" y="3840480"/>
            <a:ext cx="7635240" cy="38404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9"/>
          <p:cNvSpPr/>
          <p:nvPr/>
        </p:nvSpPr>
        <p:spPr>
          <a:xfrm>
            <a:off x="502920" y="38404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1737360" y="3840480"/>
            <a:ext cx="82296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2028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2560320" y="38404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KR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3566160" y="38404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Standard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4663440" y="38404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Gen3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5760720" y="38404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≥ 3.2.0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7040880" y="38404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7A3D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Allowed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502920" y="4434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Rule Builder 조건식</a:t>
            </a:r>
            <a:endParaRPr lang="en-US" sz="1400" dirty="0"/>
          </a:p>
        </p:txBody>
      </p:sp>
      <p:sp>
        <p:nvSpPr>
          <p:cNvPr id="60" name="Shape 57"/>
          <p:cNvSpPr/>
          <p:nvPr/>
        </p:nvSpPr>
        <p:spPr>
          <a:xfrm>
            <a:off x="502920" y="4846320"/>
            <a:ext cx="7589520" cy="169164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8"/>
          <p:cNvSpPr/>
          <p:nvPr/>
        </p:nvSpPr>
        <p:spPr>
          <a:xfrm>
            <a:off x="685800" y="4937760"/>
            <a:ext cx="7223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6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 </a:t>
            </a:r>
            <a:r>
              <a:rPr lang="en-US" sz="1300" dirty="0">
                <a:solidFill>
                  <a:srgbClr val="66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r>
              <a:rPr lang="en-US" sz="1300" dirty="0">
                <a:solidFill>
                  <a:srgbClr val="77DD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[KR, EU]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6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modelYear </a:t>
            </a:r>
            <a:r>
              <a:rPr lang="en-US" sz="1300" dirty="0">
                <a:solidFill>
                  <a:srgbClr val="66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 </a:t>
            </a:r>
            <a:r>
              <a:rPr lang="en-US" sz="13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2027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6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trim </a:t>
            </a:r>
            <a:r>
              <a:rPr lang="en-US" sz="1300" dirty="0">
                <a:solidFill>
                  <a:srgbClr val="66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r>
              <a:rPr lang="en-US" sz="1300" dirty="0">
                <a:solidFill>
                  <a:srgbClr val="77DD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[Premium]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6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bdc.hw.generation </a:t>
            </a:r>
            <a:r>
              <a:rPr lang="en-US" sz="1300" dirty="0">
                <a:solidFill>
                  <a:srgbClr val="66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</a:t>
            </a:r>
            <a:r>
              <a:rPr lang="en-US" sz="13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Gen3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6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bdc.sw.version </a:t>
            </a:r>
            <a:r>
              <a:rPr lang="en-US" sz="1300" dirty="0">
                <a:solidFill>
                  <a:srgbClr val="66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 </a:t>
            </a:r>
            <a:r>
              <a:rPr lang="en-US" sz="13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3.2.0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applicability = </a:t>
            </a:r>
            <a:r>
              <a:rPr lang="en-US" sz="1300" dirty="0">
                <a:solidFill>
                  <a:srgbClr val="77DD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applicability = </a:t>
            </a:r>
            <a:r>
              <a:rPr lang="en-US" sz="1300" dirty="0">
                <a:solidFill>
                  <a:srgbClr val="FF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blocked</a:t>
            </a:r>
            <a:endParaRPr lang="en-US" sz="1300" dirty="0"/>
          </a:p>
        </p:txBody>
      </p:sp>
      <p:sp>
        <p:nvSpPr>
          <p:cNvPr id="62" name="Text 59"/>
          <p:cNvSpPr/>
          <p:nvPr/>
        </p:nvSpPr>
        <p:spPr>
          <a:xfrm>
            <a:off x="8412480" y="4434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필수 UI 기능</a:t>
            </a:r>
            <a:endParaRPr lang="en-US" sz="1400" dirty="0"/>
          </a:p>
        </p:txBody>
      </p:sp>
      <p:sp>
        <p:nvSpPr>
          <p:cNvPr id="63" name="Text 60"/>
          <p:cNvSpPr/>
          <p:nvPr/>
        </p:nvSpPr>
        <p:spPr>
          <a:xfrm>
            <a:off x="8412480" y="4846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Matrix View</a:t>
            </a:r>
            <a:endParaRPr lang="en-US" sz="1200" dirty="0"/>
          </a:p>
        </p:txBody>
      </p:sp>
      <p:sp>
        <p:nvSpPr>
          <p:cNvPr id="64" name="Text 61"/>
          <p:cNvSpPr/>
          <p:nvPr/>
        </p:nvSpPr>
        <p:spPr>
          <a:xfrm>
            <a:off x="10104120" y="4846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× Variant 조건 표시</a:t>
            </a:r>
            <a:endParaRPr lang="en-US" sz="1200" dirty="0"/>
          </a:p>
        </p:txBody>
      </p:sp>
      <p:sp>
        <p:nvSpPr>
          <p:cNvPr id="65" name="Text 62"/>
          <p:cNvSpPr/>
          <p:nvPr/>
        </p:nvSpPr>
        <p:spPr>
          <a:xfrm>
            <a:off x="8412480" y="51206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Rule Builder</a:t>
            </a:r>
            <a:endParaRPr lang="en-US" sz="1200" dirty="0"/>
          </a:p>
        </p:txBody>
      </p:sp>
      <p:sp>
        <p:nvSpPr>
          <p:cNvPr id="66" name="Text 63"/>
          <p:cNvSpPr/>
          <p:nvPr/>
        </p:nvSpPr>
        <p:spPr>
          <a:xfrm>
            <a:off x="10104120" y="5120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조건식 기반 적용 규칙</a:t>
            </a:r>
            <a:endParaRPr lang="en-US" sz="1200" dirty="0"/>
          </a:p>
        </p:txBody>
      </p:sp>
      <p:sp>
        <p:nvSpPr>
          <p:cNvPr id="67" name="Text 64"/>
          <p:cNvSpPr/>
          <p:nvPr/>
        </p:nvSpPr>
        <p:spPr>
          <a:xfrm>
            <a:off x="8412480" y="53949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Capability Check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10104120" y="5394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ECU/HW/SW 자동 확인</a:t>
            </a:r>
            <a:endParaRPr lang="en-US" sz="1200" dirty="0"/>
          </a:p>
        </p:txBody>
      </p:sp>
      <p:sp>
        <p:nvSpPr>
          <p:cNvPr id="69" name="Text 66"/>
          <p:cNvSpPr/>
          <p:nvPr/>
        </p:nvSpPr>
        <p:spPr>
          <a:xfrm>
            <a:off x="8412480" y="56692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Conflict Detection</a:t>
            </a:r>
            <a:endParaRPr lang="en-US" sz="1200" dirty="0"/>
          </a:p>
        </p:txBody>
      </p:sp>
      <p:sp>
        <p:nvSpPr>
          <p:cNvPr id="70" name="Text 67"/>
          <p:cNvSpPr/>
          <p:nvPr/>
        </p:nvSpPr>
        <p:spPr>
          <a:xfrm>
            <a:off x="10104120" y="5669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충돌 Rule 탐지</a:t>
            </a:r>
            <a:endParaRPr lang="en-US" sz="1200" dirty="0"/>
          </a:p>
        </p:txBody>
      </p:sp>
      <p:sp>
        <p:nvSpPr>
          <p:cNvPr id="71" name="Text 68"/>
          <p:cNvSpPr/>
          <p:nvPr/>
        </p:nvSpPr>
        <p:spPr>
          <a:xfrm>
            <a:off x="8412480" y="58338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Cohort Preview</a:t>
            </a:r>
            <a:endParaRPr lang="en-US" sz="1200" dirty="0"/>
          </a:p>
        </p:txBody>
      </p:sp>
      <p:sp>
        <p:nvSpPr>
          <p:cNvPr id="72" name="Text 69"/>
          <p:cNvSpPr/>
          <p:nvPr/>
        </p:nvSpPr>
        <p:spPr>
          <a:xfrm>
            <a:off x="10104120" y="5833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대상 차량 수 미리보기</a:t>
            </a:r>
            <a:endParaRPr lang="en-US" sz="1200" dirty="0"/>
          </a:p>
        </p:txBody>
      </p:sp>
      <p:sp>
        <p:nvSpPr>
          <p:cNvPr id="73" name="Text 70"/>
          <p:cNvSpPr/>
          <p:nvPr/>
        </p:nvSpPr>
        <p:spPr>
          <a:xfrm>
            <a:off x="8412480" y="61081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Export to Policy</a:t>
            </a:r>
            <a:endParaRPr lang="en-US" sz="1200" dirty="0"/>
          </a:p>
        </p:txBody>
      </p:sp>
      <p:sp>
        <p:nvSpPr>
          <p:cNvPr id="74" name="Text 71"/>
          <p:cNvSpPr/>
          <p:nvPr/>
        </p:nvSpPr>
        <p:spPr>
          <a:xfrm>
            <a:off x="10104120" y="6108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Runtime Policy 변환</a:t>
            </a:r>
            <a:endParaRPr lang="en-US" sz="1200" dirty="0"/>
          </a:p>
        </p:txBody>
      </p:sp>
      <p:sp>
        <p:nvSpPr>
          <p:cNvPr id="75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Feature Modeling/FODA; OpenFeature Evaluation Context; Unleash Constraints/Segments; Mutuus Lab Variant 모델.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472C4"/>
                </a:solidFill>
                <a:latin typeface="Hyundai Sans Head Pro Medium" pitchFamily="34" charset="0"/>
                <a:ea typeface="Hyundai Sans Head Pro Medium" pitchFamily="34" charset="-122"/>
                <a:cs typeface="Hyundai Sans Head Pro Medium" pitchFamily="34" charset="-120"/>
              </a:rPr>
              <a:t>F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핵심 용어 정의 (Glossary)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822960"/>
            <a:ext cx="50292" cy="3200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94360" y="79552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Topology 설계안에서 사용하는 핵심 용어의 정의를 정리한다.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1508760"/>
            <a:ext cx="11155680" cy="33832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02920" y="1508760"/>
            <a:ext cx="228600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용어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788920" y="1508760"/>
            <a:ext cx="886968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정의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2920" y="1847088"/>
            <a:ext cx="11155680" cy="33832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02920" y="1847088"/>
            <a:ext cx="228600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788920" y="1847088"/>
            <a:ext cx="886968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고객/차량 동작 관점에서 식별 가능한 기능 단위. 요구사항·검증·배포·책임을 독립 관리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2185416"/>
            <a:ext cx="1115568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02920" y="2185416"/>
            <a:ext cx="228600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 Taxonomy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788920" y="2185416"/>
            <a:ext cx="886968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Feature를 L0~L5로 분류·계층화하는 체계. 기준 Feature = L2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02920" y="2523744"/>
            <a:ext cx="11155680" cy="33832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502920" y="2523744"/>
            <a:ext cx="228600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 BOM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788920" y="2523744"/>
            <a:ext cx="886968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Feature를 실현하기 위한 11개 영역의 구성 목록 (요구사항~운영)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02920" y="2862072"/>
            <a:ext cx="1115568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502920" y="2862072"/>
            <a:ext cx="228600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 Topology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788920" y="2862072"/>
            <a:ext cx="886968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BOM 구성요소 간 관계를 표현하는 Feature 중심 관계 그래프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02920" y="3200400"/>
            <a:ext cx="11155680" cy="33832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502920" y="3200400"/>
            <a:ext cx="228600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Topology Registry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2788920" y="3200400"/>
            <a:ext cx="886968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Taxonomy·BOM·Modeling·Topology를 저장·조회·분석하는 Source of Truth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02920" y="3538728"/>
            <a:ext cx="1115568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502920" y="3538728"/>
            <a:ext cx="228600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Variant Rule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2788920" y="3538728"/>
            <a:ext cx="886968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Feature가 어떤 차량 조건(차종·지역·트림·HW/SW)에 적용되는지 정의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02920" y="3877056"/>
            <a:ext cx="11155680" cy="33832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502920" y="3877056"/>
            <a:ext cx="228600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Control Point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2788920" y="3877056"/>
            <a:ext cx="886968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Feature를 제어하는 Policy·Flag·Parameter·Kill-switch·Safe Default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502920" y="4215384"/>
            <a:ext cx="1115568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502920" y="4215384"/>
            <a:ext cx="228600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Policy-only Deploy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2788920" y="4215384"/>
            <a:ext cx="886968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SWC/API 변경 없이 정책 조건만 배포하는 방식 (Binary OTA 불필요)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502920" y="4553712"/>
            <a:ext cx="11155680" cy="33832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502920" y="4553712"/>
            <a:ext cx="228600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Kill Switch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2788920" y="4553712"/>
            <a:ext cx="886968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긴급 상황 시 Feature를 즉시 비활성화하는 제어 메커니즘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502920" y="4892040"/>
            <a:ext cx="1115568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/>
          <p:nvPr/>
        </p:nvSpPr>
        <p:spPr>
          <a:xfrm>
            <a:off x="502920" y="4892040"/>
            <a:ext cx="228600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Safe Default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2788920" y="4892040"/>
            <a:ext cx="886968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Policy 평가 실패 또는 오프라인 시 적용되는 기본 안전 상태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502920" y="5230368"/>
            <a:ext cx="11155680" cy="33832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/>
          <p:nvPr/>
        </p:nvSpPr>
        <p:spPr>
          <a:xfrm>
            <a:off x="502920" y="5230368"/>
            <a:ext cx="228600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Rollback Plan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2788920" y="5230368"/>
            <a:ext cx="886968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문제 발생 시 이전 안정 상태로 복구하는 사전 정의된 절차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502920" y="5568696"/>
            <a:ext cx="1115568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4"/>
          <p:cNvSpPr/>
          <p:nvPr/>
        </p:nvSpPr>
        <p:spPr>
          <a:xfrm>
            <a:off x="502920" y="5568696"/>
            <a:ext cx="228600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Release Readiness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2788920" y="5568696"/>
            <a:ext cx="886968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배포 전 9개 Gate 통과 여부를 점검하는 자동 검증 체계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502920" y="5907024"/>
            <a:ext cx="11155680" cy="33832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7"/>
          <p:cNvSpPr/>
          <p:nvPr/>
        </p:nvSpPr>
        <p:spPr>
          <a:xfrm>
            <a:off x="502920" y="5907024"/>
            <a:ext cx="228600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Impact Analysis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2788920" y="5907024"/>
            <a:ext cx="886968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변경 시 Topology를 탐색하여 영향받는 전체 범위를 자동 산출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502920" y="6245352"/>
            <a:ext cx="1115568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0"/>
          <p:cNvSpPr/>
          <p:nvPr/>
        </p:nvSpPr>
        <p:spPr>
          <a:xfrm>
            <a:off x="502920" y="6245352"/>
            <a:ext cx="228600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Decision Engine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2788920" y="6245352"/>
            <a:ext cx="886968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Topology 기반으로 영향도·검증·배포·협력사 책임을 자동 판단하는 엔진</a:t>
            </a:r>
            <a:endParaRPr lang="en-US" sz="1200" dirty="0"/>
          </a:p>
        </p:txBody>
      </p:sp>
      <p:sp>
        <p:nvSpPr>
          <p:cNvPr id="55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ISO/IEC/IEEE 29148:2018; OpenFeature Glossary; OMG ReqIF 1.2; Mutuus Lab 용어 정의.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472C4"/>
                </a:solidFill>
                <a:latin typeface="Hyundai Sans Head Pro Medium" pitchFamily="34" charset="0"/>
                <a:ea typeface="Hyundai Sans Head Pro Medium" pitchFamily="34" charset="-122"/>
                <a:cs typeface="Hyundai Sans Head Pro Medium" pitchFamily="34" charset="-120"/>
              </a:rPr>
              <a:t>G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Impact Analysis 시나리오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822960"/>
            <a:ext cx="50292" cy="3200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94360" y="79552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API-BDC-POLICY-CONTROL v1.4 → v1.5 변경 시 Feature Topology 기반 영향도 분석 과정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변경 요청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" y="1874520"/>
            <a:ext cx="4572000" cy="82296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502920" y="1874520"/>
            <a:ext cx="54864" cy="82296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731520" y="19202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Change Target :  </a:t>
            </a:r>
            <a:r>
              <a:rPr lang="en-US" sz="1300" dirty="0">
                <a:solidFill>
                  <a:srgbClr val="1A1A1A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API-BDC-POLICY-CONTROL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Change Type :  </a:t>
            </a:r>
            <a:r>
              <a:rPr lang="en-US" sz="1300" dirty="0">
                <a:solidFill>
                  <a:srgbClr val="1A1A1A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v1.4 → v1.5 (Optional field added)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560320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0292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Topology 탐색 경로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02920" y="3474720"/>
            <a:ext cx="5303520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94360" y="34747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API-BDC-POLICY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240280" y="34747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uses_api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611880" y="34747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FEAT-BDC-001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02920" y="3822192"/>
            <a:ext cx="53035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594360" y="38221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FEAT-BDC-001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240280" y="38221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implemented_by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611880" y="38221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SWC-BDC-ADAPTER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02920" y="4169664"/>
            <a:ext cx="5303520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594360" y="41696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FEAT-BDC-001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2240280" y="41696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realized_by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611880" y="416966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SUP-BDC-A (BDC_FUNC_032)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02920" y="4517136"/>
            <a:ext cx="53035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594360" y="45171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FEAT-BDC-001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2240280" y="451713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verified_by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3611880" y="451713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HIL-BDC-001, OTA-RB-002, TEL-BDC-001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02920" y="4864608"/>
            <a:ext cx="5303520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594360" y="48646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FEAT-BDC-001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2240280" y="48646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parent_of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3611880" y="48646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FEAT-BODY-001 (상위 Feature)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21792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Impact Summary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6217920" y="1874520"/>
            <a:ext cx="5394960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6217920" y="1874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Category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8229600" y="18745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#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8686800" y="1874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Detail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6217920" y="2286000"/>
            <a:ext cx="5394960" cy="4114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/>
          <p:nvPr/>
        </p:nvSpPr>
        <p:spPr>
          <a:xfrm>
            <a:off x="6217920" y="2286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Impacted Features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8229600" y="22860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2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8686800" y="2286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FEAT-BDC-001, FEAT-BODY-001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6217920" y="2697480"/>
            <a:ext cx="539496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3"/>
          <p:cNvSpPr/>
          <p:nvPr/>
        </p:nvSpPr>
        <p:spPr>
          <a:xfrm>
            <a:off x="6217920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Impacted SWCs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8229600" y="26974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45"/>
          <p:cNvSpPr/>
          <p:nvPr/>
        </p:nvSpPr>
        <p:spPr>
          <a:xfrm>
            <a:off x="8686800" y="2697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SWC-BDC-ADAPTER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6217920" y="3108960"/>
            <a:ext cx="5394960" cy="4114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7"/>
          <p:cNvSpPr/>
          <p:nvPr/>
        </p:nvSpPr>
        <p:spPr>
          <a:xfrm>
            <a:off x="6217920" y="3108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Impacted ECUs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8229600" y="31089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1</a:t>
            </a:r>
            <a:endParaRPr lang="en-US" sz="1400" dirty="0"/>
          </a:p>
        </p:txBody>
      </p:sp>
      <p:sp>
        <p:nvSpPr>
          <p:cNvPr id="52" name="Text 49"/>
          <p:cNvSpPr/>
          <p:nvPr/>
        </p:nvSpPr>
        <p:spPr>
          <a:xfrm>
            <a:off x="8686800" y="3108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ECU-BDC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6217920" y="3520440"/>
            <a:ext cx="539496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1"/>
          <p:cNvSpPr/>
          <p:nvPr/>
        </p:nvSpPr>
        <p:spPr>
          <a:xfrm>
            <a:off x="6217920" y="3520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Impacted Suppliers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8229600" y="3520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1</a:t>
            </a:r>
            <a:endParaRPr lang="en-US" sz="1400" dirty="0"/>
          </a:p>
        </p:txBody>
      </p:sp>
      <p:sp>
        <p:nvSpPr>
          <p:cNvPr id="56" name="Text 53"/>
          <p:cNvSpPr/>
          <p:nvPr/>
        </p:nvSpPr>
        <p:spPr>
          <a:xfrm>
            <a:off x="8686800" y="3520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SUP-BDC-A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6217920" y="3931920"/>
            <a:ext cx="5394960" cy="4114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5"/>
          <p:cNvSpPr/>
          <p:nvPr/>
        </p:nvSpPr>
        <p:spPr>
          <a:xfrm>
            <a:off x="6217920" y="3931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Impacted Tests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8229600" y="3931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3</a:t>
            </a:r>
            <a:endParaRPr lang="en-US" sz="1400" dirty="0"/>
          </a:p>
        </p:txBody>
      </p:sp>
      <p:sp>
        <p:nvSpPr>
          <p:cNvPr id="60" name="Text 57"/>
          <p:cNvSpPr/>
          <p:nvPr/>
        </p:nvSpPr>
        <p:spPr>
          <a:xfrm>
            <a:off x="8686800" y="3931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HIL-BDC-001, OTA-RB-002, TEL-BDC-001</a:t>
            </a:r>
            <a:endParaRPr lang="en-US" sz="1200" dirty="0"/>
          </a:p>
        </p:txBody>
      </p:sp>
      <p:sp>
        <p:nvSpPr>
          <p:cNvPr id="61" name="Shape 58"/>
          <p:cNvSpPr/>
          <p:nvPr/>
        </p:nvSpPr>
        <p:spPr>
          <a:xfrm>
            <a:off x="6217920" y="4343400"/>
            <a:ext cx="539496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9"/>
          <p:cNvSpPr/>
          <p:nvPr/>
        </p:nvSpPr>
        <p:spPr>
          <a:xfrm>
            <a:off x="6217920" y="4343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Impacted Variants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8229600" y="43434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4</a:t>
            </a:r>
            <a:endParaRPr lang="en-US" sz="1400" dirty="0"/>
          </a:p>
        </p:txBody>
      </p:sp>
      <p:sp>
        <p:nvSpPr>
          <p:cNvPr id="64" name="Text 61"/>
          <p:cNvSpPr/>
          <p:nvPr/>
        </p:nvSpPr>
        <p:spPr>
          <a:xfrm>
            <a:off x="8686800" y="4343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KR/EU · MY2027+ · Premium · Gen3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6217920" y="4754880"/>
            <a:ext cx="5394960" cy="4114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3"/>
          <p:cNvSpPr/>
          <p:nvPr/>
        </p:nvSpPr>
        <p:spPr>
          <a:xfrm>
            <a:off x="6217920" y="4754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Deployment Impact</a:t>
            </a:r>
            <a:endParaRPr lang="en-US" sz="1200" dirty="0"/>
          </a:p>
        </p:txBody>
      </p:sp>
      <p:sp>
        <p:nvSpPr>
          <p:cNvPr id="67" name="Text 64"/>
          <p:cNvSpPr/>
          <p:nvPr/>
        </p:nvSpPr>
        <p:spPr>
          <a:xfrm>
            <a:off x="8229600" y="47548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—</a:t>
            </a:r>
            <a:endParaRPr lang="en-US" sz="1400" dirty="0"/>
          </a:p>
        </p:txBody>
      </p:sp>
      <p:sp>
        <p:nvSpPr>
          <p:cNvPr id="68" name="Text 65"/>
          <p:cNvSpPr/>
          <p:nvPr/>
        </p:nvSpPr>
        <p:spPr>
          <a:xfrm>
            <a:off x="8686800" y="4754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Policy-only 가능 (API 구조 변경 아님)</a:t>
            </a:r>
            <a:endParaRPr lang="en-US" sz="1200" dirty="0"/>
          </a:p>
        </p:txBody>
      </p:sp>
      <p:sp>
        <p:nvSpPr>
          <p:cNvPr id="69" name="Shape 66"/>
          <p:cNvSpPr/>
          <p:nvPr/>
        </p:nvSpPr>
        <p:spPr>
          <a:xfrm>
            <a:off x="6217920" y="5166360"/>
            <a:ext cx="539496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7"/>
          <p:cNvSpPr/>
          <p:nvPr/>
        </p:nvSpPr>
        <p:spPr>
          <a:xfrm>
            <a:off x="6217920" y="5166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Safety/Security</a:t>
            </a:r>
            <a:endParaRPr lang="en-US" sz="1200" dirty="0"/>
          </a:p>
        </p:txBody>
      </p:sp>
      <p:sp>
        <p:nvSpPr>
          <p:cNvPr id="71" name="Text 68"/>
          <p:cNvSpPr/>
          <p:nvPr/>
        </p:nvSpPr>
        <p:spPr>
          <a:xfrm>
            <a:off x="8229600" y="5166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—</a:t>
            </a:r>
            <a:endParaRPr lang="en-US" sz="1400" dirty="0"/>
          </a:p>
        </p:txBody>
      </p:sp>
      <p:sp>
        <p:nvSpPr>
          <p:cNvPr id="72" name="Text 69"/>
          <p:cNvSpPr/>
          <p:nvPr/>
        </p:nvSpPr>
        <p:spPr>
          <a:xfrm>
            <a:off x="8686800" y="5166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QM → 영향 없음 / Sec: Medium 재검토</a:t>
            </a:r>
            <a:endParaRPr lang="en-US" sz="1200" dirty="0"/>
          </a:p>
        </p:txBody>
      </p:sp>
      <p:sp>
        <p:nvSpPr>
          <p:cNvPr id="73" name="Shape 70"/>
          <p:cNvSpPr/>
          <p:nvPr/>
        </p:nvSpPr>
        <p:spPr>
          <a:xfrm>
            <a:off x="502920" y="6126480"/>
            <a:ext cx="11155680" cy="4572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1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결론 :  </a:t>
            </a:r>
            <a:r>
              <a:rPr lang="en-US" sz="1200" dirty="0">
                <a:solidFill>
                  <a:srgbClr val="FFFF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API Optional field 추가는 구조 변경이 아니므로 </a:t>
            </a: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Policy-only 배포 가능</a:t>
            </a:r>
            <a:r>
              <a:rPr lang="en-US" sz="1200" dirty="0">
                <a:solidFill>
                  <a:srgbClr val="FFFF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 — 단, 3개 Test 재실행 및 Supplier 호환성 확인 필요</a:t>
            </a:r>
            <a:endParaRPr lang="en-US" sz="1300" dirty="0"/>
          </a:p>
        </p:txBody>
      </p:sp>
      <p:sp>
        <p:nvSpPr>
          <p:cNvPr id="75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ISO/IEC/IEEE 29148 Traceability; OMG SysML Relationships; Graph-based Impact Analysis 실무.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472C4"/>
                </a:solidFill>
                <a:latin typeface="Hyundai Sans Head Pro Medium" pitchFamily="34" charset="0"/>
                <a:ea typeface="Hyundai Sans Head Pro Medium" pitchFamily="34" charset="-122"/>
                <a:cs typeface="Hyundai Sans Head Pro Medium" pitchFamily="34" charset="-120"/>
              </a:rPr>
              <a:t>H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Supplier API Release Package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822960"/>
            <a:ext cx="50292" cy="3200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94360" y="79552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협력사는 API/사양을 문서가 아니라 Feature ID 기반의 검증 가능한 계약 패키지로 배포해야 한다.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Supplier API Release Package 구성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" y="1920240"/>
            <a:ext cx="5486400" cy="35387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02920" y="1920240"/>
            <a:ext cx="365760" cy="353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#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68680" y="1920240"/>
            <a:ext cx="2286000" cy="3538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Package Item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154680" y="1920240"/>
            <a:ext cx="2834640" cy="3538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내용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2920" y="2274112"/>
            <a:ext cx="5486400" cy="3538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502920" y="2274112"/>
            <a:ext cx="365760" cy="353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8680" y="2274112"/>
            <a:ext cx="2286000" cy="3538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API Contract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154680" y="2274112"/>
            <a:ext cx="2834640" cy="3538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Machine-readable API 명세 (OpenAPI/Protobuf)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02920" y="2627985"/>
            <a:ext cx="5486400" cy="3538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502920" y="2627985"/>
            <a:ext cx="365760" cy="353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68680" y="2627985"/>
            <a:ext cx="2286000" cy="3538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Human Documentation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154680" y="2627985"/>
            <a:ext cx="2834640" cy="3538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개발자 가이드 · 변경 이력 · 사용 예시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02920" y="2981858"/>
            <a:ext cx="5486400" cy="3538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502920" y="2981858"/>
            <a:ext cx="365760" cy="353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68680" y="2981858"/>
            <a:ext cx="2286000" cy="3538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 Mapping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154680" y="2981858"/>
            <a:ext cx="2834640" cy="3538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Supplier Function ID ↔ OEM Feature ID 매핑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02920" y="3335731"/>
            <a:ext cx="5486400" cy="3538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502920" y="3335731"/>
            <a:ext cx="365760" cy="353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68680" y="3335731"/>
            <a:ext cx="2286000" cy="3538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Capability Manifest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154680" y="3335731"/>
            <a:ext cx="2834640" cy="3538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지원 HW/SW 버전 · ECU Capability 명세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02920" y="3689604"/>
            <a:ext cx="5486400" cy="3538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502920" y="3689604"/>
            <a:ext cx="365760" cy="353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868680" y="3689604"/>
            <a:ext cx="2286000" cy="3538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Variant Compatibility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3154680" y="3689604"/>
            <a:ext cx="2834640" cy="3538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적용 가능 차종·지역·트림·연식 조건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02920" y="4043476"/>
            <a:ext cx="5486400" cy="3538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502920" y="4043476"/>
            <a:ext cx="365760" cy="353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868680" y="4043476"/>
            <a:ext cx="2286000" cy="3538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Diagnostics / Telemetry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3154680" y="4043476"/>
            <a:ext cx="2834640" cy="3538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DTC 코드 · Telemetry Event · 진단 시나리오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502920" y="4397349"/>
            <a:ext cx="5486400" cy="3538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/>
          <p:nvPr/>
        </p:nvSpPr>
        <p:spPr>
          <a:xfrm>
            <a:off x="502920" y="4397349"/>
            <a:ext cx="365760" cy="353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7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868680" y="4397349"/>
            <a:ext cx="2286000" cy="3538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Safety / Security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3154680" y="4397349"/>
            <a:ext cx="2834640" cy="3538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ASIL 등급 · Cybersecurity Claim · 인증 정보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502920" y="4751222"/>
            <a:ext cx="5486400" cy="3538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/>
          <p:nvPr/>
        </p:nvSpPr>
        <p:spPr>
          <a:xfrm>
            <a:off x="502920" y="4751222"/>
            <a:ext cx="365760" cy="353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8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868680" y="4751222"/>
            <a:ext cx="2286000" cy="3538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SDK / Stub / Mock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3154680" y="4751222"/>
            <a:ext cx="2834640" cy="3538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통합 개발용 Stub · Mock Server · 샘플 코드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502920" y="5105095"/>
            <a:ext cx="5486400" cy="3538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/>
          <p:nvPr/>
        </p:nvSpPr>
        <p:spPr>
          <a:xfrm>
            <a:off x="502920" y="5105095"/>
            <a:ext cx="365760" cy="353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9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868680" y="5105095"/>
            <a:ext cx="2286000" cy="3538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Test Evidence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3154680" y="5105095"/>
            <a:ext cx="2834640" cy="3538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Unit Test · Integration Test 결과 · Coverage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502920" y="5458968"/>
            <a:ext cx="5486400" cy="3538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9"/>
          <p:cNvSpPr/>
          <p:nvPr/>
        </p:nvSpPr>
        <p:spPr>
          <a:xfrm>
            <a:off x="502920" y="5458968"/>
            <a:ext cx="365760" cy="353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53" name="Text 50"/>
          <p:cNvSpPr/>
          <p:nvPr/>
        </p:nvSpPr>
        <p:spPr>
          <a:xfrm>
            <a:off x="868680" y="5458968"/>
            <a:ext cx="2286000" cy="3538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Release Note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3154680" y="5458968"/>
            <a:ext cx="2834640" cy="3538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변경 사항 · Migration Guide · Breaking Changes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621792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 Topology 연결 경로</a:t>
            </a:r>
            <a:endParaRPr lang="en-US" sz="1400" dirty="0"/>
          </a:p>
        </p:txBody>
      </p:sp>
      <p:sp>
        <p:nvSpPr>
          <p:cNvPr id="56" name="Shape 53"/>
          <p:cNvSpPr/>
          <p:nvPr/>
        </p:nvSpPr>
        <p:spPr>
          <a:xfrm>
            <a:off x="6217920" y="1920240"/>
            <a:ext cx="53949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4"/>
          <p:cNvSpPr/>
          <p:nvPr/>
        </p:nvSpPr>
        <p:spPr>
          <a:xfrm>
            <a:off x="6291072" y="1993392"/>
            <a:ext cx="29260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5"/>
          <p:cNvSpPr/>
          <p:nvPr/>
        </p:nvSpPr>
        <p:spPr>
          <a:xfrm>
            <a:off x="6291072" y="1993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1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6720840" y="19202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OEM Feature ID</a:t>
            </a:r>
            <a:endParaRPr lang="en-US" sz="1200" dirty="0"/>
          </a:p>
        </p:txBody>
      </p:sp>
      <p:sp>
        <p:nvSpPr>
          <p:cNvPr id="60" name="Text 57"/>
          <p:cNvSpPr/>
          <p:nvPr/>
        </p:nvSpPr>
        <p:spPr>
          <a:xfrm>
            <a:off x="9052560" y="192024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FEAT-BDC-001</a:t>
            </a:r>
            <a:endParaRPr lang="en-US" sz="1200" dirty="0"/>
          </a:p>
        </p:txBody>
      </p:sp>
      <p:sp>
        <p:nvSpPr>
          <p:cNvPr id="61" name="Text 58"/>
          <p:cNvSpPr/>
          <p:nvPr/>
        </p:nvSpPr>
        <p:spPr>
          <a:xfrm>
            <a:off x="6355080" y="23591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6217920" y="2487168"/>
            <a:ext cx="53949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0"/>
          <p:cNvSpPr/>
          <p:nvPr/>
        </p:nvSpPr>
        <p:spPr>
          <a:xfrm>
            <a:off x="6291072" y="2560320"/>
            <a:ext cx="29260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1"/>
          <p:cNvSpPr/>
          <p:nvPr/>
        </p:nvSpPr>
        <p:spPr>
          <a:xfrm>
            <a:off x="6291072" y="2560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2</a:t>
            </a:r>
            <a:endParaRPr lang="en-US" sz="1200" dirty="0"/>
          </a:p>
        </p:txBody>
      </p:sp>
      <p:sp>
        <p:nvSpPr>
          <p:cNvPr id="65" name="Text 62"/>
          <p:cNvSpPr/>
          <p:nvPr/>
        </p:nvSpPr>
        <p:spPr>
          <a:xfrm>
            <a:off x="6720840" y="248716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Supplier Function ID</a:t>
            </a:r>
            <a:endParaRPr lang="en-US" sz="1200" dirty="0"/>
          </a:p>
        </p:txBody>
      </p:sp>
      <p:sp>
        <p:nvSpPr>
          <p:cNvPr id="66" name="Text 63"/>
          <p:cNvSpPr/>
          <p:nvPr/>
        </p:nvSpPr>
        <p:spPr>
          <a:xfrm>
            <a:off x="9052560" y="248716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BDC_FUNC_032</a:t>
            </a:r>
            <a:endParaRPr lang="en-US" sz="1200" dirty="0"/>
          </a:p>
        </p:txBody>
      </p:sp>
      <p:sp>
        <p:nvSpPr>
          <p:cNvPr id="67" name="Text 64"/>
          <p:cNvSpPr/>
          <p:nvPr/>
        </p:nvSpPr>
        <p:spPr>
          <a:xfrm>
            <a:off x="6355080" y="292608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68" name="Shape 65"/>
          <p:cNvSpPr/>
          <p:nvPr/>
        </p:nvSpPr>
        <p:spPr>
          <a:xfrm>
            <a:off x="6217920" y="3054096"/>
            <a:ext cx="53949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6"/>
          <p:cNvSpPr/>
          <p:nvPr/>
        </p:nvSpPr>
        <p:spPr>
          <a:xfrm>
            <a:off x="6291072" y="3127248"/>
            <a:ext cx="29260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7"/>
          <p:cNvSpPr/>
          <p:nvPr/>
        </p:nvSpPr>
        <p:spPr>
          <a:xfrm>
            <a:off x="6291072" y="3127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3</a:t>
            </a:r>
            <a:endParaRPr lang="en-US" sz="1200" dirty="0"/>
          </a:p>
        </p:txBody>
      </p:sp>
      <p:sp>
        <p:nvSpPr>
          <p:cNvPr id="71" name="Text 68"/>
          <p:cNvSpPr/>
          <p:nvPr/>
        </p:nvSpPr>
        <p:spPr>
          <a:xfrm>
            <a:off x="6720840" y="305409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Supplier SW Component</a:t>
            </a:r>
            <a:endParaRPr lang="en-US" sz="1200" dirty="0"/>
          </a:p>
        </p:txBody>
      </p:sp>
      <p:sp>
        <p:nvSpPr>
          <p:cNvPr id="72" name="Text 69"/>
          <p:cNvSpPr/>
          <p:nvPr/>
        </p:nvSpPr>
        <p:spPr>
          <a:xfrm>
            <a:off x="9052560" y="305409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SWC-BDC-ADAPTER</a:t>
            </a:r>
            <a:endParaRPr lang="en-US" sz="1200" dirty="0"/>
          </a:p>
        </p:txBody>
      </p:sp>
      <p:sp>
        <p:nvSpPr>
          <p:cNvPr id="73" name="Text 70"/>
          <p:cNvSpPr/>
          <p:nvPr/>
        </p:nvSpPr>
        <p:spPr>
          <a:xfrm>
            <a:off x="6355080" y="349300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74" name="Shape 71"/>
          <p:cNvSpPr/>
          <p:nvPr/>
        </p:nvSpPr>
        <p:spPr>
          <a:xfrm>
            <a:off x="6217920" y="3621024"/>
            <a:ext cx="53949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2"/>
          <p:cNvSpPr/>
          <p:nvPr/>
        </p:nvSpPr>
        <p:spPr>
          <a:xfrm>
            <a:off x="6291072" y="3694176"/>
            <a:ext cx="29260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3"/>
          <p:cNvSpPr/>
          <p:nvPr/>
        </p:nvSpPr>
        <p:spPr>
          <a:xfrm>
            <a:off x="6291072" y="3694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4</a:t>
            </a:r>
            <a:endParaRPr lang="en-US" sz="1200" dirty="0"/>
          </a:p>
        </p:txBody>
      </p:sp>
      <p:sp>
        <p:nvSpPr>
          <p:cNvPr id="77" name="Text 74"/>
          <p:cNvSpPr/>
          <p:nvPr/>
        </p:nvSpPr>
        <p:spPr>
          <a:xfrm>
            <a:off x="6720840" y="362102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ECU</a:t>
            </a:r>
            <a:endParaRPr lang="en-US" sz="1200" dirty="0"/>
          </a:p>
        </p:txBody>
      </p:sp>
      <p:sp>
        <p:nvSpPr>
          <p:cNvPr id="78" name="Text 75"/>
          <p:cNvSpPr/>
          <p:nvPr/>
        </p:nvSpPr>
        <p:spPr>
          <a:xfrm>
            <a:off x="9052560" y="362102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ECU-BDC</a:t>
            </a:r>
            <a:endParaRPr lang="en-US" sz="1200" dirty="0"/>
          </a:p>
        </p:txBody>
      </p:sp>
      <p:sp>
        <p:nvSpPr>
          <p:cNvPr id="79" name="Text 76"/>
          <p:cNvSpPr/>
          <p:nvPr/>
        </p:nvSpPr>
        <p:spPr>
          <a:xfrm>
            <a:off x="6355080" y="405993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80" name="Shape 77"/>
          <p:cNvSpPr/>
          <p:nvPr/>
        </p:nvSpPr>
        <p:spPr>
          <a:xfrm>
            <a:off x="6217920" y="4187952"/>
            <a:ext cx="53949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8"/>
          <p:cNvSpPr/>
          <p:nvPr/>
        </p:nvSpPr>
        <p:spPr>
          <a:xfrm>
            <a:off x="6291072" y="4261104"/>
            <a:ext cx="29260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Text 79"/>
          <p:cNvSpPr/>
          <p:nvPr/>
        </p:nvSpPr>
        <p:spPr>
          <a:xfrm>
            <a:off x="6291072" y="4261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5</a:t>
            </a:r>
            <a:endParaRPr lang="en-US" sz="1200" dirty="0"/>
          </a:p>
        </p:txBody>
      </p:sp>
      <p:sp>
        <p:nvSpPr>
          <p:cNvPr id="83" name="Text 80"/>
          <p:cNvSpPr/>
          <p:nvPr/>
        </p:nvSpPr>
        <p:spPr>
          <a:xfrm>
            <a:off x="6720840" y="418795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API / Signal / DTC</a:t>
            </a:r>
            <a:endParaRPr lang="en-US" sz="1200" dirty="0"/>
          </a:p>
        </p:txBody>
      </p:sp>
      <p:sp>
        <p:nvSpPr>
          <p:cNvPr id="84" name="Text 81"/>
          <p:cNvSpPr/>
          <p:nvPr/>
        </p:nvSpPr>
        <p:spPr>
          <a:xfrm>
            <a:off x="9052560" y="418795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API-BDC-POLICY-CONTROL</a:t>
            </a:r>
            <a:endParaRPr lang="en-US" sz="1200" dirty="0"/>
          </a:p>
        </p:txBody>
      </p:sp>
      <p:sp>
        <p:nvSpPr>
          <p:cNvPr id="85" name="Text 82"/>
          <p:cNvSpPr/>
          <p:nvPr/>
        </p:nvSpPr>
        <p:spPr>
          <a:xfrm>
            <a:off x="6355080" y="462686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86" name="Shape 83"/>
          <p:cNvSpPr/>
          <p:nvPr/>
        </p:nvSpPr>
        <p:spPr>
          <a:xfrm>
            <a:off x="6217920" y="4754880"/>
            <a:ext cx="53949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Shape 84"/>
          <p:cNvSpPr/>
          <p:nvPr/>
        </p:nvSpPr>
        <p:spPr>
          <a:xfrm>
            <a:off x="6291072" y="4828032"/>
            <a:ext cx="29260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5"/>
          <p:cNvSpPr/>
          <p:nvPr/>
        </p:nvSpPr>
        <p:spPr>
          <a:xfrm>
            <a:off x="6291072" y="4828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6</a:t>
            </a:r>
            <a:endParaRPr lang="en-US" sz="1200" dirty="0"/>
          </a:p>
        </p:txBody>
      </p:sp>
      <p:sp>
        <p:nvSpPr>
          <p:cNvPr id="89" name="Text 86"/>
          <p:cNvSpPr/>
          <p:nvPr/>
        </p:nvSpPr>
        <p:spPr>
          <a:xfrm>
            <a:off x="6720840" y="47548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Test Evidence</a:t>
            </a:r>
            <a:endParaRPr lang="en-US" sz="1200" dirty="0"/>
          </a:p>
        </p:txBody>
      </p:sp>
      <p:sp>
        <p:nvSpPr>
          <p:cNvPr id="90" name="Text 87"/>
          <p:cNvSpPr/>
          <p:nvPr/>
        </p:nvSpPr>
        <p:spPr>
          <a:xfrm>
            <a:off x="9052560" y="47548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HIL-BDC-001 (Supplier)</a:t>
            </a:r>
            <a:endParaRPr lang="en-US" sz="1200" dirty="0"/>
          </a:p>
        </p:txBody>
      </p:sp>
      <p:sp>
        <p:nvSpPr>
          <p:cNvPr id="91" name="Text 88"/>
          <p:cNvSpPr/>
          <p:nvPr/>
        </p:nvSpPr>
        <p:spPr>
          <a:xfrm>
            <a:off x="6355080" y="519379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92" name="Shape 89"/>
          <p:cNvSpPr/>
          <p:nvPr/>
        </p:nvSpPr>
        <p:spPr>
          <a:xfrm>
            <a:off x="6217920" y="5321808"/>
            <a:ext cx="53949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Shape 90"/>
          <p:cNvSpPr/>
          <p:nvPr/>
        </p:nvSpPr>
        <p:spPr>
          <a:xfrm>
            <a:off x="6291072" y="5394960"/>
            <a:ext cx="29260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" name="Text 91"/>
          <p:cNvSpPr/>
          <p:nvPr/>
        </p:nvSpPr>
        <p:spPr>
          <a:xfrm>
            <a:off x="6291072" y="5394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7</a:t>
            </a:r>
            <a:endParaRPr lang="en-US" sz="1200" dirty="0"/>
          </a:p>
        </p:txBody>
      </p:sp>
      <p:sp>
        <p:nvSpPr>
          <p:cNvPr id="95" name="Text 92"/>
          <p:cNvSpPr/>
          <p:nvPr/>
        </p:nvSpPr>
        <p:spPr>
          <a:xfrm>
            <a:off x="6720840" y="532180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Acceptance Criteria</a:t>
            </a:r>
            <a:endParaRPr lang="en-US" sz="1200" dirty="0"/>
          </a:p>
        </p:txBody>
      </p:sp>
      <p:sp>
        <p:nvSpPr>
          <p:cNvPr id="96" name="Text 93"/>
          <p:cNvSpPr/>
          <p:nvPr/>
        </p:nvSpPr>
        <p:spPr>
          <a:xfrm>
            <a:off x="9052560" y="532180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API Contract v1.4 준수</a:t>
            </a:r>
            <a:endParaRPr lang="en-US" sz="1200" dirty="0"/>
          </a:p>
        </p:txBody>
      </p:sp>
      <p:sp>
        <p:nvSpPr>
          <p:cNvPr id="97" name="Shape 94"/>
          <p:cNvSpPr/>
          <p:nvPr/>
        </p:nvSpPr>
        <p:spPr>
          <a:xfrm>
            <a:off x="502920" y="6126480"/>
            <a:ext cx="11155680" cy="4572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" name="Text 95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핵심 :  </a:t>
            </a:r>
            <a:r>
              <a:rPr lang="en-US" sz="1200" dirty="0">
                <a:solidFill>
                  <a:srgbClr val="FFFF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협력사 배포 단위를 </a:t>
            </a: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문서 → Feature ID 기반 검증 가능한 패키지</a:t>
            </a:r>
            <a:r>
              <a:rPr lang="en-US" sz="1200" dirty="0">
                <a:solidFill>
                  <a:srgbClr val="FFFF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로 전환하면 책임 범위·Gap·호환성을 자동 추적할 수 있다.</a:t>
            </a:r>
            <a:endParaRPr lang="en-US" sz="1300" dirty="0"/>
          </a:p>
        </p:txBody>
      </p:sp>
      <p:sp>
        <p:nvSpPr>
          <p:cNvPr id="99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OMG ReqIF 1.2; OpenAPI 3.2.0; ISO/IEC/IEEE 29148:2018; Supplier Integration 실무.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472C4"/>
                </a:solidFill>
                <a:latin typeface="Hyundai Sans Head Pro Medium" pitchFamily="34" charset="0"/>
                <a:ea typeface="Hyundai Sans Head Pro Medium" pitchFamily="34" charset="-122"/>
                <a:cs typeface="Hyundai Sans Head Pro Medium" pitchFamily="34" charset="-120"/>
              </a:rPr>
              <a:t>I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 Detail UI Wireframe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822960"/>
            <a:ext cx="50292" cy="3200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94360" y="79552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FEAT-BDC-001을 기준으로 Feature Detail 화면의 Summary 탭 구성 예시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1463040"/>
            <a:ext cx="111556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02920" y="1463040"/>
            <a:ext cx="11155680" cy="50292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685800" y="1463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FEAT-BDC-001    BDC Policy Control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86800" y="1463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15240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77DD77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Status: Approved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1965960"/>
            <a:ext cx="11155680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548640" y="1965960"/>
            <a:ext cx="969264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548640" y="1965960"/>
            <a:ext cx="969264" cy="36576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48640" y="196596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Summary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554480" y="1965960"/>
            <a:ext cx="969264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1554480" y="196596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Taxonomy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560320" y="1965960"/>
            <a:ext cx="969264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2560320" y="196596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BOM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566160" y="1965960"/>
            <a:ext cx="969264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3566160" y="196596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Topology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0" y="1965960"/>
            <a:ext cx="969264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4572000" y="196596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Variants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577840" y="1965960"/>
            <a:ext cx="969264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5577840" y="196596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Control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583680" y="1965960"/>
            <a:ext cx="969264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6583680" y="196596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Deploy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7589520" y="1965960"/>
            <a:ext cx="969264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7589520" y="196596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Verify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8595360" y="1965960"/>
            <a:ext cx="969264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8595360" y="196596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Supplier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9601200" y="1965960"/>
            <a:ext cx="969264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9601200" y="196596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Ops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10607040" y="1965960"/>
            <a:ext cx="969264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/>
          <p:nvPr/>
        </p:nvSpPr>
        <p:spPr>
          <a:xfrm>
            <a:off x="10607040" y="196596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History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68580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 기본 정보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685800" y="278892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Level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2057400" y="278892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L2 Vehicle / System Feature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685800" y="3090672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Domain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2057400" y="3090672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Body Comfort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685800" y="3392424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Owner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2057400" y="3392424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Body Platform Team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685800" y="3694176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2057400" y="3694176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Policy-only candidate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685800" y="3995928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Safety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2057400" y="3995928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QM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685800" y="429768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Security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2057400" y="429768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Medium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685800" y="4599432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Supplier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2057400" y="4599432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SUP-BDC-A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685800" y="4901184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Variant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2057400" y="4901184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KR/EU · MY2027+ · Premium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594360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Traceability Health</a:t>
            </a:r>
            <a:endParaRPr lang="en-US" sz="1300" dirty="0"/>
          </a:p>
        </p:txBody>
      </p:sp>
      <p:sp>
        <p:nvSpPr>
          <p:cNvPr id="56" name="Text 53"/>
          <p:cNvSpPr/>
          <p:nvPr/>
        </p:nvSpPr>
        <p:spPr>
          <a:xfrm>
            <a:off x="5943600" y="278892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Requirement: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7223760" y="278892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7A3D"/>
                </a:solidFill>
                <a:latin typeface="Hyundai Sans Text Pro Bold" pitchFamily="34" charset="0"/>
                <a:ea typeface="Hyundai Sans Text Pro Bold" pitchFamily="34" charset="-122"/>
                <a:cs typeface="Hyundai Sans Text Pro Bold" pitchFamily="34" charset="-120"/>
              </a:rPr>
              <a:t>2 linked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5943600" y="3090672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Test: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7223760" y="3090672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410E"/>
                </a:solidFill>
                <a:latin typeface="Hyundai Sans Text Pro Bold" pitchFamily="34" charset="0"/>
                <a:ea typeface="Hyundai Sans Text Pro Bold" pitchFamily="34" charset="-122"/>
                <a:cs typeface="Hyundai Sans Text Pro Bold" pitchFamily="34" charset="-120"/>
              </a:rPr>
              <a:t>3/4 evidenced</a:t>
            </a:r>
            <a:endParaRPr lang="en-US" sz="1200" dirty="0"/>
          </a:p>
        </p:txBody>
      </p:sp>
      <p:sp>
        <p:nvSpPr>
          <p:cNvPr id="60" name="Text 57"/>
          <p:cNvSpPr/>
          <p:nvPr/>
        </p:nvSpPr>
        <p:spPr>
          <a:xfrm>
            <a:off x="5943600" y="3392424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Supplier:</a:t>
            </a:r>
            <a:endParaRPr lang="en-US" sz="1200" dirty="0"/>
          </a:p>
        </p:txBody>
      </p:sp>
      <p:sp>
        <p:nvSpPr>
          <p:cNvPr id="61" name="Text 58"/>
          <p:cNvSpPr/>
          <p:nvPr/>
        </p:nvSpPr>
        <p:spPr>
          <a:xfrm>
            <a:off x="7223760" y="3392424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7A3D"/>
                </a:solidFill>
                <a:latin typeface="Hyundai Sans Text Pro Bold" pitchFamily="34" charset="0"/>
                <a:ea typeface="Hyundai Sans Text Pro Bold" pitchFamily="34" charset="-122"/>
                <a:cs typeface="Hyundai Sans Text Pro Bold" pitchFamily="34" charset="-120"/>
              </a:rPr>
              <a:t>mapped</a:t>
            </a:r>
            <a:endParaRPr lang="en-US" sz="1200" dirty="0"/>
          </a:p>
        </p:txBody>
      </p:sp>
      <p:sp>
        <p:nvSpPr>
          <p:cNvPr id="62" name="Text 59"/>
          <p:cNvSpPr/>
          <p:nvPr/>
        </p:nvSpPr>
        <p:spPr>
          <a:xfrm>
            <a:off x="8686800" y="278892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Variant: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9966960" y="278892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7A3D"/>
                </a:solidFill>
                <a:latin typeface="Hyundai Sans Text Pro Bold" pitchFamily="34" charset="0"/>
                <a:ea typeface="Hyundai Sans Text Pro Bold" pitchFamily="34" charset="-122"/>
                <a:cs typeface="Hyundai Sans Text Pro Bold" pitchFamily="34" charset="-120"/>
              </a:rPr>
              <a:t>valid</a:t>
            </a:r>
            <a:endParaRPr lang="en-US" sz="1200" dirty="0"/>
          </a:p>
        </p:txBody>
      </p:sp>
      <p:sp>
        <p:nvSpPr>
          <p:cNvPr id="64" name="Text 61"/>
          <p:cNvSpPr/>
          <p:nvPr/>
        </p:nvSpPr>
        <p:spPr>
          <a:xfrm>
            <a:off x="8686800" y="3090672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Rollback:</a:t>
            </a:r>
            <a:endParaRPr lang="en-US" sz="1200" dirty="0"/>
          </a:p>
        </p:txBody>
      </p:sp>
      <p:sp>
        <p:nvSpPr>
          <p:cNvPr id="65" name="Text 62"/>
          <p:cNvSpPr/>
          <p:nvPr/>
        </p:nvSpPr>
        <p:spPr>
          <a:xfrm>
            <a:off x="9966960" y="3090672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7A3D"/>
                </a:solidFill>
                <a:latin typeface="Hyundai Sans Text Pro Bold" pitchFamily="34" charset="0"/>
                <a:ea typeface="Hyundai Sans Text Pro Bold" pitchFamily="34" charset="-122"/>
                <a:cs typeface="Hyundai Sans Text Pro Bold" pitchFamily="34" charset="-120"/>
              </a:rPr>
              <a:t>defined</a:t>
            </a:r>
            <a:endParaRPr lang="en-US" sz="1200" dirty="0"/>
          </a:p>
        </p:txBody>
      </p:sp>
      <p:sp>
        <p:nvSpPr>
          <p:cNvPr id="66" name="Text 63"/>
          <p:cNvSpPr/>
          <p:nvPr/>
        </p:nvSpPr>
        <p:spPr>
          <a:xfrm>
            <a:off x="8686800" y="3392424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Telemetry:</a:t>
            </a:r>
            <a:endParaRPr lang="en-US" sz="1200" dirty="0"/>
          </a:p>
        </p:txBody>
      </p:sp>
      <p:sp>
        <p:nvSpPr>
          <p:cNvPr id="67" name="Text 64"/>
          <p:cNvSpPr/>
          <p:nvPr/>
        </p:nvSpPr>
        <p:spPr>
          <a:xfrm>
            <a:off x="9966960" y="3392424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410E"/>
                </a:solidFill>
                <a:latin typeface="Hyundai Sans Text Pro Bold" pitchFamily="34" charset="0"/>
                <a:ea typeface="Hyundai Sans Text Pro Bold" pitchFamily="34" charset="-122"/>
                <a:cs typeface="Hyundai Sans Text Pro Bold" pitchFamily="34" charset="-120"/>
              </a:rPr>
              <a:t>partial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594360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Quick Actions</a:t>
            </a:r>
            <a:endParaRPr lang="en-US" sz="1300" dirty="0"/>
          </a:p>
        </p:txBody>
      </p:sp>
      <p:sp>
        <p:nvSpPr>
          <p:cNvPr id="69" name="Shape 66"/>
          <p:cNvSpPr/>
          <p:nvPr/>
        </p:nvSpPr>
        <p:spPr>
          <a:xfrm>
            <a:off x="5943600" y="4160520"/>
            <a:ext cx="1280160" cy="36576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7"/>
          <p:cNvSpPr/>
          <p:nvPr/>
        </p:nvSpPr>
        <p:spPr>
          <a:xfrm>
            <a:off x="5943600" y="4160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Run Impact</a:t>
            </a:r>
            <a:endParaRPr lang="en-US" sz="1200" dirty="0"/>
          </a:p>
        </p:txBody>
      </p:sp>
      <p:sp>
        <p:nvSpPr>
          <p:cNvPr id="71" name="Shape 68"/>
          <p:cNvSpPr/>
          <p:nvPr/>
        </p:nvSpPr>
        <p:spPr>
          <a:xfrm>
            <a:off x="7315200" y="4160520"/>
            <a:ext cx="1280160" cy="36576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Text 69"/>
          <p:cNvSpPr/>
          <p:nvPr/>
        </p:nvSpPr>
        <p:spPr>
          <a:xfrm>
            <a:off x="7315200" y="4160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Derive Verification</a:t>
            </a:r>
            <a:endParaRPr lang="en-US" sz="1200" dirty="0"/>
          </a:p>
        </p:txBody>
      </p:sp>
      <p:sp>
        <p:nvSpPr>
          <p:cNvPr id="73" name="Shape 70"/>
          <p:cNvSpPr/>
          <p:nvPr/>
        </p:nvSpPr>
        <p:spPr>
          <a:xfrm>
            <a:off x="8686800" y="4160520"/>
            <a:ext cx="1280160" cy="36576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1"/>
          <p:cNvSpPr/>
          <p:nvPr/>
        </p:nvSpPr>
        <p:spPr>
          <a:xfrm>
            <a:off x="8686800" y="4160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Deployment Decision</a:t>
            </a:r>
            <a:endParaRPr lang="en-US" sz="1200" dirty="0"/>
          </a:p>
        </p:txBody>
      </p:sp>
      <p:sp>
        <p:nvSpPr>
          <p:cNvPr id="75" name="Shape 72"/>
          <p:cNvSpPr/>
          <p:nvPr/>
        </p:nvSpPr>
        <p:spPr>
          <a:xfrm>
            <a:off x="10058400" y="4160520"/>
            <a:ext cx="1280160" cy="36576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3"/>
          <p:cNvSpPr/>
          <p:nvPr/>
        </p:nvSpPr>
        <p:spPr>
          <a:xfrm>
            <a:off x="10058400" y="4160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Create CR</a:t>
            </a:r>
            <a:endParaRPr lang="en-US" sz="1200" dirty="0"/>
          </a:p>
        </p:txBody>
      </p:sp>
      <p:sp>
        <p:nvSpPr>
          <p:cNvPr id="77" name="Shape 74"/>
          <p:cNvSpPr/>
          <p:nvPr/>
        </p:nvSpPr>
        <p:spPr>
          <a:xfrm>
            <a:off x="685800" y="5349240"/>
            <a:ext cx="10789920" cy="36576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5"/>
          <p:cNvSpPr/>
          <p:nvPr/>
        </p:nvSpPr>
        <p:spPr>
          <a:xfrm>
            <a:off x="868680" y="53492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7410E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Warnings :  Test Coverage 75% (1/4 미완) · Telemetry 연결 partial — Release Readiness Gate 미통과 항목 존재</a:t>
            </a:r>
            <a:endParaRPr lang="en-US" sz="1200" dirty="0"/>
          </a:p>
        </p:txBody>
      </p:sp>
      <p:sp>
        <p:nvSpPr>
          <p:cNvPr id="79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ISO/IEC/IEEE 29148 요구사항 속성; OMG ReqIF Metadata; Mutuus Lab UI IA.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472C4"/>
                </a:solidFill>
                <a:latin typeface="Hyundai Sans Head Pro Medium" pitchFamily="34" charset="0"/>
                <a:ea typeface="Hyundai Sans Head Pro Medium" pitchFamily="34" charset="-122"/>
                <a:cs typeface="Hyundai Sans Head Pro Medium" pitchFamily="34" charset="-120"/>
              </a:rPr>
              <a:t>J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기대 효과 정량화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822960"/>
            <a:ext cx="50292" cy="3200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94360" y="79552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Topology 도입 시 정량적으로 기대할 수 있는 효과를 항목별로 산출한다.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1508760"/>
            <a:ext cx="35204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02920" y="1508760"/>
            <a:ext cx="3520440" cy="4572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94360" y="15087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영향도 분석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소요 시간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4360" y="2011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Before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508760" y="2011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410E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2~3일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94360" y="22585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After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508760" y="22585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A3D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수 분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788920" y="2039112"/>
            <a:ext cx="1097280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2788920" y="203911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95% 단축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94360" y="26060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담당자 경험 의존 → Topology 자동 탐색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315968" y="1508760"/>
            <a:ext cx="35204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4315968" y="1508760"/>
            <a:ext cx="3520440" cy="4572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4407408" y="15087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검증 범위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누락률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407408" y="2011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Before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321808" y="2011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410E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15~20%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407408" y="22585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After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321808" y="22585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A3D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&lt; 2%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601968" y="2039112"/>
            <a:ext cx="1097280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6601968" y="203911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90% 감소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407408" y="26060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수동 판단 → Feature 조건별 자동 도출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8129016" y="1508760"/>
            <a:ext cx="35204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8129016" y="1508760"/>
            <a:ext cx="3520440" cy="4572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8220456" y="15087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배포 판단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소요 시간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8220456" y="2011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Before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134856" y="2011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410E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1~2주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8220456" y="22585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After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9134856" y="22585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A3D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즉시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10415016" y="2039112"/>
            <a:ext cx="1097280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10415016" y="203911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90% 단축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8220456" y="26060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회의 기반 → Policy-only 자동 판별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502920" y="3383280"/>
            <a:ext cx="35204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8"/>
          <p:cNvSpPr/>
          <p:nvPr/>
        </p:nvSpPr>
        <p:spPr>
          <a:xfrm>
            <a:off x="502920" y="3383280"/>
            <a:ext cx="3520440" cy="4572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/>
          <p:nvPr/>
        </p:nvSpPr>
        <p:spPr>
          <a:xfrm>
            <a:off x="594360" y="33832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협력사 책임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Gap 발견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594360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Before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1508760" y="3886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410E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양산 후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594360" y="4133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After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1508760" y="41330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A3D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사전 탐지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2788920" y="3913632"/>
            <a:ext cx="1097280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/>
          <p:nvPr/>
        </p:nvSpPr>
        <p:spPr>
          <a:xfrm>
            <a:off x="2788920" y="39136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사후→사전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594360" y="44805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문서 기반 → Feature ID 자동 매핑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4315968" y="3383280"/>
            <a:ext cx="35204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8"/>
          <p:cNvSpPr/>
          <p:nvPr/>
        </p:nvSpPr>
        <p:spPr>
          <a:xfrm>
            <a:off x="4315968" y="3383280"/>
            <a:ext cx="3520440" cy="4572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9"/>
          <p:cNvSpPr/>
          <p:nvPr/>
        </p:nvSpPr>
        <p:spPr>
          <a:xfrm>
            <a:off x="4407408" y="33832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 중복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등록률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4407408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Before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5321808" y="3886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410E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10~15%</a:t>
            </a:r>
            <a:endParaRPr lang="en-US" sz="1300" dirty="0"/>
          </a:p>
        </p:txBody>
      </p:sp>
      <p:sp>
        <p:nvSpPr>
          <p:cNvPr id="55" name="Text 52"/>
          <p:cNvSpPr/>
          <p:nvPr/>
        </p:nvSpPr>
        <p:spPr>
          <a:xfrm>
            <a:off x="4407408" y="4133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After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5321808" y="41330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A3D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&lt; 3%</a:t>
            </a:r>
            <a:endParaRPr lang="en-US" sz="1300" dirty="0"/>
          </a:p>
        </p:txBody>
      </p:sp>
      <p:sp>
        <p:nvSpPr>
          <p:cNvPr id="57" name="Shape 54"/>
          <p:cNvSpPr/>
          <p:nvPr/>
        </p:nvSpPr>
        <p:spPr>
          <a:xfrm>
            <a:off x="6601968" y="3913632"/>
            <a:ext cx="1097280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5"/>
          <p:cNvSpPr/>
          <p:nvPr/>
        </p:nvSpPr>
        <p:spPr>
          <a:xfrm>
            <a:off x="6601968" y="39136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80% 감소</a:t>
            </a:r>
            <a:endParaRPr lang="en-US" sz="1300" dirty="0"/>
          </a:p>
        </p:txBody>
      </p:sp>
      <p:sp>
        <p:nvSpPr>
          <p:cNvPr id="59" name="Text 56"/>
          <p:cNvSpPr/>
          <p:nvPr/>
        </p:nvSpPr>
        <p:spPr>
          <a:xfrm>
            <a:off x="4407408" y="44805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조직별 개별 관리 → Catalog 단일화</a:t>
            </a:r>
            <a:endParaRPr lang="en-US" sz="1200" dirty="0"/>
          </a:p>
        </p:txBody>
      </p:sp>
      <p:sp>
        <p:nvSpPr>
          <p:cNvPr id="60" name="Shape 57"/>
          <p:cNvSpPr/>
          <p:nvPr/>
        </p:nvSpPr>
        <p:spPr>
          <a:xfrm>
            <a:off x="8129016" y="3383280"/>
            <a:ext cx="35204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8"/>
          <p:cNvSpPr/>
          <p:nvPr/>
        </p:nvSpPr>
        <p:spPr>
          <a:xfrm>
            <a:off x="8129016" y="3383280"/>
            <a:ext cx="3520440" cy="4572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9"/>
          <p:cNvSpPr/>
          <p:nvPr/>
        </p:nvSpPr>
        <p:spPr>
          <a:xfrm>
            <a:off x="8220456" y="33832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Binary OTA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불필요 배포</a:t>
            </a:r>
            <a:endParaRPr lang="en-US" sz="1300" dirty="0"/>
          </a:p>
        </p:txBody>
      </p:sp>
      <p:sp>
        <p:nvSpPr>
          <p:cNvPr id="63" name="Text 60"/>
          <p:cNvSpPr/>
          <p:nvPr/>
        </p:nvSpPr>
        <p:spPr>
          <a:xfrm>
            <a:off x="8220456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Before</a:t>
            </a:r>
            <a:endParaRPr lang="en-US" sz="1200" dirty="0"/>
          </a:p>
        </p:txBody>
      </p:sp>
      <p:sp>
        <p:nvSpPr>
          <p:cNvPr id="64" name="Text 61"/>
          <p:cNvSpPr/>
          <p:nvPr/>
        </p:nvSpPr>
        <p:spPr>
          <a:xfrm>
            <a:off x="9134856" y="3886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410E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30~40%</a:t>
            </a:r>
            <a:endParaRPr lang="en-US" sz="1300" dirty="0"/>
          </a:p>
        </p:txBody>
      </p:sp>
      <p:sp>
        <p:nvSpPr>
          <p:cNvPr id="65" name="Text 62"/>
          <p:cNvSpPr/>
          <p:nvPr/>
        </p:nvSpPr>
        <p:spPr>
          <a:xfrm>
            <a:off x="8220456" y="4133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After</a:t>
            </a:r>
            <a:endParaRPr lang="en-US" sz="1200" dirty="0"/>
          </a:p>
        </p:txBody>
      </p:sp>
      <p:sp>
        <p:nvSpPr>
          <p:cNvPr id="66" name="Text 63"/>
          <p:cNvSpPr/>
          <p:nvPr/>
        </p:nvSpPr>
        <p:spPr>
          <a:xfrm>
            <a:off x="9134856" y="41330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A3D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&lt; 5%</a:t>
            </a:r>
            <a:endParaRPr lang="en-US" sz="1300" dirty="0"/>
          </a:p>
        </p:txBody>
      </p:sp>
      <p:sp>
        <p:nvSpPr>
          <p:cNvPr id="67" name="Shape 64"/>
          <p:cNvSpPr/>
          <p:nvPr/>
        </p:nvSpPr>
        <p:spPr>
          <a:xfrm>
            <a:off x="10415016" y="3913632"/>
            <a:ext cx="1097280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5"/>
          <p:cNvSpPr/>
          <p:nvPr/>
        </p:nvSpPr>
        <p:spPr>
          <a:xfrm>
            <a:off x="10415016" y="39136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85% 감소</a:t>
            </a:r>
            <a:endParaRPr lang="en-US" sz="1300" dirty="0"/>
          </a:p>
        </p:txBody>
      </p:sp>
      <p:sp>
        <p:nvSpPr>
          <p:cNvPr id="69" name="Text 66"/>
          <p:cNvSpPr/>
          <p:nvPr/>
        </p:nvSpPr>
        <p:spPr>
          <a:xfrm>
            <a:off x="8220456" y="44805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일괄 Binary → Policy-only 자동 분류</a:t>
            </a:r>
            <a:endParaRPr lang="en-US" sz="1200" dirty="0"/>
          </a:p>
        </p:txBody>
      </p:sp>
      <p:sp>
        <p:nvSpPr>
          <p:cNvPr id="70" name="Shape 67"/>
          <p:cNvSpPr/>
          <p:nvPr/>
        </p:nvSpPr>
        <p:spPr>
          <a:xfrm>
            <a:off x="502920" y="5074920"/>
            <a:ext cx="11155680" cy="4572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8"/>
          <p:cNvSpPr/>
          <p:nvPr/>
        </p:nvSpPr>
        <p:spPr>
          <a:xfrm>
            <a:off x="731520" y="5074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핵심 :  </a:t>
            </a:r>
            <a:r>
              <a:rPr lang="en-US" sz="1200" dirty="0">
                <a:solidFill>
                  <a:srgbClr val="FFFF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Topology 도입으로 </a:t>
            </a: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영향도 분석 95% · 검증 누락 90% · 불필요 Binary OTA 85% 감소</a:t>
            </a:r>
            <a:r>
              <a:rPr lang="en-US" sz="1200" dirty="0">
                <a:solidFill>
                  <a:srgbClr val="FFFF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가 기대된다.</a:t>
            </a:r>
            <a:endParaRPr lang="en-US" sz="1300" dirty="0"/>
          </a:p>
        </p:txBody>
      </p:sp>
      <p:sp>
        <p:nvSpPr>
          <p:cNvPr id="72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Mutuus Lab 내부 추정 및 기대효과 가설; PoC/운영 데이터 기반 검증 필요.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472C4"/>
                </a:solidFill>
                <a:latin typeface="Hyundai Sans Head Pro Medium" pitchFamily="34" charset="0"/>
                <a:ea typeface="Hyundai Sans Head Pro Medium" pitchFamily="34" charset="-122"/>
                <a:cs typeface="Hyundai Sans Head Pro Medium" pitchFamily="34" charset="-120"/>
              </a:rPr>
              <a:t>K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 Catalog UI — 목록 화면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822960"/>
            <a:ext cx="50292" cy="3200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94360" y="79552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사용자가 가장 먼저 접하는 화면 — Feature 검색 · 필터 · 상태 파악을 한 곳에서 수행한다.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1463040"/>
            <a:ext cx="111556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85800" y="1600200"/>
            <a:ext cx="6400800" cy="4114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822960" y="16002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EDEDE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Search Features ...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85800" y="2148840"/>
            <a:ext cx="1234440" cy="292608"/>
          </a:xfrm>
          <a:prstGeom prst="rect">
            <a:avLst/>
          </a:prstGeom>
          <a:solidFill>
            <a:srgbClr val="F2F2F2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685800" y="21488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Domain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011680" y="2148840"/>
            <a:ext cx="1234440" cy="292608"/>
          </a:xfrm>
          <a:prstGeom prst="rect">
            <a:avLst/>
          </a:prstGeom>
          <a:solidFill>
            <a:srgbClr val="F2F2F2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2011680" y="21488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Level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337560" y="2148840"/>
            <a:ext cx="1234440" cy="292608"/>
          </a:xfrm>
          <a:prstGeom prst="rect">
            <a:avLst/>
          </a:prstGeom>
          <a:solidFill>
            <a:srgbClr val="F2F2F2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3337560" y="21488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Lifecycle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663440" y="2148840"/>
            <a:ext cx="1234440" cy="292608"/>
          </a:xfrm>
          <a:prstGeom prst="rect">
            <a:avLst/>
          </a:prstGeom>
          <a:solidFill>
            <a:srgbClr val="F2F2F2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4663440" y="21488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Owner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989320" y="2148840"/>
            <a:ext cx="1234440" cy="292608"/>
          </a:xfrm>
          <a:prstGeom prst="rect">
            <a:avLst/>
          </a:prstGeom>
          <a:solidFill>
            <a:srgbClr val="F2F2F2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5989320" y="21488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Supplier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315200" y="2148840"/>
            <a:ext cx="1234440" cy="292608"/>
          </a:xfrm>
          <a:prstGeom prst="rect">
            <a:avLst/>
          </a:prstGeom>
          <a:solidFill>
            <a:srgbClr val="F2F2F2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7315200" y="21488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ECU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641080" y="2148840"/>
            <a:ext cx="1234440" cy="292608"/>
          </a:xfrm>
          <a:prstGeom prst="rect">
            <a:avLst/>
          </a:prstGeom>
          <a:solidFill>
            <a:srgbClr val="F2F2F2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8641080" y="21488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Deploy Type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9966960" y="2148840"/>
            <a:ext cx="1234440" cy="292608"/>
          </a:xfrm>
          <a:prstGeom prst="rect">
            <a:avLst/>
          </a:prstGeom>
          <a:solidFill>
            <a:srgbClr val="F2F2F2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9966960" y="21488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Safety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85800" y="2606040"/>
            <a:ext cx="10424160" cy="38404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685800" y="26060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Display ID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2148840" y="26060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 Name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343400" y="2606040"/>
            <a:ext cx="9144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Level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257800" y="26060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Domain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355080" y="26060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Owner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7635240" y="26060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Lifecycle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8641080" y="26060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Deploy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9738360" y="26060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Health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85800" y="2990088"/>
            <a:ext cx="10424160" cy="38404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/>
          <p:nvPr/>
        </p:nvSpPr>
        <p:spPr>
          <a:xfrm>
            <a:off x="685800" y="29900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FEAT-BDC-001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2148840" y="2990088"/>
            <a:ext cx="219456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BDC Policy Control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4343400" y="2990088"/>
            <a:ext cx="9144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L2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5257800" y="2990088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Body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6355080" y="29900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Body Team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7635240" y="2990088"/>
            <a:ext cx="10058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Approved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8641080" y="2990088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Policy-only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9738360" y="29900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410E"/>
                </a:solidFill>
                <a:latin typeface="Hyundai Sans Text Pro Bold" pitchFamily="34" charset="0"/>
                <a:ea typeface="Hyundai Sans Text Pro Bold" pitchFamily="34" charset="-122"/>
                <a:cs typeface="Hyundai Sans Text Pro Bold" pitchFamily="34" charset="-120"/>
              </a:rPr>
              <a:t>5/6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685800" y="3374136"/>
            <a:ext cx="1042416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/>
          <p:nvPr/>
        </p:nvSpPr>
        <p:spPr>
          <a:xfrm>
            <a:off x="685800" y="3374136"/>
            <a:ext cx="14630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FEAT-BDC-002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2148840" y="3374136"/>
            <a:ext cx="219456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BDC Legacy Logic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4343400" y="3374136"/>
            <a:ext cx="9144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L3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5257800" y="3374136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Body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6355080" y="3374136"/>
            <a:ext cx="128016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Body Team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7635240" y="3374136"/>
            <a:ext cx="10058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Retired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8641080" y="3374136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Binary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9738360" y="33741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7A3D"/>
                </a:solidFill>
                <a:latin typeface="Hyundai Sans Text Pro Bold" pitchFamily="34" charset="0"/>
                <a:ea typeface="Hyundai Sans Text Pro Bold" pitchFamily="34" charset="-122"/>
                <a:cs typeface="Hyundai Sans Text Pro Bold" pitchFamily="34" charset="-120"/>
              </a:rPr>
              <a:t>6/6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685800" y="3758184"/>
            <a:ext cx="10424160" cy="38404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4"/>
          <p:cNvSpPr/>
          <p:nvPr/>
        </p:nvSpPr>
        <p:spPr>
          <a:xfrm>
            <a:off x="685800" y="37581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FEAT-ADAS-001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2148840" y="3758184"/>
            <a:ext cx="219456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AEB Emergency Brake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4343400" y="3758184"/>
            <a:ext cx="9144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L2</a:t>
            </a:r>
            <a:endParaRPr lang="en-US" sz="1200" dirty="0"/>
          </a:p>
        </p:txBody>
      </p:sp>
      <p:sp>
        <p:nvSpPr>
          <p:cNvPr id="60" name="Text 57"/>
          <p:cNvSpPr/>
          <p:nvPr/>
        </p:nvSpPr>
        <p:spPr>
          <a:xfrm>
            <a:off x="5257800" y="37581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ADAS</a:t>
            </a:r>
            <a:endParaRPr lang="en-US" sz="1200" dirty="0"/>
          </a:p>
        </p:txBody>
      </p:sp>
      <p:sp>
        <p:nvSpPr>
          <p:cNvPr id="61" name="Text 58"/>
          <p:cNvSpPr/>
          <p:nvPr/>
        </p:nvSpPr>
        <p:spPr>
          <a:xfrm>
            <a:off x="6355080" y="3758184"/>
            <a:ext cx="128016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ADAS Team</a:t>
            </a:r>
            <a:endParaRPr lang="en-US" sz="1200" dirty="0"/>
          </a:p>
        </p:txBody>
      </p:sp>
      <p:sp>
        <p:nvSpPr>
          <p:cNvPr id="62" name="Text 59"/>
          <p:cNvSpPr/>
          <p:nvPr/>
        </p:nvSpPr>
        <p:spPr>
          <a:xfrm>
            <a:off x="7635240" y="37581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Released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8641080" y="37581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Binary</a:t>
            </a:r>
            <a:endParaRPr lang="en-US" sz="1200" dirty="0"/>
          </a:p>
        </p:txBody>
      </p:sp>
      <p:sp>
        <p:nvSpPr>
          <p:cNvPr id="64" name="Text 61"/>
          <p:cNvSpPr/>
          <p:nvPr/>
        </p:nvSpPr>
        <p:spPr>
          <a:xfrm>
            <a:off x="9738360" y="3758184"/>
            <a:ext cx="13716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7A3D"/>
                </a:solidFill>
                <a:latin typeface="Hyundai Sans Text Pro Bold" pitchFamily="34" charset="0"/>
                <a:ea typeface="Hyundai Sans Text Pro Bold" pitchFamily="34" charset="-122"/>
                <a:cs typeface="Hyundai Sans Text Pro Bold" pitchFamily="34" charset="-120"/>
              </a:rPr>
              <a:t>6/6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685800" y="4142232"/>
            <a:ext cx="1042416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3"/>
          <p:cNvSpPr/>
          <p:nvPr/>
        </p:nvSpPr>
        <p:spPr>
          <a:xfrm>
            <a:off x="685800" y="41422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FEAT-CONN-001</a:t>
            </a:r>
            <a:endParaRPr lang="en-US" sz="1200" dirty="0"/>
          </a:p>
        </p:txBody>
      </p:sp>
      <p:sp>
        <p:nvSpPr>
          <p:cNvPr id="67" name="Text 64"/>
          <p:cNvSpPr/>
          <p:nvPr/>
        </p:nvSpPr>
        <p:spPr>
          <a:xfrm>
            <a:off x="2148840" y="41422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Remote Door Lock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4343400" y="4142232"/>
            <a:ext cx="9144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L1</a:t>
            </a:r>
            <a:endParaRPr lang="en-US" sz="1200" dirty="0"/>
          </a:p>
        </p:txBody>
      </p:sp>
      <p:sp>
        <p:nvSpPr>
          <p:cNvPr id="69" name="Text 66"/>
          <p:cNvSpPr/>
          <p:nvPr/>
        </p:nvSpPr>
        <p:spPr>
          <a:xfrm>
            <a:off x="5257800" y="41422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Conn.</a:t>
            </a:r>
            <a:endParaRPr lang="en-US" sz="1200" dirty="0"/>
          </a:p>
        </p:txBody>
      </p:sp>
      <p:sp>
        <p:nvSpPr>
          <p:cNvPr id="70" name="Text 67"/>
          <p:cNvSpPr/>
          <p:nvPr/>
        </p:nvSpPr>
        <p:spPr>
          <a:xfrm>
            <a:off x="6355080" y="41422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Conn. Team</a:t>
            </a:r>
            <a:endParaRPr lang="en-US" sz="1200" dirty="0"/>
          </a:p>
        </p:txBody>
      </p:sp>
      <p:sp>
        <p:nvSpPr>
          <p:cNvPr id="71" name="Text 68"/>
          <p:cNvSpPr/>
          <p:nvPr/>
        </p:nvSpPr>
        <p:spPr>
          <a:xfrm>
            <a:off x="7635240" y="4142232"/>
            <a:ext cx="10058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Developing</a:t>
            </a:r>
            <a:endParaRPr lang="en-US" sz="1200" dirty="0"/>
          </a:p>
        </p:txBody>
      </p:sp>
      <p:sp>
        <p:nvSpPr>
          <p:cNvPr id="72" name="Text 69"/>
          <p:cNvSpPr/>
          <p:nvPr/>
        </p:nvSpPr>
        <p:spPr>
          <a:xfrm>
            <a:off x="8641080" y="41422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Policy-only</a:t>
            </a:r>
            <a:endParaRPr lang="en-US" sz="1200" dirty="0"/>
          </a:p>
        </p:txBody>
      </p:sp>
      <p:sp>
        <p:nvSpPr>
          <p:cNvPr id="73" name="Text 70"/>
          <p:cNvSpPr/>
          <p:nvPr/>
        </p:nvSpPr>
        <p:spPr>
          <a:xfrm>
            <a:off x="9738360" y="41422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410E"/>
                </a:solidFill>
                <a:latin typeface="Hyundai Sans Text Pro Bold" pitchFamily="34" charset="0"/>
                <a:ea typeface="Hyundai Sans Text Pro Bold" pitchFamily="34" charset="-122"/>
                <a:cs typeface="Hyundai Sans Text Pro Bold" pitchFamily="34" charset="-120"/>
              </a:rPr>
              <a:t>3/6</a:t>
            </a:r>
            <a:endParaRPr lang="en-US" sz="1200" dirty="0"/>
          </a:p>
        </p:txBody>
      </p:sp>
      <p:sp>
        <p:nvSpPr>
          <p:cNvPr id="74" name="Shape 71"/>
          <p:cNvSpPr/>
          <p:nvPr/>
        </p:nvSpPr>
        <p:spPr>
          <a:xfrm>
            <a:off x="685800" y="4526280"/>
            <a:ext cx="10424160" cy="38404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2"/>
          <p:cNvSpPr/>
          <p:nvPr/>
        </p:nvSpPr>
        <p:spPr>
          <a:xfrm>
            <a:off x="685800" y="45262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FEAT-SEAT-001</a:t>
            </a:r>
            <a:endParaRPr lang="en-US" sz="1200" dirty="0"/>
          </a:p>
        </p:txBody>
      </p:sp>
      <p:sp>
        <p:nvSpPr>
          <p:cNvPr id="76" name="Text 73"/>
          <p:cNvSpPr/>
          <p:nvPr/>
        </p:nvSpPr>
        <p:spPr>
          <a:xfrm>
            <a:off x="2148840" y="45262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Seat Heat Auth</a:t>
            </a:r>
            <a:endParaRPr lang="en-US" sz="1200" dirty="0"/>
          </a:p>
        </p:txBody>
      </p:sp>
      <p:sp>
        <p:nvSpPr>
          <p:cNvPr id="77" name="Text 74"/>
          <p:cNvSpPr/>
          <p:nvPr/>
        </p:nvSpPr>
        <p:spPr>
          <a:xfrm>
            <a:off x="4343400" y="4526280"/>
            <a:ext cx="9144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L2</a:t>
            </a:r>
            <a:endParaRPr lang="en-US" sz="1200" dirty="0"/>
          </a:p>
        </p:txBody>
      </p:sp>
      <p:sp>
        <p:nvSpPr>
          <p:cNvPr id="78" name="Text 75"/>
          <p:cNvSpPr/>
          <p:nvPr/>
        </p:nvSpPr>
        <p:spPr>
          <a:xfrm>
            <a:off x="5257800" y="45262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Body</a:t>
            </a:r>
            <a:endParaRPr lang="en-US" sz="1200" dirty="0"/>
          </a:p>
        </p:txBody>
      </p:sp>
      <p:sp>
        <p:nvSpPr>
          <p:cNvPr id="79" name="Text 76"/>
          <p:cNvSpPr/>
          <p:nvPr/>
        </p:nvSpPr>
        <p:spPr>
          <a:xfrm>
            <a:off x="6355080" y="45262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Body Team</a:t>
            </a:r>
            <a:endParaRPr lang="en-US" sz="1200" dirty="0"/>
          </a:p>
        </p:txBody>
      </p:sp>
      <p:sp>
        <p:nvSpPr>
          <p:cNvPr id="80" name="Text 77"/>
          <p:cNvSpPr/>
          <p:nvPr/>
        </p:nvSpPr>
        <p:spPr>
          <a:xfrm>
            <a:off x="7635240" y="45262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Proposed</a:t>
            </a:r>
            <a:endParaRPr lang="en-US" sz="1200" dirty="0"/>
          </a:p>
        </p:txBody>
      </p:sp>
      <p:sp>
        <p:nvSpPr>
          <p:cNvPr id="81" name="Text 78"/>
          <p:cNvSpPr/>
          <p:nvPr/>
        </p:nvSpPr>
        <p:spPr>
          <a:xfrm>
            <a:off x="8641080" y="45262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TBD</a:t>
            </a:r>
            <a:endParaRPr lang="en-US" sz="1200" dirty="0"/>
          </a:p>
        </p:txBody>
      </p:sp>
      <p:sp>
        <p:nvSpPr>
          <p:cNvPr id="82" name="Text 79"/>
          <p:cNvSpPr/>
          <p:nvPr/>
        </p:nvSpPr>
        <p:spPr>
          <a:xfrm>
            <a:off x="9738360" y="45262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410E"/>
                </a:solidFill>
                <a:latin typeface="Hyundai Sans Text Pro Bold" pitchFamily="34" charset="0"/>
                <a:ea typeface="Hyundai Sans Text Pro Bold" pitchFamily="34" charset="-122"/>
                <a:cs typeface="Hyundai Sans Text Pro Bold" pitchFamily="34" charset="-120"/>
              </a:rPr>
              <a:t>1/6</a:t>
            </a:r>
            <a:endParaRPr lang="en-US" sz="1200" dirty="0"/>
          </a:p>
        </p:txBody>
      </p:sp>
      <p:sp>
        <p:nvSpPr>
          <p:cNvPr id="83" name="Shape 80"/>
          <p:cNvSpPr/>
          <p:nvPr/>
        </p:nvSpPr>
        <p:spPr>
          <a:xfrm>
            <a:off x="685800" y="4910328"/>
            <a:ext cx="1042416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" name="Text 81"/>
          <p:cNvSpPr/>
          <p:nvPr/>
        </p:nvSpPr>
        <p:spPr>
          <a:xfrm>
            <a:off x="685800" y="49103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FEAT-PARK-001</a:t>
            </a:r>
            <a:endParaRPr lang="en-US" sz="1200" dirty="0"/>
          </a:p>
        </p:txBody>
      </p:sp>
      <p:sp>
        <p:nvSpPr>
          <p:cNvPr id="85" name="Text 82"/>
          <p:cNvSpPr/>
          <p:nvPr/>
        </p:nvSpPr>
        <p:spPr>
          <a:xfrm>
            <a:off x="2148840" y="4910328"/>
            <a:ext cx="219456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Remote Parking</a:t>
            </a:r>
            <a:endParaRPr lang="en-US" sz="1200" dirty="0"/>
          </a:p>
        </p:txBody>
      </p:sp>
      <p:sp>
        <p:nvSpPr>
          <p:cNvPr id="86" name="Text 83"/>
          <p:cNvSpPr/>
          <p:nvPr/>
        </p:nvSpPr>
        <p:spPr>
          <a:xfrm>
            <a:off x="4343400" y="4910328"/>
            <a:ext cx="9144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L2</a:t>
            </a:r>
            <a:endParaRPr lang="en-US" sz="1200" dirty="0"/>
          </a:p>
        </p:txBody>
      </p:sp>
      <p:sp>
        <p:nvSpPr>
          <p:cNvPr id="87" name="Text 84"/>
          <p:cNvSpPr/>
          <p:nvPr/>
        </p:nvSpPr>
        <p:spPr>
          <a:xfrm>
            <a:off x="5257800" y="49103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ADAS</a:t>
            </a:r>
            <a:endParaRPr lang="en-US" sz="1200" dirty="0"/>
          </a:p>
        </p:txBody>
      </p:sp>
      <p:sp>
        <p:nvSpPr>
          <p:cNvPr id="88" name="Text 85"/>
          <p:cNvSpPr/>
          <p:nvPr/>
        </p:nvSpPr>
        <p:spPr>
          <a:xfrm>
            <a:off x="6355080" y="49103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ADAS Team</a:t>
            </a:r>
            <a:endParaRPr lang="en-US" sz="1200" dirty="0"/>
          </a:p>
        </p:txBody>
      </p:sp>
      <p:sp>
        <p:nvSpPr>
          <p:cNvPr id="89" name="Text 86"/>
          <p:cNvSpPr/>
          <p:nvPr/>
        </p:nvSpPr>
        <p:spPr>
          <a:xfrm>
            <a:off x="7635240" y="4910328"/>
            <a:ext cx="10058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Approved</a:t>
            </a:r>
            <a:endParaRPr lang="en-US" sz="1200" dirty="0"/>
          </a:p>
        </p:txBody>
      </p:sp>
      <p:sp>
        <p:nvSpPr>
          <p:cNvPr id="90" name="Text 87"/>
          <p:cNvSpPr/>
          <p:nvPr/>
        </p:nvSpPr>
        <p:spPr>
          <a:xfrm>
            <a:off x="8641080" y="49103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Binary</a:t>
            </a:r>
            <a:endParaRPr lang="en-US" sz="1200" dirty="0"/>
          </a:p>
        </p:txBody>
      </p:sp>
      <p:sp>
        <p:nvSpPr>
          <p:cNvPr id="91" name="Text 88"/>
          <p:cNvSpPr/>
          <p:nvPr/>
        </p:nvSpPr>
        <p:spPr>
          <a:xfrm>
            <a:off x="9738360" y="49103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410E"/>
                </a:solidFill>
                <a:latin typeface="Hyundai Sans Text Pro Bold" pitchFamily="34" charset="0"/>
                <a:ea typeface="Hyundai Sans Text Pro Bold" pitchFamily="34" charset="-122"/>
                <a:cs typeface="Hyundai Sans Text Pro Bold" pitchFamily="34" charset="-120"/>
              </a:rPr>
              <a:t>4/6</a:t>
            </a:r>
            <a:endParaRPr lang="en-US" sz="1200" dirty="0"/>
          </a:p>
        </p:txBody>
      </p:sp>
      <p:sp>
        <p:nvSpPr>
          <p:cNvPr id="92" name="Shape 89"/>
          <p:cNvSpPr/>
          <p:nvPr/>
        </p:nvSpPr>
        <p:spPr>
          <a:xfrm>
            <a:off x="685800" y="5294376"/>
            <a:ext cx="10424160" cy="38404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" name="Text 90"/>
          <p:cNvSpPr/>
          <p:nvPr/>
        </p:nvSpPr>
        <p:spPr>
          <a:xfrm>
            <a:off x="685800" y="5294376"/>
            <a:ext cx="14630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FEAT-LIGHT-001</a:t>
            </a:r>
            <a:endParaRPr lang="en-US" sz="1200" dirty="0"/>
          </a:p>
        </p:txBody>
      </p:sp>
      <p:sp>
        <p:nvSpPr>
          <p:cNvPr id="94" name="Text 91"/>
          <p:cNvSpPr/>
          <p:nvPr/>
        </p:nvSpPr>
        <p:spPr>
          <a:xfrm>
            <a:off x="2148840" y="5294376"/>
            <a:ext cx="219456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Welcome Light</a:t>
            </a:r>
            <a:endParaRPr lang="en-US" sz="1200" dirty="0"/>
          </a:p>
        </p:txBody>
      </p:sp>
      <p:sp>
        <p:nvSpPr>
          <p:cNvPr id="95" name="Text 92"/>
          <p:cNvSpPr/>
          <p:nvPr/>
        </p:nvSpPr>
        <p:spPr>
          <a:xfrm>
            <a:off x="4343400" y="5294376"/>
            <a:ext cx="9144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L2</a:t>
            </a:r>
            <a:endParaRPr lang="en-US" sz="1200" dirty="0"/>
          </a:p>
        </p:txBody>
      </p:sp>
      <p:sp>
        <p:nvSpPr>
          <p:cNvPr id="96" name="Text 93"/>
          <p:cNvSpPr/>
          <p:nvPr/>
        </p:nvSpPr>
        <p:spPr>
          <a:xfrm>
            <a:off x="5257800" y="5294376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Body</a:t>
            </a:r>
            <a:endParaRPr lang="en-US" sz="1200" dirty="0"/>
          </a:p>
        </p:txBody>
      </p:sp>
      <p:sp>
        <p:nvSpPr>
          <p:cNvPr id="97" name="Text 94"/>
          <p:cNvSpPr/>
          <p:nvPr/>
        </p:nvSpPr>
        <p:spPr>
          <a:xfrm>
            <a:off x="6355080" y="5294376"/>
            <a:ext cx="128016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Body Team</a:t>
            </a:r>
            <a:endParaRPr lang="en-US" sz="1200" dirty="0"/>
          </a:p>
        </p:txBody>
      </p:sp>
      <p:sp>
        <p:nvSpPr>
          <p:cNvPr id="98" name="Text 95"/>
          <p:cNvSpPr/>
          <p:nvPr/>
        </p:nvSpPr>
        <p:spPr>
          <a:xfrm>
            <a:off x="7635240" y="5294376"/>
            <a:ext cx="10058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Verified</a:t>
            </a:r>
            <a:endParaRPr lang="en-US" sz="1200" dirty="0"/>
          </a:p>
        </p:txBody>
      </p:sp>
      <p:sp>
        <p:nvSpPr>
          <p:cNvPr id="99" name="Text 96"/>
          <p:cNvSpPr/>
          <p:nvPr/>
        </p:nvSpPr>
        <p:spPr>
          <a:xfrm>
            <a:off x="8641080" y="5294376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Policy-only</a:t>
            </a:r>
            <a:endParaRPr lang="en-US" sz="1200" dirty="0"/>
          </a:p>
        </p:txBody>
      </p:sp>
      <p:sp>
        <p:nvSpPr>
          <p:cNvPr id="100" name="Text 97"/>
          <p:cNvSpPr/>
          <p:nvPr/>
        </p:nvSpPr>
        <p:spPr>
          <a:xfrm>
            <a:off x="9738360" y="5294376"/>
            <a:ext cx="13716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410E"/>
                </a:solidFill>
                <a:latin typeface="Hyundai Sans Text Pro Bold" pitchFamily="34" charset="0"/>
                <a:ea typeface="Hyundai Sans Text Pro Bold" pitchFamily="34" charset="-122"/>
                <a:cs typeface="Hyundai Sans Text Pro Bold" pitchFamily="34" charset="-120"/>
              </a:rPr>
              <a:t>5/6</a:t>
            </a:r>
            <a:endParaRPr lang="en-US" sz="1200" dirty="0"/>
          </a:p>
        </p:txBody>
      </p:sp>
      <p:sp>
        <p:nvSpPr>
          <p:cNvPr id="101" name="Shape 98"/>
          <p:cNvSpPr/>
          <p:nvPr/>
        </p:nvSpPr>
        <p:spPr>
          <a:xfrm>
            <a:off x="685800" y="5687568"/>
            <a:ext cx="10424160" cy="3200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" name="Text 99"/>
          <p:cNvSpPr/>
          <p:nvPr/>
        </p:nvSpPr>
        <p:spPr>
          <a:xfrm>
            <a:off x="822960" y="56875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Total: 247 Features    Approved: 89    Developing: 52    Released: 78    Missing Traceability: 28</a:t>
            </a:r>
            <a:endParaRPr lang="en-US" sz="1200" dirty="0"/>
          </a:p>
        </p:txBody>
      </p:sp>
      <p:sp>
        <p:nvSpPr>
          <p:cNvPr id="103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ISO/IEC/IEEE 29148 요구사항 속성; OpenFeature Concepts; Mutuus Lab Catalog UI IA.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472C4"/>
                </a:solidFill>
                <a:latin typeface="Hyundai Sans Head Pro Medium" pitchFamily="34" charset="0"/>
                <a:ea typeface="Hyundai Sans Head Pro Medium" pitchFamily="34" charset="-122"/>
                <a:cs typeface="Hyundai Sans Head Pro Medium" pitchFamily="34" charset="-120"/>
              </a:rPr>
              <a:t>L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왜 Feature Topology가 필요한가 — 조직별 인식 차이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822960"/>
            <a:ext cx="50292" cy="3200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94360" y="79552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같은 기능을 조직마다 다른 이름·단위·ID로 관리하면 추적·검증·배포·책임 판단이 불가능하다.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410E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현재 문제 :  조직마다 다른 언어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" y="1920240"/>
            <a:ext cx="5486400" cy="457200"/>
          </a:xfrm>
          <a:prstGeom prst="rect">
            <a:avLst/>
          </a:prstGeom>
          <a:solidFill>
            <a:srgbClr val="7B241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02920" y="1920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조직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691640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관리 단위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520440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사용하는 이름 예시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2920" y="2377440"/>
            <a:ext cx="5486400" cy="4572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502920" y="2377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기획 조직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691640" y="2377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상품 기능명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520440" y="2377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"스마트 도어 잠금"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02920" y="2834640"/>
            <a:ext cx="54864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502920" y="2834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시스템 조직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691640" y="2834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차량 동작 기능명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520440" y="2834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"Remote Door Lock Command"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02920" y="3291840"/>
            <a:ext cx="5486400" cy="4572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502920" y="3291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SW 조직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691640" y="3291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모듈 / 서비스 기능명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520440" y="3291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"BDC_PolicyControl_v3"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02920" y="3749040"/>
            <a:ext cx="54864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502920" y="3749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협력사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69164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ECU Function ID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520440" y="3749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"BDC_FUNC_032"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02920" y="4206240"/>
            <a:ext cx="5486400" cy="4572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502920" y="4206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검증 조직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691640" y="4206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Test Case ID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3520440" y="4206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"HIL-BDC-001"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02920" y="4663440"/>
            <a:ext cx="54864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502920" y="4663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OTA 조직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1691640" y="4663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Package ID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3520440" y="4663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"PKG-POLICY-BDC-2027"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502920" y="5120640"/>
            <a:ext cx="5486400" cy="4572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/>
          <p:nvPr/>
        </p:nvSpPr>
        <p:spPr>
          <a:xfrm>
            <a:off x="502920" y="5120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운영 조직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1691640" y="5120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Telemetry Event ID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3520440" y="5120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"EVT_BDC_POLICY_APPLY"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621792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7A3D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해결 :  Feature Topology로 통합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7498080" y="2011680"/>
            <a:ext cx="2743200" cy="5486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2"/>
          <p:cNvSpPr/>
          <p:nvPr/>
        </p:nvSpPr>
        <p:spPr>
          <a:xfrm>
            <a:off x="7498080" y="2011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FEAT-BDC-001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BDC Policy Control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8869680" y="2560320"/>
            <a:ext cx="0" cy="36576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4"/>
          <p:cNvSpPr/>
          <p:nvPr/>
        </p:nvSpPr>
        <p:spPr>
          <a:xfrm>
            <a:off x="8869680" y="2990088"/>
            <a:ext cx="27432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5"/>
          <p:cNvSpPr/>
          <p:nvPr/>
        </p:nvSpPr>
        <p:spPr>
          <a:xfrm>
            <a:off x="6400800" y="2834640"/>
            <a:ext cx="2377440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6"/>
          <p:cNvSpPr/>
          <p:nvPr/>
        </p:nvSpPr>
        <p:spPr>
          <a:xfrm>
            <a:off x="6446520" y="2834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기획 :  스마트 도어 잠금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9235440" y="28346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8869680" y="2560320"/>
            <a:ext cx="0" cy="77724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49"/>
          <p:cNvSpPr/>
          <p:nvPr/>
        </p:nvSpPr>
        <p:spPr>
          <a:xfrm>
            <a:off x="8869680" y="3401568"/>
            <a:ext cx="27432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0"/>
          <p:cNvSpPr/>
          <p:nvPr/>
        </p:nvSpPr>
        <p:spPr>
          <a:xfrm>
            <a:off x="6400800" y="3246120"/>
            <a:ext cx="23774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1"/>
          <p:cNvSpPr/>
          <p:nvPr/>
        </p:nvSpPr>
        <p:spPr>
          <a:xfrm>
            <a:off x="644652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시스템 :  Remote Door Lock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92354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56" name="Shape 53"/>
          <p:cNvSpPr/>
          <p:nvPr/>
        </p:nvSpPr>
        <p:spPr>
          <a:xfrm>
            <a:off x="8869680" y="2560320"/>
            <a:ext cx="0" cy="118872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4"/>
          <p:cNvSpPr/>
          <p:nvPr/>
        </p:nvSpPr>
        <p:spPr>
          <a:xfrm>
            <a:off x="8869680" y="3813048"/>
            <a:ext cx="27432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5"/>
          <p:cNvSpPr/>
          <p:nvPr/>
        </p:nvSpPr>
        <p:spPr>
          <a:xfrm>
            <a:off x="6400800" y="3657600"/>
            <a:ext cx="2377440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6"/>
          <p:cNvSpPr/>
          <p:nvPr/>
        </p:nvSpPr>
        <p:spPr>
          <a:xfrm>
            <a:off x="644652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SW :  BDC_PolicyControl_v3</a:t>
            </a:r>
            <a:endParaRPr lang="en-US" sz="1200" dirty="0"/>
          </a:p>
        </p:txBody>
      </p:sp>
      <p:sp>
        <p:nvSpPr>
          <p:cNvPr id="60" name="Text 57"/>
          <p:cNvSpPr/>
          <p:nvPr/>
        </p:nvSpPr>
        <p:spPr>
          <a:xfrm>
            <a:off x="9235440" y="36576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61" name="Shape 58"/>
          <p:cNvSpPr/>
          <p:nvPr/>
        </p:nvSpPr>
        <p:spPr>
          <a:xfrm>
            <a:off x="8869680" y="2560320"/>
            <a:ext cx="0" cy="160020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59"/>
          <p:cNvSpPr/>
          <p:nvPr/>
        </p:nvSpPr>
        <p:spPr>
          <a:xfrm>
            <a:off x="8869680" y="4224528"/>
            <a:ext cx="27432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0"/>
          <p:cNvSpPr/>
          <p:nvPr/>
        </p:nvSpPr>
        <p:spPr>
          <a:xfrm>
            <a:off x="6400800" y="4069080"/>
            <a:ext cx="23774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1"/>
          <p:cNvSpPr/>
          <p:nvPr/>
        </p:nvSpPr>
        <p:spPr>
          <a:xfrm>
            <a:off x="6446520" y="4069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협력사 :  BDC_FUNC_032</a:t>
            </a:r>
            <a:endParaRPr lang="en-US" sz="1200" dirty="0"/>
          </a:p>
        </p:txBody>
      </p:sp>
      <p:sp>
        <p:nvSpPr>
          <p:cNvPr id="65" name="Text 62"/>
          <p:cNvSpPr/>
          <p:nvPr/>
        </p:nvSpPr>
        <p:spPr>
          <a:xfrm>
            <a:off x="9235440" y="40690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66" name="Shape 63"/>
          <p:cNvSpPr/>
          <p:nvPr/>
        </p:nvSpPr>
        <p:spPr>
          <a:xfrm>
            <a:off x="8869680" y="2560320"/>
            <a:ext cx="0" cy="201168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4"/>
          <p:cNvSpPr/>
          <p:nvPr/>
        </p:nvSpPr>
        <p:spPr>
          <a:xfrm>
            <a:off x="8869680" y="4636008"/>
            <a:ext cx="27432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5"/>
          <p:cNvSpPr/>
          <p:nvPr/>
        </p:nvSpPr>
        <p:spPr>
          <a:xfrm>
            <a:off x="6400800" y="4480560"/>
            <a:ext cx="2377440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6"/>
          <p:cNvSpPr/>
          <p:nvPr/>
        </p:nvSpPr>
        <p:spPr>
          <a:xfrm>
            <a:off x="6446520" y="4480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검증 :  HIL-BDC-001</a:t>
            </a:r>
            <a:endParaRPr lang="en-US" sz="1200" dirty="0"/>
          </a:p>
        </p:txBody>
      </p:sp>
      <p:sp>
        <p:nvSpPr>
          <p:cNvPr id="70" name="Text 67"/>
          <p:cNvSpPr/>
          <p:nvPr/>
        </p:nvSpPr>
        <p:spPr>
          <a:xfrm>
            <a:off x="9235440" y="44805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71" name="Shape 68"/>
          <p:cNvSpPr/>
          <p:nvPr/>
        </p:nvSpPr>
        <p:spPr>
          <a:xfrm>
            <a:off x="8869680" y="2560320"/>
            <a:ext cx="0" cy="242316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69"/>
          <p:cNvSpPr/>
          <p:nvPr/>
        </p:nvSpPr>
        <p:spPr>
          <a:xfrm>
            <a:off x="8869680" y="5047488"/>
            <a:ext cx="27432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0"/>
          <p:cNvSpPr/>
          <p:nvPr/>
        </p:nvSpPr>
        <p:spPr>
          <a:xfrm>
            <a:off x="6400800" y="4892040"/>
            <a:ext cx="23774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1"/>
          <p:cNvSpPr/>
          <p:nvPr/>
        </p:nvSpPr>
        <p:spPr>
          <a:xfrm>
            <a:off x="6446520" y="4892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OTA :  PKG-POLICY-BDC</a:t>
            </a:r>
            <a:endParaRPr lang="en-US" sz="1200" dirty="0"/>
          </a:p>
        </p:txBody>
      </p:sp>
      <p:sp>
        <p:nvSpPr>
          <p:cNvPr id="75" name="Text 72"/>
          <p:cNvSpPr/>
          <p:nvPr/>
        </p:nvSpPr>
        <p:spPr>
          <a:xfrm>
            <a:off x="9235440" y="48920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76" name="Shape 73"/>
          <p:cNvSpPr/>
          <p:nvPr/>
        </p:nvSpPr>
        <p:spPr>
          <a:xfrm>
            <a:off x="8869680" y="2560320"/>
            <a:ext cx="0" cy="283464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4"/>
          <p:cNvSpPr/>
          <p:nvPr/>
        </p:nvSpPr>
        <p:spPr>
          <a:xfrm>
            <a:off x="8869680" y="5458968"/>
            <a:ext cx="27432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5"/>
          <p:cNvSpPr/>
          <p:nvPr/>
        </p:nvSpPr>
        <p:spPr>
          <a:xfrm>
            <a:off x="6400800" y="5303520"/>
            <a:ext cx="2377440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6"/>
          <p:cNvSpPr/>
          <p:nvPr/>
        </p:nvSpPr>
        <p:spPr>
          <a:xfrm>
            <a:off x="6446520" y="5303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운영 :  EVT_BDC_POLICY</a:t>
            </a:r>
            <a:endParaRPr lang="en-US" sz="1200" dirty="0"/>
          </a:p>
        </p:txBody>
      </p:sp>
      <p:sp>
        <p:nvSpPr>
          <p:cNvPr id="80" name="Text 77"/>
          <p:cNvSpPr/>
          <p:nvPr/>
        </p:nvSpPr>
        <p:spPr>
          <a:xfrm>
            <a:off x="9235440" y="53035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81" name="Text 78"/>
          <p:cNvSpPr/>
          <p:nvPr/>
        </p:nvSpPr>
        <p:spPr>
          <a:xfrm>
            <a:off x="9601200" y="3474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하나의 Feature ID로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모든 조직의 용어를 연결</a:t>
            </a:r>
            <a:endParaRPr lang="en-US" sz="1300" dirty="0"/>
          </a:p>
        </p:txBody>
      </p:sp>
      <p:sp>
        <p:nvSpPr>
          <p:cNvPr id="82" name="Shape 79"/>
          <p:cNvSpPr/>
          <p:nvPr/>
        </p:nvSpPr>
        <p:spPr>
          <a:xfrm>
            <a:off x="502920" y="6126480"/>
            <a:ext cx="11155680" cy="4572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0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핵심 :  </a:t>
            </a:r>
            <a:r>
              <a:rPr lang="en-US" sz="1200" dirty="0">
                <a:solidFill>
                  <a:srgbClr val="FFFF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Topology는 </a:t>
            </a: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7개 조직이 각자 다른 이름으로 부르는 동일 기능</a:t>
            </a:r>
            <a:r>
              <a:rPr lang="en-US" sz="1200" dirty="0">
                <a:solidFill>
                  <a:srgbClr val="FFFF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을 하나의 Feature ID로 통합 추적하는 기준정보이다.</a:t>
            </a:r>
            <a:endParaRPr lang="en-US" sz="1300" dirty="0"/>
          </a:p>
        </p:txBody>
      </p:sp>
      <p:sp>
        <p:nvSpPr>
          <p:cNvPr id="84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Mutuus Lab Stakeholder 분석; ISO/IEC/IEEE 29148:2018; OMG ReqIF 1.2.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472C4"/>
                </a:solidFill>
                <a:latin typeface="Hyundai Sans Head Pro Medium" pitchFamily="34" charset="0"/>
                <a:ea typeface="Hyundai Sans Head Pro Medium" pitchFamily="34" charset="-122"/>
                <a:cs typeface="Hyundai Sans Head Pro Medium" pitchFamily="34" charset="-120"/>
              </a:rPr>
              <a:t>M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Policy Lifecycle &amp; Control Flow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822960"/>
            <a:ext cx="50292" cy="3200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94360" y="79552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Feature의 Policy가 생성부터 배포·모니터링까지 거치는 생애주기와 Runtime 평가 흐름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Policy Lifecycle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" y="1920240"/>
            <a:ext cx="2011680" cy="502920"/>
          </a:xfrm>
          <a:prstGeom prst="rect">
            <a:avLst/>
          </a:prstGeom>
          <a:solidFill>
            <a:srgbClr val="8080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02920" y="1920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Draft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02920" y="2468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Policy 초안 작성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Targeting Rule 정의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514600" y="1920240"/>
            <a:ext cx="201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715768" y="1920240"/>
            <a:ext cx="2011680" cy="5029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2715768" y="1920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Review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715768" y="2468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Safety/Security 검토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승인권자 리뷰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727448" y="1920240"/>
            <a:ext cx="201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928616" y="1920240"/>
            <a:ext cx="2011680" cy="50292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4928616" y="1920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Approved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928616" y="2468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Gate 통과 확인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배포 대기 상태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940296" y="1920240"/>
            <a:ext cx="201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141464" y="1920240"/>
            <a:ext cx="2011680" cy="502920"/>
          </a:xfrm>
          <a:prstGeom prst="rect">
            <a:avLst/>
          </a:prstGeom>
          <a:solidFill>
            <a:srgbClr val="1B7A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7141464" y="1920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Deployed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141464" y="2468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차량 Fleet 적용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Rollout % 제어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153144" y="1920240"/>
            <a:ext cx="201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9354312" y="1920240"/>
            <a:ext cx="2011680" cy="502920"/>
          </a:xfrm>
          <a:prstGeom prst="rect">
            <a:avLst/>
          </a:prstGeom>
          <a:solidFill>
            <a:srgbClr val="4A23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9354312" y="1920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Monitored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9354312" y="2468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Telemetry 수집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Alert 감시 중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0292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Runtime 평가 흐름 (차량 내부)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02920" y="3749040"/>
            <a:ext cx="17373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502920" y="3749040"/>
            <a:ext cx="1737360" cy="6400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502920" y="3749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C4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76072" y="4005072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Policy 수신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94360" y="4462272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서버에서 최신 Policy Package 다운로드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2240280" y="393192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2350008" y="3749040"/>
            <a:ext cx="17373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5"/>
          <p:cNvSpPr/>
          <p:nvPr/>
        </p:nvSpPr>
        <p:spPr>
          <a:xfrm>
            <a:off x="2350008" y="3749040"/>
            <a:ext cx="1737360" cy="6400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/>
          <p:nvPr/>
        </p:nvSpPr>
        <p:spPr>
          <a:xfrm>
            <a:off x="2350008" y="3749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C4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2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2423160" y="4005072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Capability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Check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2441448" y="4462272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차량 HW/SW/ECU가 기능을 지원하는지 확인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4087368" y="393192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4197096" y="3749040"/>
            <a:ext cx="17373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1"/>
          <p:cNvSpPr/>
          <p:nvPr/>
        </p:nvSpPr>
        <p:spPr>
          <a:xfrm>
            <a:off x="4197096" y="3749040"/>
            <a:ext cx="1737360" cy="6400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2"/>
          <p:cNvSpPr/>
          <p:nvPr/>
        </p:nvSpPr>
        <p:spPr>
          <a:xfrm>
            <a:off x="4197096" y="3749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C4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3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4270248" y="4005072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Vehicle State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Check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4288536" y="4462272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차량 상태(주행/정차/충전)가 적합한지 확인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5934456" y="393192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6044184" y="3749040"/>
            <a:ext cx="17373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7"/>
          <p:cNvSpPr/>
          <p:nvPr/>
        </p:nvSpPr>
        <p:spPr>
          <a:xfrm>
            <a:off x="6044184" y="3749040"/>
            <a:ext cx="1737360" cy="6400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8"/>
          <p:cNvSpPr/>
          <p:nvPr/>
        </p:nvSpPr>
        <p:spPr>
          <a:xfrm>
            <a:off x="6044184" y="3749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C4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4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6117336" y="4005072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Auth Check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6135624" y="4462272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사용자 권한 · 구독 · 지역 법규 확인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7781544" y="393192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7891272" y="3749040"/>
            <a:ext cx="17373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3"/>
          <p:cNvSpPr/>
          <p:nvPr/>
        </p:nvSpPr>
        <p:spPr>
          <a:xfrm>
            <a:off x="7891272" y="3749040"/>
            <a:ext cx="1737360" cy="6400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4"/>
          <p:cNvSpPr/>
          <p:nvPr/>
        </p:nvSpPr>
        <p:spPr>
          <a:xfrm>
            <a:off x="7891272" y="3749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C4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5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7964424" y="4005072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Flag 평가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7982712" y="4462272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Evaluator가 ON/OFF 판단</a:t>
            </a:r>
            <a:endParaRPr lang="en-US" sz="1200" dirty="0"/>
          </a:p>
        </p:txBody>
      </p:sp>
      <p:sp>
        <p:nvSpPr>
          <p:cNvPr id="60" name="Text 57"/>
          <p:cNvSpPr/>
          <p:nvPr/>
        </p:nvSpPr>
        <p:spPr>
          <a:xfrm>
            <a:off x="9628632" y="393192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61" name="Shape 58"/>
          <p:cNvSpPr/>
          <p:nvPr/>
        </p:nvSpPr>
        <p:spPr>
          <a:xfrm>
            <a:off x="9738360" y="3749040"/>
            <a:ext cx="17373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59"/>
          <p:cNvSpPr/>
          <p:nvPr/>
        </p:nvSpPr>
        <p:spPr>
          <a:xfrm>
            <a:off x="9738360" y="3749040"/>
            <a:ext cx="1737360" cy="6400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0"/>
          <p:cNvSpPr/>
          <p:nvPr/>
        </p:nvSpPr>
        <p:spPr>
          <a:xfrm>
            <a:off x="9738360" y="3749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C4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6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9811512" y="4005072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 실행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또는 차단</a:t>
            </a:r>
            <a:endParaRPr lang="en-US" sz="1200" dirty="0"/>
          </a:p>
        </p:txBody>
      </p:sp>
      <p:sp>
        <p:nvSpPr>
          <p:cNvPr id="65" name="Text 62"/>
          <p:cNvSpPr/>
          <p:nvPr/>
        </p:nvSpPr>
        <p:spPr>
          <a:xfrm>
            <a:off x="9829800" y="4462272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활성화 성공 → 실행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실패 → Safe Default 적용</a:t>
            </a:r>
            <a:endParaRPr lang="en-US" sz="1200" dirty="0"/>
          </a:p>
        </p:txBody>
      </p:sp>
      <p:sp>
        <p:nvSpPr>
          <p:cNvPr id="66" name="Shape 63"/>
          <p:cNvSpPr/>
          <p:nvPr/>
        </p:nvSpPr>
        <p:spPr>
          <a:xfrm>
            <a:off x="502920" y="6126480"/>
            <a:ext cx="11155680" cy="4572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4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핵심 :  </a:t>
            </a:r>
            <a:r>
              <a:rPr lang="en-US" sz="1200" dirty="0">
                <a:solidFill>
                  <a:srgbClr val="FFFF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Policy는 5단계 Lifecycle을 거치며, 차량 내부에서는 </a:t>
            </a: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Capability · Vehicle State · Auth 3중 Guard</a:t>
            </a:r>
            <a:r>
              <a:rPr lang="en-US" sz="1200" dirty="0">
                <a:solidFill>
                  <a:srgbClr val="FFFF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를 통과해야 Feature가 활성화된다.</a:t>
            </a:r>
            <a:endParaRPr lang="en-US" sz="1300" dirty="0"/>
          </a:p>
        </p:txBody>
      </p:sp>
      <p:sp>
        <p:nvSpPr>
          <p:cNvPr id="68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OpenFeature Spec; Unleash Activation Strategies; ISO 24089:2023; Mutuus Lab Runtime Control Flow.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472C4"/>
                </a:solidFill>
                <a:latin typeface="Hyundai Sans Head Pro Medium" pitchFamily="34" charset="0"/>
                <a:ea typeface="Hyundai Sans Head Pro Medium" pitchFamily="34" charset="-122"/>
                <a:cs typeface="Hyundai Sans Head Pro Medium" pitchFamily="34" charset="-120"/>
              </a:rPr>
              <a:t>N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 Topology vs 기존 도구 비교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822960"/>
            <a:ext cx="50292" cy="3200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94360" y="79552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Topology는 ALM · PLM · Feature Flag 도구를 대체하는 것이 아니라, 이들을 연결하는 기준정보 계층이다.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1508760"/>
            <a:ext cx="11155680" cy="43891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02920" y="1508760"/>
            <a:ext cx="146304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구분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965960" y="1508760"/>
            <a:ext cx="214884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ALM (Codebeamer)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114800" y="1508760"/>
            <a:ext cx="214884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PLM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63640" y="1508760"/>
            <a:ext cx="214884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 Flag (Unleash)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412480" y="1508760"/>
            <a:ext cx="324612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 Topology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1947672"/>
            <a:ext cx="11155680" cy="59436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02920" y="1947672"/>
            <a:ext cx="14630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핵심 질문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965960" y="1947672"/>
            <a:ext cx="21488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요구사항이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올바르게 구현되었는가?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114800" y="1947672"/>
            <a:ext cx="21488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제품 구성이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올바르게 관리되는가?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63640" y="1947672"/>
            <a:ext cx="21488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기능을 언제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활성화할 것인가?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412480" y="1947672"/>
            <a:ext cx="324612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기능 변경 시 비용·영향도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·검증·배포·책임은?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02920" y="2542032"/>
            <a:ext cx="1115568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502920" y="2542032"/>
            <a:ext cx="14630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관리 대상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965960" y="2542032"/>
            <a:ext cx="21488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Requirement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Test Case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114800" y="2542032"/>
            <a:ext cx="21488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Part · BOM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Configuration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263640" y="2542032"/>
            <a:ext cx="21488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Flag · Policy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Rollout Rule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412480" y="2542032"/>
            <a:ext cx="324612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 기준정보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(BOM + Topology)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02920" y="3136392"/>
            <a:ext cx="11155680" cy="59436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502920" y="3136392"/>
            <a:ext cx="14630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가시성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965960" y="3136392"/>
            <a:ext cx="21488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Req ID 기준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(Feature 단위 아님)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114800" y="3136392"/>
            <a:ext cx="21488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Part 기준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(SW Feature 미포함)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263640" y="3136392"/>
            <a:ext cx="21488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Flag 기준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(Flag ≠ Feature)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8412480" y="3136392"/>
            <a:ext cx="324612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 ID 기준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(전체 Artifact 연결)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502920" y="3730752"/>
            <a:ext cx="1115568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502920" y="3730752"/>
            <a:ext cx="14630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영향도 분석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965960" y="3730752"/>
            <a:ext cx="21488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Req Traceability만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(SW·ECU·Supplier 미포함)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4114800" y="3730752"/>
            <a:ext cx="21488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Part BOM 기준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(Runtime 미포함)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6263640" y="3730752"/>
            <a:ext cx="21488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미제공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8412480" y="3730752"/>
            <a:ext cx="324612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Topology Graph 기반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전체 범위 자동 산출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502920" y="4325112"/>
            <a:ext cx="11155680" cy="59436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/>
          <p:nvPr/>
        </p:nvSpPr>
        <p:spPr>
          <a:xfrm>
            <a:off x="502920" y="4325112"/>
            <a:ext cx="14630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배포 판단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1965960" y="4325112"/>
            <a:ext cx="21488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미제공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4114800" y="4325112"/>
            <a:ext cx="21488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미제공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6263640" y="4325112"/>
            <a:ext cx="21488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Rollout % 제어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(Binary/Policy 미구분)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8412480" y="4325112"/>
            <a:ext cx="324612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Binary OTA vs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Policy-only 자동 판별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502920" y="4919472"/>
            <a:ext cx="1115568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4"/>
          <p:cNvSpPr/>
          <p:nvPr/>
        </p:nvSpPr>
        <p:spPr>
          <a:xfrm>
            <a:off x="502920" y="4919472"/>
            <a:ext cx="14630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포지셔닝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1965960" y="4919472"/>
            <a:ext cx="21488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요구사항 관리 도구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4114800" y="4919472"/>
            <a:ext cx="21488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제품 구성 관리 도구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6263640" y="4919472"/>
            <a:ext cx="21488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Runtime 제어 도구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8412480" y="4919472"/>
            <a:ext cx="324612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기준정보 통합 계층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(ALM·PLM·FF를 연결)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502920" y="6126480"/>
            <a:ext cx="11155680" cy="4572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0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핵심 :  </a:t>
            </a:r>
            <a:r>
              <a:rPr lang="en-US" sz="1200" dirty="0">
                <a:solidFill>
                  <a:srgbClr val="FFFF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Topology는 ALM · PLM · FF를 </a:t>
            </a: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대체하지 않고 연결</a:t>
            </a:r>
            <a:r>
              <a:rPr lang="en-US" sz="1200" dirty="0">
                <a:solidFill>
                  <a:srgbClr val="FFFF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하는 기준정보 계층이다. Feature ID가 이 모든 도구의 공통 Key가 된다.</a:t>
            </a:r>
            <a:endParaRPr lang="en-US" sz="1300" dirty="0"/>
          </a:p>
        </p:txBody>
      </p:sp>
      <p:sp>
        <p:nvSpPr>
          <p:cNvPr id="54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IBM DOORS Next / Codebeamer / PLM / Unleash 제품 문서; Mutuus Lab 비교 분석.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472C4"/>
                </a:solidFill>
                <a:latin typeface="Hyundai Sans Head Pro Medium" pitchFamily="34" charset="0"/>
                <a:ea typeface="Hyundai Sans Head Pro Medium" pitchFamily="34" charset="-122"/>
                <a:cs typeface="Hyundai Sans Head Pro Medium" pitchFamily="34" charset="-120"/>
              </a:rPr>
              <a:t>O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PoC 기술 스택 &amp; 데모 환경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822960"/>
            <a:ext cx="50292" cy="3200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94360" y="79552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Topology PoC 데모를 위한 하드웨어 · 소프트웨어 · 통신 구성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Hardware 구성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" y="1920240"/>
            <a:ext cx="5394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502920" y="1920240"/>
            <a:ext cx="1508760" cy="82296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576072" y="1920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HPVC (중앙 제어)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76072" y="2331720"/>
            <a:ext cx="1371600" cy="411480"/>
          </a:xfrm>
          <a:prstGeom prst="rect">
            <a:avLst/>
          </a:prstGeom>
          <a:noFill/>
          <a:ln/>
        </p:spPr>
        <p:txBody>
          <a:bodyPr wrap="square" lIns="2540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0C4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Jetson AGX Orin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148840" y="1993392"/>
            <a:ext cx="3566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Flag 정책 수신 · Flag 평가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GCS 제어 신호 전송 · 중앙 모니터링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2834640"/>
            <a:ext cx="5394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502920" y="2834640"/>
            <a:ext cx="1508760" cy="82296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576072" y="2834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GCS (Zone 제어)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76072" y="3246120"/>
            <a:ext cx="1371600" cy="411480"/>
          </a:xfrm>
          <a:prstGeom prst="rect">
            <a:avLst/>
          </a:prstGeom>
          <a:noFill/>
          <a:ln/>
        </p:spPr>
        <p:txBody>
          <a:bodyPr wrap="square" lIns="2540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0C4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Raspberry Pi 5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148840" y="2907792"/>
            <a:ext cx="3566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HPVC 상위 명령 수신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하위 ECU 제어 · 데이터 수집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02920" y="3749040"/>
            <a:ext cx="5394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502920" y="3749040"/>
            <a:ext cx="1508760" cy="82296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576072" y="3749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ECU (말단 제어)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76072" y="4160520"/>
            <a:ext cx="1371600" cy="411480"/>
          </a:xfrm>
          <a:prstGeom prst="rect">
            <a:avLst/>
          </a:prstGeom>
          <a:noFill/>
          <a:ln/>
        </p:spPr>
        <p:txBody>
          <a:bodyPr wrap="square" lIns="2540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0C4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STM32 / Arduino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2148840" y="3822192"/>
            <a:ext cx="3566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Window 제어 · DTC 생성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센서 데이터 송신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02920" y="4663440"/>
            <a:ext cx="5394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502920" y="4663440"/>
            <a:ext cx="1508760" cy="82296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576072" y="4663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CCS (서버)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76072" y="5074920"/>
            <a:ext cx="1371600" cy="411480"/>
          </a:xfrm>
          <a:prstGeom prst="rect">
            <a:avLst/>
          </a:prstGeom>
          <a:noFill/>
          <a:ln/>
        </p:spPr>
        <p:txBody>
          <a:bodyPr wrap="square" lIns="2540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0C4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Mock-up Server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2148840" y="4736592"/>
            <a:ext cx="3566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등록 · 정책 설정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Kill-Switch · 복구 명령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21792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Software &amp; 통신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217920" y="1920240"/>
            <a:ext cx="5394960" cy="71323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6327648" y="1920240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Platform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589520" y="192024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Flag Platform (Unleash 기반)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Catalog · Policy Engine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217920" y="2706624"/>
            <a:ext cx="539496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6327648" y="2706624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7589520" y="2706624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React JSX 기반 PoC Dashboard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상태 · 정책 제어 · 모니터링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217920" y="3493008"/>
            <a:ext cx="5394960" cy="71323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/>
          <p:nvPr/>
        </p:nvSpPr>
        <p:spPr>
          <a:xfrm>
            <a:off x="6327648" y="3493008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통신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7589520" y="349300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MQTT (차량 내부 EventBus)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REST API (서버 ↔ 차량 통신)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6217920" y="4279392"/>
            <a:ext cx="539496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/>
          <p:nvPr/>
        </p:nvSpPr>
        <p:spPr>
          <a:xfrm>
            <a:off x="6327648" y="4279392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Runtime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7589520" y="427939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Evaluator (Flag 평가)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Signal Sender/Receiver (통신 I/F)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6217920" y="5065776"/>
            <a:ext cx="5394960" cy="71323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2"/>
          <p:cNvSpPr/>
          <p:nvPr/>
        </p:nvSpPr>
        <p:spPr>
          <a:xfrm>
            <a:off x="6327648" y="5065776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7589520" y="5065776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Telemetry Event 수집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Audit Log · Alert Rule 관리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502920" y="6126480"/>
            <a:ext cx="11155680" cy="4572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핵심 :  </a:t>
            </a:r>
            <a:r>
              <a:rPr lang="en-US" sz="1200" dirty="0">
                <a:solidFill>
                  <a:srgbClr val="FFFF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PoC 환경은 </a:t>
            </a: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Jetson Orin + RPi5 + STM32</a:t>
            </a:r>
            <a:r>
              <a:rPr lang="en-US" sz="1200" dirty="0">
                <a:solidFill>
                  <a:srgbClr val="FFFF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 3계층 HW + React Dashboard + MQTT 통신으로 실차 환경을 시뮬레이션한다.</a:t>
            </a:r>
            <a:endParaRPr lang="en-US" sz="1300" dirty="0"/>
          </a:p>
        </p:txBody>
      </p:sp>
      <p:sp>
        <p:nvSpPr>
          <p:cNvPr id="49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MQTT/OASIS 메시징 실무; OpenAPI 3.2.0; Device Vendor Docs; Mutuus Lab PoC 계획.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472C4"/>
                </a:solidFill>
                <a:latin typeface="Hyundai Sans Head Pro Medium" pitchFamily="34" charset="0"/>
                <a:ea typeface="Hyundai Sans Head Pro Medium" pitchFamily="34" charset="-122"/>
                <a:cs typeface="Hyundai Sans Head Pro Medium" pitchFamily="34" charset="-120"/>
              </a:rPr>
              <a:t>P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BOM Baseline 관리 &amp; ChangeSet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822960"/>
            <a:ext cx="50292" cy="3200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94360" y="79552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BOM 변경은 반드시 ChangeSet으로 기록하고, Baseline 간 비교를 통해 영향도를 추적한다.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BOM Baseline v1.0  (2026.05)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" y="1920240"/>
            <a:ext cx="5394960" cy="384048"/>
          </a:xfrm>
          <a:prstGeom prst="rect">
            <a:avLst/>
          </a:prstGeom>
          <a:solidFill>
            <a:srgbClr val="8080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02920" y="19202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BOM 영역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057400" y="19202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v1.0 항목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2304288"/>
            <a:ext cx="5394960" cy="38404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502920" y="23042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Requirement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057400" y="23042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SYS-BODY-001, SWE-BDC-010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2920" y="2688336"/>
            <a:ext cx="539496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502920" y="2688336"/>
            <a:ext cx="15544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057400" y="26883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ECU-BDC, SWC-BDC-ADAPTER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02920" y="3072384"/>
            <a:ext cx="5394960" cy="38404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502920" y="3072384"/>
            <a:ext cx="15544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Interface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057400" y="3072384"/>
            <a:ext cx="38404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API-BDC-POLICY v1.4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02920" y="3456432"/>
            <a:ext cx="539496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502920" y="34564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Variant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2057400" y="34564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KR, MY2027+, Premium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02920" y="3840480"/>
            <a:ext cx="5394960" cy="38404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502920" y="3840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Control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2057400" y="38404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POLICY-BDC-ENABLE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02920" y="4224528"/>
            <a:ext cx="539496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502920" y="42245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2057400" y="42245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HIL-BDC-001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02920" y="4608576"/>
            <a:ext cx="5394960" cy="38404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502920" y="4608576"/>
            <a:ext cx="15544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Supplier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2057400" y="4608576"/>
            <a:ext cx="38404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SUP-BDC-A, BDC_FUNC_032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21792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ChangeSet :  v1.0 → v1.1  (2026.06)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6217920" y="1920240"/>
            <a:ext cx="5394960" cy="43891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/>
          <p:nvPr/>
        </p:nvSpPr>
        <p:spPr>
          <a:xfrm>
            <a:off x="6217920" y="1920240"/>
            <a:ext cx="914400" cy="43891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Type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7132320" y="1920240"/>
            <a:ext cx="118872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영역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8321040" y="1920240"/>
            <a:ext cx="329184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변경 내용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6217920" y="2359152"/>
            <a:ext cx="5394960" cy="43891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/>
          <p:nvPr/>
        </p:nvSpPr>
        <p:spPr>
          <a:xfrm>
            <a:off x="6217920" y="2359152"/>
            <a:ext cx="914400" cy="43891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7A3D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ADD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7132320" y="2359152"/>
            <a:ext cx="118872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Requirement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8321040" y="2359152"/>
            <a:ext cx="329184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SEC-POLICY-004 추가 (보안 요구사항)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6217920" y="2798064"/>
            <a:ext cx="539496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2"/>
          <p:cNvSpPr/>
          <p:nvPr/>
        </p:nvSpPr>
        <p:spPr>
          <a:xfrm>
            <a:off x="6217920" y="2798064"/>
            <a:ext cx="914400" cy="43891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7A3D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ADD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7132320" y="2798064"/>
            <a:ext cx="118872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8321040" y="2798064"/>
            <a:ext cx="329184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SWC-POLICY-EVALUATOR 추가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6217920" y="3236976"/>
            <a:ext cx="5394960" cy="43891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6"/>
          <p:cNvSpPr/>
          <p:nvPr/>
        </p:nvSpPr>
        <p:spPr>
          <a:xfrm>
            <a:off x="6217920" y="3236976"/>
            <a:ext cx="914400" cy="43891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7A3D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ADD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7132320" y="3236976"/>
            <a:ext cx="118872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8321040" y="3236976"/>
            <a:ext cx="329184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ECU-CCU 추가 (통신 연계)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6217920" y="3675888"/>
            <a:ext cx="539496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0"/>
          <p:cNvSpPr/>
          <p:nvPr/>
        </p:nvSpPr>
        <p:spPr>
          <a:xfrm>
            <a:off x="6217920" y="3675888"/>
            <a:ext cx="914400" cy="43891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760E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MODIFY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7132320" y="3675888"/>
            <a:ext cx="118872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Variant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8321040" y="3675888"/>
            <a:ext cx="329184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EU 지역 추가 (KR → KR/EU)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6217920" y="4114800"/>
            <a:ext cx="5394960" cy="43891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4"/>
          <p:cNvSpPr/>
          <p:nvPr/>
        </p:nvSpPr>
        <p:spPr>
          <a:xfrm>
            <a:off x="6217920" y="4114800"/>
            <a:ext cx="914400" cy="43891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7A3D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ADD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7132320" y="4114800"/>
            <a:ext cx="118872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Control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8321040" y="4114800"/>
            <a:ext cx="329184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POLICY-BDC-KILL-SWITCH 추가</a:t>
            </a:r>
            <a:endParaRPr lang="en-US" sz="1200" dirty="0"/>
          </a:p>
        </p:txBody>
      </p:sp>
      <p:sp>
        <p:nvSpPr>
          <p:cNvPr id="60" name="Shape 57"/>
          <p:cNvSpPr/>
          <p:nvPr/>
        </p:nvSpPr>
        <p:spPr>
          <a:xfrm>
            <a:off x="6217920" y="4553712"/>
            <a:ext cx="539496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8"/>
          <p:cNvSpPr/>
          <p:nvPr/>
        </p:nvSpPr>
        <p:spPr>
          <a:xfrm>
            <a:off x="6217920" y="4553712"/>
            <a:ext cx="914400" cy="43891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7A3D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ADD</a:t>
            </a:r>
            <a:endParaRPr lang="en-US" sz="1200" dirty="0"/>
          </a:p>
        </p:txBody>
      </p:sp>
      <p:sp>
        <p:nvSpPr>
          <p:cNvPr id="62" name="Text 59"/>
          <p:cNvSpPr/>
          <p:nvPr/>
        </p:nvSpPr>
        <p:spPr>
          <a:xfrm>
            <a:off x="7132320" y="4553712"/>
            <a:ext cx="118872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8321040" y="4553712"/>
            <a:ext cx="329184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OTA-ROLLBACK-002, TEL-BDC-001 추가</a:t>
            </a:r>
            <a:endParaRPr lang="en-US" sz="1200" dirty="0"/>
          </a:p>
        </p:txBody>
      </p:sp>
      <p:sp>
        <p:nvSpPr>
          <p:cNvPr id="64" name="Shape 61"/>
          <p:cNvSpPr/>
          <p:nvPr/>
        </p:nvSpPr>
        <p:spPr>
          <a:xfrm>
            <a:off x="6217920" y="4992624"/>
            <a:ext cx="5394960" cy="43891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2"/>
          <p:cNvSpPr/>
          <p:nvPr/>
        </p:nvSpPr>
        <p:spPr>
          <a:xfrm>
            <a:off x="6217920" y="4992624"/>
            <a:ext cx="914400" cy="43891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760E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MODIFY</a:t>
            </a:r>
            <a:endParaRPr lang="en-US" sz="1200" dirty="0"/>
          </a:p>
        </p:txBody>
      </p:sp>
      <p:sp>
        <p:nvSpPr>
          <p:cNvPr id="66" name="Text 63"/>
          <p:cNvSpPr/>
          <p:nvPr/>
        </p:nvSpPr>
        <p:spPr>
          <a:xfrm>
            <a:off x="7132320" y="4992624"/>
            <a:ext cx="118872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Supplier</a:t>
            </a:r>
            <a:endParaRPr lang="en-US" sz="1200" dirty="0"/>
          </a:p>
        </p:txBody>
      </p:sp>
      <p:sp>
        <p:nvSpPr>
          <p:cNvPr id="67" name="Text 64"/>
          <p:cNvSpPr/>
          <p:nvPr/>
        </p:nvSpPr>
        <p:spPr>
          <a:xfrm>
            <a:off x="8321040" y="4992624"/>
            <a:ext cx="329184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API Contract v1.4 → v1.5 업데이트</a:t>
            </a:r>
            <a:endParaRPr lang="en-US" sz="1200" dirty="0"/>
          </a:p>
        </p:txBody>
      </p:sp>
      <p:sp>
        <p:nvSpPr>
          <p:cNvPr id="68" name="Shape 65"/>
          <p:cNvSpPr/>
          <p:nvPr/>
        </p:nvSpPr>
        <p:spPr>
          <a:xfrm>
            <a:off x="6217920" y="5257800"/>
            <a:ext cx="5394960" cy="5029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6"/>
          <p:cNvSpPr/>
          <p:nvPr/>
        </p:nvSpPr>
        <p:spPr>
          <a:xfrm>
            <a:off x="6217920" y="5257800"/>
            <a:ext cx="54864" cy="50292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7"/>
          <p:cNvSpPr/>
          <p:nvPr/>
        </p:nvSpPr>
        <p:spPr>
          <a:xfrm>
            <a:off x="6446520" y="52578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ChangeSet 영향 :  </a:t>
            </a: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ADD 5건 · MODIFY 2건 → Impact Analysis 자동 트리거</a:t>
            </a:r>
            <a:endParaRPr lang="en-US" sz="1200" dirty="0"/>
          </a:p>
        </p:txBody>
      </p:sp>
      <p:sp>
        <p:nvSpPr>
          <p:cNvPr id="71" name="Shape 68"/>
          <p:cNvSpPr/>
          <p:nvPr/>
        </p:nvSpPr>
        <p:spPr>
          <a:xfrm>
            <a:off x="502920" y="6126480"/>
            <a:ext cx="11155680" cy="4572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Text 69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핵심 :  </a:t>
            </a:r>
            <a:r>
              <a:rPr lang="en-US" sz="1200" dirty="0">
                <a:solidFill>
                  <a:srgbClr val="FFFF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BOM Baseline 변경은 반드시 </a:t>
            </a: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ChangeSet으로 기록</a:t>
            </a:r>
            <a:r>
              <a:rPr lang="en-US" sz="1200" dirty="0">
                <a:solidFill>
                  <a:srgbClr val="FFFF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하고, ADD/MODIFY 발생 시 Impact Analysis가 자동 트리거된다.</a:t>
            </a:r>
            <a:endParaRPr lang="en-US" sz="1300" dirty="0"/>
          </a:p>
        </p:txBody>
      </p:sp>
      <p:sp>
        <p:nvSpPr>
          <p:cNvPr id="73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ISO/IEC/IEEE 29148:2018; OMG ReqIF 1.2; Configuration/Change Management 실무; Mutuus Lab ChangeSet 모델.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472C4"/>
                </a:solidFill>
                <a:latin typeface="Hyundai Sans Head Pro Medium" pitchFamily="34" charset="0"/>
                <a:ea typeface="Hyundai Sans Head Pro Medium" pitchFamily="34" charset="-122"/>
                <a:cs typeface="Hyundai Sans Head Pro Medium" pitchFamily="34" charset="-120"/>
              </a:rPr>
              <a:t>Q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QW-2 Kill Switch 시나리오 Demo 흐름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822960"/>
            <a:ext cx="50292" cy="3200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94360" y="79552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Feature에 긴급 문제 발생 시 Kill Switch로 즉시 비활성화하고, 복구까지 완료하는 전 과정 Demo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1508760"/>
            <a:ext cx="17373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02920" y="1508760"/>
            <a:ext cx="1737360" cy="731520"/>
          </a:xfrm>
          <a:prstGeom prst="rect">
            <a:avLst/>
          </a:prstGeom>
          <a:solidFill>
            <a:srgbClr val="1B7A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02920" y="1508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정상 운영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4360" y="23317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FEAT-BDC-001 활성화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BDC Policy 정상 적용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98.7% 성공률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240280" y="178308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350008" y="1508760"/>
            <a:ext cx="17373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2350008" y="1508760"/>
            <a:ext cx="1737360" cy="731520"/>
          </a:xfrm>
          <a:prstGeom prst="rect">
            <a:avLst/>
          </a:prstGeom>
          <a:solidFill>
            <a:srgbClr val="B7760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2350008" y="1508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2395728" y="17830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이상 감지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441448" y="23317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Telemetry Alert 발생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실패율 급증 (3% → 15%)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DTC-BDC-POLICY-FAIL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087368" y="178308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197096" y="1508760"/>
            <a:ext cx="17373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4197096" y="1508760"/>
            <a:ext cx="1737360" cy="731520"/>
          </a:xfrm>
          <a:prstGeom prst="rect">
            <a:avLst/>
          </a:prstGeom>
          <a:solidFill>
            <a:srgbClr val="B7410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4197096" y="1508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4242816" y="17830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Kill Switch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발동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288536" y="23317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운영자 Kill Switch 실행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또는 자동 트리거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전체 차량 즉시 비활성화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934456" y="178308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044184" y="1508760"/>
            <a:ext cx="17373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6044184" y="1508760"/>
            <a:ext cx="1737360" cy="731520"/>
          </a:xfrm>
          <a:prstGeom prst="rect">
            <a:avLst/>
          </a:prstGeom>
          <a:solidFill>
            <a:srgbClr val="7B241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6044184" y="1508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6089904" y="17830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Safe Default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적용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135624" y="23317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Safe Default: disabled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BDC Policy → 기본값 복귀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차량 안전 상태 확인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781544" y="178308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7891272" y="1508760"/>
            <a:ext cx="17373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2"/>
          <p:cNvSpPr/>
          <p:nvPr/>
        </p:nvSpPr>
        <p:spPr>
          <a:xfrm>
            <a:off x="7891272" y="1508760"/>
            <a:ext cx="1737360" cy="7315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7891272" y="1508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7936992" y="17830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원인 분석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&amp; 수정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7982712" y="23317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Audit Log 기반 추적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원인: ECU FW mismatch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Policy 조건 수정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9628632" y="178308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9738360" y="1508760"/>
            <a:ext cx="17373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8"/>
          <p:cNvSpPr/>
          <p:nvPr/>
        </p:nvSpPr>
        <p:spPr>
          <a:xfrm>
            <a:off x="9738360" y="1508760"/>
            <a:ext cx="1737360" cy="731520"/>
          </a:xfrm>
          <a:prstGeom prst="rect">
            <a:avLst/>
          </a:prstGeom>
          <a:solidFill>
            <a:srgbClr val="1B7A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/>
          <p:nvPr/>
        </p:nvSpPr>
        <p:spPr>
          <a:xfrm>
            <a:off x="9738360" y="1508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6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9784080" y="17830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점진 복구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9829800" y="23317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수정된 Policy 재배포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5% → 20% → 100%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Telemetry 정상 확인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502920" y="4114800"/>
            <a:ext cx="11155680" cy="54864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3"/>
          <p:cNvSpPr/>
          <p:nvPr/>
        </p:nvSpPr>
        <p:spPr>
          <a:xfrm>
            <a:off x="50292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Demo 환경에서 실제 구현하는 항목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502920" y="4709160"/>
            <a:ext cx="5486400" cy="329184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/>
          <p:nvPr/>
        </p:nvSpPr>
        <p:spPr>
          <a:xfrm>
            <a:off x="594360" y="470916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CCS → HPVC 정책 전달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2880360" y="470916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REST API → MQTT 변환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502920" y="5056632"/>
            <a:ext cx="548640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8"/>
          <p:cNvSpPr/>
          <p:nvPr/>
        </p:nvSpPr>
        <p:spPr>
          <a:xfrm>
            <a:off x="594360" y="50566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 Flag 평가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2880360" y="505663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Jetson Orin Feature Evaluator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502920" y="5404104"/>
            <a:ext cx="5486400" cy="329184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1"/>
          <p:cNvSpPr/>
          <p:nvPr/>
        </p:nvSpPr>
        <p:spPr>
          <a:xfrm>
            <a:off x="594360" y="54041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Kill Switch 명령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2880360" y="540410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MQTT Topic: /cmd/kill-switch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6217920" y="4709160"/>
            <a:ext cx="5486400" cy="329184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4"/>
          <p:cNvSpPr/>
          <p:nvPr/>
        </p:nvSpPr>
        <p:spPr>
          <a:xfrm>
            <a:off x="6309360" y="470916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Safe Default 적용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8595360" y="470916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ECU 기본값 복귀 (CAN Signal)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6217920" y="5056632"/>
            <a:ext cx="548640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7"/>
          <p:cNvSpPr/>
          <p:nvPr/>
        </p:nvSpPr>
        <p:spPr>
          <a:xfrm>
            <a:off x="6309360" y="50566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Telemetry 수집</a:t>
            </a:r>
            <a:endParaRPr lang="en-US" sz="1200" dirty="0"/>
          </a:p>
        </p:txBody>
      </p:sp>
      <p:sp>
        <p:nvSpPr>
          <p:cNvPr id="61" name="Text 58"/>
          <p:cNvSpPr/>
          <p:nvPr/>
        </p:nvSpPr>
        <p:spPr>
          <a:xfrm>
            <a:off x="8595360" y="505663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MQTT → Dashboard 실시간 표시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6217920" y="5404104"/>
            <a:ext cx="5486400" cy="329184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0"/>
          <p:cNvSpPr/>
          <p:nvPr/>
        </p:nvSpPr>
        <p:spPr>
          <a:xfrm>
            <a:off x="6309360" y="54041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점진 복구 Rollout</a:t>
            </a:r>
            <a:endParaRPr lang="en-US" sz="1200" dirty="0"/>
          </a:p>
        </p:txBody>
      </p:sp>
      <p:sp>
        <p:nvSpPr>
          <p:cNvPr id="64" name="Text 61"/>
          <p:cNvSpPr/>
          <p:nvPr/>
        </p:nvSpPr>
        <p:spPr>
          <a:xfrm>
            <a:off x="8595360" y="540410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CCS → 5%/20%/100% 단계 제어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502920" y="6126480"/>
            <a:ext cx="11155680" cy="4572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3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핵심 :  </a:t>
            </a:r>
            <a:r>
              <a:rPr lang="en-US" sz="1200" dirty="0">
                <a:solidFill>
                  <a:srgbClr val="FFFF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Kill Switch 시나리오는 Feature Topology의 </a:t>
            </a: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Control · Deployment · Operations · Rollback</a:t>
            </a:r>
            <a:r>
              <a:rPr lang="en-US" sz="1200" dirty="0">
                <a:solidFill>
                  <a:srgbClr val="FFFF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이 실제로 동작하는 것을 실증한다.</a:t>
            </a:r>
            <a:endParaRPr lang="en-US" sz="1300" dirty="0"/>
          </a:p>
        </p:txBody>
      </p:sp>
      <p:sp>
        <p:nvSpPr>
          <p:cNvPr id="67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OpenFeature Spec; Unleash Kill-switch/Rollout 개념; ISO 24089:2023; Mutuus Lab Demo 시나리오.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472C4"/>
                </a:solidFill>
                <a:latin typeface="Hyundai Sans Head Pro Medium" pitchFamily="34" charset="0"/>
                <a:ea typeface="Hyundai Sans Head Pro Medium" pitchFamily="34" charset="-122"/>
                <a:cs typeface="Hyundai Sans Head Pro Medium" pitchFamily="34" charset="-120"/>
              </a:rPr>
              <a:t>R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예상 질의 &amp; 응답 (FAQ)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822960"/>
            <a:ext cx="50292" cy="3200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94360" y="79552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Topology 설계안에 대해 예상되는 주요 질문과 답변을 정리한다.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1508760"/>
            <a:ext cx="11155680" cy="7315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94360" y="1581912"/>
            <a:ext cx="32004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94360" y="158191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Q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51560" y="154533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기존 ALM/PLM 도구를 대체하는 것인가?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51560" y="1856232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아니다. Feature Topology는 ALM · PLM · FF 도구를 연결하는 기준정보 계층이다. Feature ID가 공통 Key로 동작한다.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2920" y="2313432"/>
            <a:ext cx="1115568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594360" y="2386584"/>
            <a:ext cx="32004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94360" y="238658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Q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51560" y="235000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 Flag와 Feature Topology의 차이는?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51560" y="266090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Flag는 Runtime 제어 도구이고, Feature Topology는 Feature를 구성하는 전체 Artifact의 관계 지도이다. Flag는 Topology의 Control Point 중 하나이다.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02920" y="3118104"/>
            <a:ext cx="11155680" cy="7315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594360" y="3191256"/>
            <a:ext cx="32004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594360" y="319125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Q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51560" y="315468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구축하는 데 얼마나 걸리는가?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51560" y="3465576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Phase 1~2 (기준정보 수립): 4~6주, Phase 3 (Registry MVP): 8~12주. Quick Win BDC 시나리오는 Phase 2에서 즉시 데모 가능하다.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02920" y="3922776"/>
            <a:ext cx="1115568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594360" y="3995928"/>
            <a:ext cx="32004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594360" y="39959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Q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051560" y="39593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어떤 조직이 Feature Topology를 사용하는가?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051560" y="4270248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기획 · 시스템 · SW · 검증 · OTA · 협력사관리 · 운영 전 조직이 사용한다. Feature ID가 조직 간 공통 언어 역할을 한다.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02920" y="4727448"/>
            <a:ext cx="11155680" cy="7315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594360" y="4800600"/>
            <a:ext cx="32004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594360" y="480060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Q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1051560" y="476402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현대차 내부 시스템과 어떻게 연동하는가?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1051560" y="5074920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Codebeamer(ALM) · PLM · Unleash(FF) · OTA 플랫폼과 REST API / Webhook으로 연계한다. Feature ID 기반 양방향 동기화.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02920" y="5532120"/>
            <a:ext cx="1115568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3"/>
          <p:cNvSpPr/>
          <p:nvPr/>
        </p:nvSpPr>
        <p:spPr>
          <a:xfrm>
            <a:off x="594360" y="5605272"/>
            <a:ext cx="32004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/>
          <p:nvPr/>
        </p:nvSpPr>
        <p:spPr>
          <a:xfrm>
            <a:off x="594360" y="560527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Q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1051560" y="556869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Safety-critical Feature도 다룰 수 있는가?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1051560" y="5879592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가능하다. Safety/Security Gate를 9개 Release Readiness Gate에 포함했으며, ASIL 등급별 추가 승인 프로세스를 지원한다.</a:t>
            </a:r>
            <a:endParaRPr lang="en-US" sz="1200" dirty="0"/>
          </a:p>
        </p:txBody>
      </p:sp>
      <p:sp>
        <p:nvSpPr>
          <p:cNvPr id="40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ISO/IEC/IEEE 29148:2018; OMG ReqIF 1.2; OpenFeature Spec; Mutuus Lab 분석.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472C4"/>
                </a:solidFill>
                <a:latin typeface="Hyundai Sans Head Pro Medium" pitchFamily="34" charset="0"/>
                <a:ea typeface="Hyundai Sans Head Pro Medium" pitchFamily="34" charset="-122"/>
                <a:cs typeface="Hyundai Sans Head Pro Medium" pitchFamily="34" charset="-120"/>
              </a:rPr>
              <a:t>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PoC Demo Dashboard 화면 구성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822960"/>
            <a:ext cx="50292" cy="3200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94360" y="79552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Topology PoC에서 실제 구현하는 React JSX 기반 Dashboard의 핵심 화면 구성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1463040"/>
            <a:ext cx="111556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02920" y="1463040"/>
            <a:ext cx="11155680" cy="4572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685800" y="1463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 Topology PoC Dashboard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0" y="1463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C4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498080" y="1463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C4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Policies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595360" y="1463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C4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Topology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692640" y="1463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C4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789920" y="1463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C4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Kill Switch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85800" y="2103120"/>
            <a:ext cx="2514600" cy="105156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685800" y="2103120"/>
            <a:ext cx="2514600" cy="4572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795528" y="21762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Active Features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95528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22" name="Text 19"/>
          <p:cNvSpPr/>
          <p:nvPr/>
        </p:nvSpPr>
        <p:spPr>
          <a:xfrm>
            <a:off x="795528" y="2834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EDEDE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3 Developing · 2 Pending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383280" y="2103120"/>
            <a:ext cx="2514600" cy="105156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3383280" y="2103120"/>
            <a:ext cx="2514600" cy="457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3493008" y="21762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Policy Status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493008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5276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8 / 12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3493008" y="2834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EDEDE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8 Deployed · 4 Draft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080760" y="2103120"/>
            <a:ext cx="2514600" cy="105156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6080760" y="2103120"/>
            <a:ext cx="2514600" cy="45720"/>
          </a:xfrm>
          <a:prstGeom prst="rect">
            <a:avLst/>
          </a:prstGeom>
          <a:solidFill>
            <a:srgbClr val="1B7A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6190488" y="21762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Kill Switch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190488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7A3D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0 Active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6190488" y="2834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EDEDE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Last triggered: 3일 전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8778240" y="2103120"/>
            <a:ext cx="2514600" cy="105156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/>
          <p:nvPr/>
        </p:nvSpPr>
        <p:spPr>
          <a:xfrm>
            <a:off x="8778240" y="2103120"/>
            <a:ext cx="2514600" cy="45720"/>
          </a:xfrm>
          <a:prstGeom prst="rect">
            <a:avLst/>
          </a:prstGeom>
          <a:solidFill>
            <a:srgbClr val="4A23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8887968" y="21762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Telemetry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8887968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A235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98.7%</a:t>
            </a:r>
            <a:endParaRPr lang="en-US" sz="2200" dirty="0"/>
          </a:p>
        </p:txBody>
      </p:sp>
      <p:sp>
        <p:nvSpPr>
          <p:cNvPr id="37" name="Text 34"/>
          <p:cNvSpPr/>
          <p:nvPr/>
        </p:nvSpPr>
        <p:spPr>
          <a:xfrm>
            <a:off x="8887968" y="2834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EDEDE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Activation Success Rate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685800" y="3337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 List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85800" y="3657600"/>
            <a:ext cx="5029200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/>
          <p:nvPr/>
        </p:nvSpPr>
        <p:spPr>
          <a:xfrm>
            <a:off x="777240" y="36576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FEAT-BDC-001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2286000" y="36576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BDC Policy Control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4572000" y="36576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7A3D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Active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685800" y="4023360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/>
          <p:nvPr/>
        </p:nvSpPr>
        <p:spPr>
          <a:xfrm>
            <a:off x="777240" y="40233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FEAT-ADAS-001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2286000" y="40233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AEB Emergency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4572000" y="40233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7A3D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Active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685800" y="4389120"/>
            <a:ext cx="5029200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/>
          <p:nvPr/>
        </p:nvSpPr>
        <p:spPr>
          <a:xfrm>
            <a:off x="777240" y="4389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FEAT-CONN-001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2286000" y="4389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Remote Lock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4572000" y="43891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0808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Draft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5943600" y="3337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Live Telemetry</a:t>
            </a:r>
            <a:endParaRPr lang="en-US" sz="1300" dirty="0"/>
          </a:p>
        </p:txBody>
      </p:sp>
      <p:sp>
        <p:nvSpPr>
          <p:cNvPr id="52" name="Shape 49"/>
          <p:cNvSpPr/>
          <p:nvPr/>
        </p:nvSpPr>
        <p:spPr>
          <a:xfrm>
            <a:off x="5943600" y="3657600"/>
            <a:ext cx="5486400" cy="150876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0"/>
          <p:cNvSpPr/>
          <p:nvPr/>
        </p:nvSpPr>
        <p:spPr>
          <a:xfrm>
            <a:off x="6126480" y="3794760"/>
            <a:ext cx="365760" cy="128016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1"/>
          <p:cNvSpPr/>
          <p:nvPr/>
        </p:nvSpPr>
        <p:spPr>
          <a:xfrm>
            <a:off x="6629400" y="3977640"/>
            <a:ext cx="365760" cy="10972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2"/>
          <p:cNvSpPr/>
          <p:nvPr/>
        </p:nvSpPr>
        <p:spPr>
          <a:xfrm>
            <a:off x="7132320" y="3703320"/>
            <a:ext cx="365760" cy="13716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3"/>
          <p:cNvSpPr/>
          <p:nvPr/>
        </p:nvSpPr>
        <p:spPr>
          <a:xfrm>
            <a:off x="7635240" y="4343400"/>
            <a:ext cx="365760" cy="731520"/>
          </a:xfrm>
          <a:prstGeom prst="rect">
            <a:avLst/>
          </a:prstGeom>
          <a:solidFill>
            <a:srgbClr val="B7410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4"/>
          <p:cNvSpPr/>
          <p:nvPr/>
        </p:nvSpPr>
        <p:spPr>
          <a:xfrm>
            <a:off x="8138160" y="3886200"/>
            <a:ext cx="365760" cy="118872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5"/>
          <p:cNvSpPr/>
          <p:nvPr/>
        </p:nvSpPr>
        <p:spPr>
          <a:xfrm>
            <a:off x="8641080" y="3749040"/>
            <a:ext cx="365760" cy="1325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6"/>
          <p:cNvSpPr/>
          <p:nvPr/>
        </p:nvSpPr>
        <p:spPr>
          <a:xfrm>
            <a:off x="9144000" y="4069080"/>
            <a:ext cx="365760" cy="10058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7"/>
          <p:cNvSpPr/>
          <p:nvPr/>
        </p:nvSpPr>
        <p:spPr>
          <a:xfrm>
            <a:off x="9646920" y="4526280"/>
            <a:ext cx="365760" cy="548640"/>
          </a:xfrm>
          <a:prstGeom prst="rect">
            <a:avLst/>
          </a:prstGeom>
          <a:solidFill>
            <a:srgbClr val="B7410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8"/>
          <p:cNvSpPr/>
          <p:nvPr/>
        </p:nvSpPr>
        <p:spPr>
          <a:xfrm>
            <a:off x="10149840" y="3840480"/>
            <a:ext cx="365760" cy="12344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59"/>
          <p:cNvSpPr/>
          <p:nvPr/>
        </p:nvSpPr>
        <p:spPr>
          <a:xfrm>
            <a:off x="10652760" y="3703320"/>
            <a:ext cx="365760" cy="13716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0"/>
          <p:cNvSpPr/>
          <p:nvPr/>
        </p:nvSpPr>
        <p:spPr>
          <a:xfrm>
            <a:off x="5943600" y="51663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Activation Success Rate (last 10 batches)</a:t>
            </a:r>
            <a:endParaRPr lang="en-US" sz="1200" dirty="0"/>
          </a:p>
        </p:txBody>
      </p:sp>
      <p:sp>
        <p:nvSpPr>
          <p:cNvPr id="64" name="Text 61"/>
          <p:cNvSpPr/>
          <p:nvPr/>
        </p:nvSpPr>
        <p:spPr>
          <a:xfrm>
            <a:off x="6858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Quick Actions</a:t>
            </a:r>
            <a:endParaRPr lang="en-US" sz="1300" dirty="0"/>
          </a:p>
        </p:txBody>
      </p:sp>
      <p:sp>
        <p:nvSpPr>
          <p:cNvPr id="65" name="Shape 62"/>
          <p:cNvSpPr/>
          <p:nvPr/>
        </p:nvSpPr>
        <p:spPr>
          <a:xfrm>
            <a:off x="685800" y="5120640"/>
            <a:ext cx="1188720" cy="34747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3"/>
          <p:cNvSpPr/>
          <p:nvPr/>
        </p:nvSpPr>
        <p:spPr>
          <a:xfrm>
            <a:off x="685800" y="51206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Toggle Policy</a:t>
            </a:r>
            <a:endParaRPr lang="en-US" sz="1200" dirty="0"/>
          </a:p>
        </p:txBody>
      </p:sp>
      <p:sp>
        <p:nvSpPr>
          <p:cNvPr id="67" name="Shape 64"/>
          <p:cNvSpPr/>
          <p:nvPr/>
        </p:nvSpPr>
        <p:spPr>
          <a:xfrm>
            <a:off x="1965960" y="5120640"/>
            <a:ext cx="1188720" cy="347472"/>
          </a:xfrm>
          <a:prstGeom prst="rect">
            <a:avLst/>
          </a:prstGeom>
          <a:solidFill>
            <a:srgbClr val="B7410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5"/>
          <p:cNvSpPr/>
          <p:nvPr/>
        </p:nvSpPr>
        <p:spPr>
          <a:xfrm>
            <a:off x="1965960" y="51206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Kill Switch</a:t>
            </a:r>
            <a:endParaRPr lang="en-US" sz="1200" dirty="0"/>
          </a:p>
        </p:txBody>
      </p:sp>
      <p:sp>
        <p:nvSpPr>
          <p:cNvPr id="69" name="Shape 66"/>
          <p:cNvSpPr/>
          <p:nvPr/>
        </p:nvSpPr>
        <p:spPr>
          <a:xfrm>
            <a:off x="3246120" y="5120640"/>
            <a:ext cx="1188720" cy="34747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7"/>
          <p:cNvSpPr/>
          <p:nvPr/>
        </p:nvSpPr>
        <p:spPr>
          <a:xfrm>
            <a:off x="3246120" y="51206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Rollback</a:t>
            </a:r>
            <a:endParaRPr lang="en-US" sz="1200" dirty="0"/>
          </a:p>
        </p:txBody>
      </p:sp>
      <p:sp>
        <p:nvSpPr>
          <p:cNvPr id="71" name="Shape 68"/>
          <p:cNvSpPr/>
          <p:nvPr/>
        </p:nvSpPr>
        <p:spPr>
          <a:xfrm>
            <a:off x="4526280" y="5120640"/>
            <a:ext cx="1188720" cy="34747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Text 69"/>
          <p:cNvSpPr/>
          <p:nvPr/>
        </p:nvSpPr>
        <p:spPr>
          <a:xfrm>
            <a:off x="4526280" y="51206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Export Log</a:t>
            </a:r>
            <a:endParaRPr lang="en-US" sz="1200" dirty="0"/>
          </a:p>
        </p:txBody>
      </p:sp>
      <p:sp>
        <p:nvSpPr>
          <p:cNvPr id="73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OpenFeature Tracking/Observability; Unleash Monitoring Concepts; Mutuus Lab PoC Dashboard 설계.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6912</Words>
  <Application>Microsoft Macintosh PowerPoint</Application>
  <PresentationFormat>와이드스크린</PresentationFormat>
  <Paragraphs>1849</Paragraphs>
  <Slides>39</Slides>
  <Notes>39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6" baseType="lpstr">
      <vt:lpstr>Hyundai Sans Head Pro Bold</vt:lpstr>
      <vt:lpstr>Hyundai Sans Head Pro Medium</vt:lpstr>
      <vt:lpstr>Hyundai Sans Text Pro Bold</vt:lpstr>
      <vt:lpstr>Hyundai Sans Text Pro Regular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 Topology 설계안 v3</dc:title>
  <dc:subject>PptxGenJS Presentation</dc:subject>
  <dc:creator>Mutuus Lab</dc:creator>
  <cp:lastModifiedBy>Hyuna Kim</cp:lastModifiedBy>
  <cp:revision>2</cp:revision>
  <dcterms:created xsi:type="dcterms:W3CDTF">2026-05-27T23:14:07Z</dcterms:created>
  <dcterms:modified xsi:type="dcterms:W3CDTF">2026-05-31T13:57:08Z</dcterms:modified>
</cp:coreProperties>
</file>